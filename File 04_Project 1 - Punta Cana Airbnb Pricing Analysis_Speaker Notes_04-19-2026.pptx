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52FE05-3511-4E1B-8CE3-EF5F1864DD3A}" v="36" dt="2026-04-19T23:10:53.6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64" autoAdjust="0"/>
    <p:restoredTop sz="70218" autoAdjust="0"/>
  </p:normalViewPr>
  <p:slideViewPr>
    <p:cSldViewPr snapToGrid="0" snapToObjects="1">
      <p:cViewPr varScale="1">
        <p:scale>
          <a:sx n="87" d="100"/>
          <a:sy n="87" d="100"/>
        </p:scale>
        <p:origin x="2088"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948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1:</a:t>
            </a:r>
            <a:r>
              <a:rPr lang="en-US" sz="1200" b="0" i="0" kern="1200" dirty="0">
                <a:solidFill>
                  <a:schemeClr val="tx1"/>
                </a:solidFill>
                <a:effectLst/>
                <a:latin typeface="+mn-lt"/>
                <a:ea typeface="+mn-ea"/>
                <a:cs typeface="+mn-cs"/>
              </a:rPr>
              <a:t> Hola, les </a:t>
            </a:r>
            <a:r>
              <a:rPr lang="en-US" sz="1200" b="0" i="0" kern="1200" dirty="0" err="1">
                <a:solidFill>
                  <a:schemeClr val="tx1"/>
                </a:solidFill>
                <a:effectLst/>
                <a:latin typeface="+mn-lt"/>
                <a:ea typeface="+mn-ea"/>
                <a:cs typeface="+mn-cs"/>
              </a:rPr>
              <a:t>habla</a:t>
            </a:r>
            <a:r>
              <a:rPr lang="en-US" sz="1200" b="0" i="0" kern="1200" dirty="0">
                <a:solidFill>
                  <a:schemeClr val="tx1"/>
                </a:solidFill>
                <a:effectLst/>
                <a:latin typeface="+mn-lt"/>
                <a:ea typeface="+mn-ea"/>
                <a:cs typeface="+mn-cs"/>
              </a:rPr>
              <a:t> David Gibbens y </a:t>
            </a:r>
            <a:r>
              <a:rPr lang="en-US" sz="1200" b="0" i="0" kern="1200" dirty="0" err="1">
                <a:solidFill>
                  <a:schemeClr val="tx1"/>
                </a:solidFill>
                <a:effectLst/>
                <a:latin typeface="+mn-lt"/>
                <a:ea typeface="+mn-ea"/>
                <a:cs typeface="+mn-cs"/>
              </a:rPr>
              <a:t>el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dia</a:t>
            </a:r>
            <a:r>
              <a:rPr lang="en-US" sz="1200" b="0" i="0" kern="1200" dirty="0">
                <a:solidFill>
                  <a:schemeClr val="tx1"/>
                </a:solidFill>
                <a:effectLst/>
                <a:latin typeface="+mn-lt"/>
                <a:ea typeface="+mn-ea"/>
                <a:cs typeface="+mn-cs"/>
              </a:rPr>
              <a:t> de hoy, les </a:t>
            </a:r>
            <a:r>
              <a:rPr lang="en-US" sz="1200" b="0" i="0" kern="1200" dirty="0" err="1">
                <a:solidFill>
                  <a:schemeClr val="tx1"/>
                </a:solidFill>
                <a:effectLst/>
                <a:latin typeface="+mn-lt"/>
                <a:ea typeface="+mn-ea"/>
                <a:cs typeface="+mn-cs"/>
              </a:rPr>
              <a:t>hablare</a:t>
            </a:r>
            <a:r>
              <a:rPr lang="en-US" sz="1200" b="0" i="0" kern="1200" dirty="0">
                <a:solidFill>
                  <a:schemeClr val="tx1"/>
                </a:solidFill>
                <a:effectLst/>
                <a:latin typeface="+mn-lt"/>
                <a:ea typeface="+mn-ea"/>
                <a:cs typeface="+mn-cs"/>
              </a:rPr>
              <a:t> de mi primer Proyecto: Punta Cana Airbnb Pricing Analysis. This project explores which listing characteristics drive nightly rental prices in one of the Caribbean's most popular tourism destinations.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2:</a:t>
            </a:r>
            <a:r>
              <a:rPr lang="en-US" sz="1200" b="0" i="0" kern="1200" dirty="0">
                <a:solidFill>
                  <a:schemeClr val="tx1"/>
                </a:solidFill>
                <a:effectLst/>
                <a:latin typeface="+mn-lt"/>
                <a:ea typeface="+mn-ea"/>
                <a:cs typeface="+mn-cs"/>
              </a:rPr>
              <a:t> Punta Cana is a major tourism hub in the Dominican Republic, attracting millions of visitors each year. Understanding what drives Airbnb pricing there can help hosts optimize their rates and help guests understand what they're paying for. My research question is: Which listing characteristics best explain variation in nightly Airbnb prices in Punta Cana? To answer that, I followed an eight-step process — from loading and cleaning the data, through exploratory analysis, to fitting and interpreting a multiple regression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3:</a:t>
            </a:r>
            <a:r>
              <a:rPr lang="en-US" sz="1200" b="0" i="0" kern="1200" dirty="0">
                <a:solidFill>
                  <a:schemeClr val="tx1"/>
                </a:solidFill>
                <a:effectLst/>
                <a:latin typeface="+mn-lt"/>
                <a:ea typeface="+mn-ea"/>
                <a:cs typeface="+mn-cs"/>
              </a:rPr>
              <a:t> The dataset comes from AirRoi.com, exported on April 4th, 2026. It contains 195 Airbnb listings in Punta Cana across 63 variables. For this analysis, I focused on four key variables: price — which is the trailing twelve-month average nightly rate — along with guests, bedrooms, and bathrooms. These are numeric, interpretable, and directly tied to property size and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4:</a:t>
            </a:r>
            <a:r>
              <a:rPr lang="en-US" sz="1200" b="0" i="0" kern="1200" dirty="0">
                <a:solidFill>
                  <a:schemeClr val="tx1"/>
                </a:solidFill>
                <a:effectLst/>
                <a:latin typeface="+mn-lt"/>
                <a:ea typeface="+mn-ea"/>
                <a:cs typeface="+mn-cs"/>
              </a:rPr>
              <a:t> Before modeling, I cleaned the data in four steps. I removed listings with missing or zero prices, then dropped any rows missing values for guests, bedrooms, or bathrooms. All predictor variables were converted to numeric format. After cleaning, I was left with 190 complete listings — a clean, reliable dataset ready for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5:</a:t>
            </a:r>
            <a:r>
              <a:rPr lang="en-US" sz="1200" b="0" i="0" kern="1200" dirty="0">
                <a:solidFill>
                  <a:schemeClr val="tx1"/>
                </a:solidFill>
                <a:effectLst/>
                <a:latin typeface="+mn-lt"/>
                <a:ea typeface="+mn-ea"/>
                <a:cs typeface="+mn-cs"/>
              </a:rPr>
              <a:t> Here's a snapshot of the nightly rate distribution. The minimum price is just $18.30, while the maximum reaches $2,738 — a massive range. The median sits at $99.25, but the mean is $177.45, which tells us the distribution is right-skewed. Most listings cluster in the lower-to-mid price range, with a smaller number of luxury properties pulling the average up. This wide variation is exactly why regression analysis is useful here — there's real price variation to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6:</a:t>
            </a:r>
            <a:r>
              <a:rPr lang="en-US" sz="1200" b="0" i="0" kern="1200" dirty="0">
                <a:solidFill>
                  <a:schemeClr val="tx1"/>
                </a:solidFill>
                <a:effectLst/>
                <a:latin typeface="+mn-lt"/>
                <a:ea typeface="+mn-ea"/>
                <a:cs typeface="+mn-cs"/>
              </a:rPr>
              <a:t> This histogram visualizes that skewness. You can see the bulk of listings concentrated on the left side — under $200 per night — with a long tail stretching to the right for high-end properties. This confirms what the summary statistics told us: most Punta Cana </a:t>
            </a:r>
            <a:r>
              <a:rPr lang="en-US" sz="1200" b="0" i="0" kern="1200" dirty="0" err="1">
                <a:solidFill>
                  <a:schemeClr val="tx1"/>
                </a:solidFill>
                <a:effectLst/>
                <a:latin typeface="+mn-lt"/>
                <a:ea typeface="+mn-ea"/>
                <a:cs typeface="+mn-cs"/>
              </a:rPr>
              <a:t>Airbnbs</a:t>
            </a:r>
            <a:r>
              <a:rPr lang="en-US" sz="1200" b="0" i="0" kern="1200" dirty="0">
                <a:solidFill>
                  <a:schemeClr val="tx1"/>
                </a:solidFill>
                <a:effectLst/>
                <a:latin typeface="+mn-lt"/>
                <a:ea typeface="+mn-ea"/>
                <a:cs typeface="+mn-cs"/>
              </a:rPr>
              <a:t> are affordable, but a handful of luxury listings push the distribution rightward.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7:</a:t>
            </a:r>
            <a:r>
              <a:rPr lang="en-US" sz="1200" b="0" i="0" kern="1200" dirty="0">
                <a:solidFill>
                  <a:schemeClr val="tx1"/>
                </a:solidFill>
                <a:effectLst/>
                <a:latin typeface="+mn-lt"/>
                <a:ea typeface="+mn-ea"/>
                <a:cs typeface="+mn-cs"/>
              </a:rPr>
              <a:t> Now let's look at the relationship between price and bedrooms. Each point represents a listing, and the fitted regression line shows a clear positive trend — listings with more bedrooms tend to charge higher nightly rates. This makes intuitive sense. More bedrooms generally mean a larger property, which commands a higher price. You'll also notice some spread at the higher bedroom counts, reflecting variation in property quality and amenities.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8:</a:t>
            </a:r>
            <a:r>
              <a:rPr lang="en-US" sz="1200" b="0" i="0" kern="1200" dirty="0">
                <a:solidFill>
                  <a:schemeClr val="tx1"/>
                </a:solidFill>
                <a:effectLst/>
                <a:latin typeface="+mn-lt"/>
                <a:ea typeface="+mn-ea"/>
                <a:cs typeface="+mn-cs"/>
              </a:rPr>
              <a:t> Here we see price plotted against guest capacity. Again, there's a positive relationship — listings that accommodate more guests tend to have higher nightly rates. Higher guest capacity usually means a larger or more desirable property, so this upward trend aligns with expectations. The fitted line reinforces that as capacity increases, price tends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9:</a:t>
            </a:r>
            <a:r>
              <a:rPr lang="en-US" sz="1200" b="0" i="0" kern="1200" dirty="0">
                <a:solidFill>
                  <a:schemeClr val="tx1"/>
                </a:solidFill>
                <a:effectLst/>
                <a:latin typeface="+mn-lt"/>
                <a:ea typeface="+mn-ea"/>
                <a:cs typeface="+mn-cs"/>
              </a:rPr>
              <a:t> The third scatterplot shows price against the number of bathrooms. This also shows a positive trend, and among our three predictors, bathrooms actually has the strongest individual correlation with price at 0.677. Additional bathrooms signal convenience and are typically found in higher-end or larger properties, which helps explain why this variable is such a strong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10:</a:t>
            </a:r>
            <a:r>
              <a:rPr lang="en-US" sz="1200" b="0" i="0" kern="1200" dirty="0">
                <a:solidFill>
                  <a:schemeClr val="tx1"/>
                </a:solidFill>
                <a:effectLst/>
                <a:latin typeface="+mn-lt"/>
                <a:ea typeface="+mn-ea"/>
                <a:cs typeface="+mn-cs"/>
              </a:rPr>
              <a:t> Before building the model, I examined the correlation matrix. All three predictors — guests, bedrooms, and bathrooms — show positive correlations with price, ranging from about 0.64 to 0.68. However, notice the inter-predictor correlations. Guests and bedrooms correlate at 0.928. Bedrooms and bathrooms at 0.933. These are very high — they all measure aspects of property size, and they move together. This foreshadows an issue we'll see in the regression output: multicollinearity. I selected these three predictors because they're numeric, interpretable, and directly tied to property capacity — but their overlap will affect how we read the coefficients.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11:</a:t>
            </a:r>
            <a:r>
              <a:rPr lang="en-US" sz="1200" b="0" i="0" kern="1200" dirty="0">
                <a:solidFill>
                  <a:schemeClr val="tx1"/>
                </a:solidFill>
                <a:effectLst/>
                <a:latin typeface="+mn-lt"/>
                <a:ea typeface="+mn-ea"/>
                <a:cs typeface="+mn-cs"/>
              </a:rPr>
              <a:t> Here's the regression output. The model is price predicted by guests, bedrooms, and bathrooms. Looking at the coefficients: the intercept is negative 255.52, guests has a coefficient of 38.09 and is significant, bedrooms is negative 56.93 but not statistically significant, and bathrooms is 171.72 and highly significant. The R-squared is 0.4699, meaning this model explains about 47% of the variation in nightly price. The adjusted R-squared is 0.4614, and the overall F-statistic is 54.97 with a p-value well below 0.001. For a simple model using just three numeric predictors, explaining nearly half the price variation is a strong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12:</a:t>
            </a:r>
            <a:r>
              <a:rPr lang="en-US" sz="1200" b="0" i="0" kern="1200" dirty="0">
                <a:solidFill>
                  <a:schemeClr val="tx1"/>
                </a:solidFill>
                <a:effectLst/>
                <a:latin typeface="+mn-lt"/>
                <a:ea typeface="+mn-ea"/>
                <a:cs typeface="+mn-cs"/>
              </a:rPr>
              <a:t> The full regression equation is: price equals negative 255.52, plus 38.09 times guests, minus 56.93 times bedrooms, plus 171.72 times bathrooms. Now — the natural question is: why is bedrooms negative? More bedrooms should mean higher prices, right? And individually, it does. But in the model, guests and bedrooms are so highly correlated — 0.928 — that the model can't cleanly separate their individual effects. This is called multicollinearity. The negative coefficient on bedrooms isn't a real-world effect — it's caused by overlapping predictors. Each variable is trying to explain the same underlying concept: nightly rates. More advanced diagnostics like VIF exist but are outside the scope of this 300-level course. Using course-covered tools — scatterplots, the correlation matrix, and the regression summary — we can still identify and explain this issue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13:</a:t>
            </a:r>
            <a:r>
              <a:rPr lang="en-US" sz="1200" b="0" i="0" kern="1200" dirty="0">
                <a:solidFill>
                  <a:schemeClr val="tx1"/>
                </a:solidFill>
                <a:effectLst/>
                <a:latin typeface="+mn-lt"/>
                <a:ea typeface="+mn-ea"/>
                <a:cs typeface="+mn-cs"/>
              </a:rPr>
              <a:t> To wrap up — three key findings. First, listings with more guests, bedrooms, and bathrooms consistently have higher nightly rates. Second, the three-predictor model explains about 47% of price variation, which is meaningful for observational data. And third, the negative bedrooms coefficient is due to multicollinearity, not a real-world effect. There are limitations. This is observational data, so we can't establish causation. The dataset is limited to 190 listings in one market. And we only used three numeric predictors — factors like location, reviews, amenities, and property type could improve the model. In conclusion, property size and capacity are meaningful drivers of Airbnb pricing in Punta Cana, but a more complete model would benefit from additional variables. Gracias y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tengas</a:t>
            </a:r>
            <a:r>
              <a:rPr lang="en-US" sz="1200" b="0" i="0" kern="1200" dirty="0">
                <a:solidFill>
                  <a:schemeClr val="tx1"/>
                </a:solidFill>
                <a:effectLst/>
                <a:latin typeface="+mn-lt"/>
                <a:ea typeface="+mn-ea"/>
                <a:cs typeface="+mn-cs"/>
              </a:rPr>
              <a:t> un </a:t>
            </a:r>
            <a:r>
              <a:rPr lang="en-US" sz="1200" b="0" i="0" kern="1200" dirty="0" err="1">
                <a:solidFill>
                  <a:schemeClr val="tx1"/>
                </a:solidFill>
                <a:effectLst/>
                <a:latin typeface="+mn-lt"/>
                <a:ea typeface="+mn-ea"/>
                <a:cs typeface="+mn-cs"/>
              </a:rPr>
              <a:t>buen</a:t>
            </a:r>
            <a:r>
              <a:rPr lang="en-US" sz="1200" b="0" i="0" kern="1200" dirty="0">
                <a:solidFill>
                  <a:schemeClr val="tx1"/>
                </a:solidFill>
                <a:effectLst/>
                <a:latin typeface="+mn-lt"/>
                <a:ea typeface="+mn-ea"/>
                <a:cs typeface="+mn-cs"/>
              </a:rPr>
              <a:t>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bin"/><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bin"/><Relationship Id="rId7"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 Id="rId9"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0.bin"/><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svg"/></Relationships>
</file>

<file path=ppt/slides/_rels/slide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svg"/><Relationship Id="rId7" Type="http://schemas.openxmlformats.org/officeDocument/2006/relationships/image" Target="../media/image37.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9.xml.rels><?xml version="1.0" encoding="UTF-8" standalone="yes"?>
<Relationships xmlns="http://schemas.openxmlformats.org/package/2006/relationships"><Relationship Id="rId3" Type="http://schemas.openxmlformats.org/officeDocument/2006/relationships/image" Target="../media/image39.bin"/><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svg"/></Relationships>
</file>

<file path=ppt/slides/_rels/slide10.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svg"/><Relationship Id="rId7" Type="http://schemas.openxmlformats.org/officeDocument/2006/relationships/image" Target="../media/image47.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7.svg"/><Relationship Id="rId5" Type="http://schemas.openxmlformats.org/officeDocument/2006/relationships/image" Target="../media/image56.svg"/><Relationship Id="rId4" Type="http://schemas.openxmlformats.org/officeDocument/2006/relationships/image" Target="../media/image55.svg"/><Relationship Id="rId9" Type="http://schemas.openxmlformats.org/officeDocument/2006/relationships/image" Target="../media/image60.svg"/></Relationships>
</file>

<file path=ppt/slides/_rels/slide13.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62.svg"/><Relationship Id="rId4" Type="http://schemas.openxmlformats.org/officeDocument/2006/relationships/image" Target="../media/image61.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1860" b="17790"/>
          <a:stretch/>
        </p:blipFill>
        <p:spPr>
          <a:xfrm>
            <a:off x="0" y="0"/>
            <a:ext cx="9144000" cy="5143500"/>
          </a:xfrm>
          <a:prstGeom prst="rect">
            <a:avLst/>
          </a:prstGeom>
        </p:spPr>
      </p:pic>
      <p:sp>
        <p:nvSpPr>
          <p:cNvPr id="3" name="Text 0"/>
          <p:cNvSpPr/>
          <p:nvPr/>
        </p:nvSpPr>
        <p:spPr>
          <a:xfrm>
            <a:off x="0" y="0"/>
            <a:ext cx="9144000" cy="5143500"/>
          </a:xfrm>
          <a:prstGeom prst="rect">
            <a:avLst/>
          </a:prstGeom>
          <a:gradFill rotWithShape="1">
            <a:gsLst>
              <a:gs pos="0">
                <a:srgbClr val="0B2545">
                  <a:alpha val="97000"/>
                </a:srgbClr>
              </a:gs>
              <a:gs pos="30000">
                <a:srgbClr val="0B2545">
                  <a:alpha val="88000"/>
                </a:srgbClr>
              </a:gs>
              <a:gs pos="55000">
                <a:srgbClr val="0B2545">
                  <a:alpha val="55000"/>
                </a:srgbClr>
              </a:gs>
              <a:gs pos="80000">
                <a:srgbClr val="0B2545">
                  <a:alpha val="15000"/>
                </a:srgbClr>
              </a:gs>
              <a:gs pos="100000">
                <a:srgbClr val="0B2545">
                  <a:alpha val="5000"/>
                </a:srgbClr>
              </a:gs>
            </a:gsLst>
            <a:lin ang="16200000" scaled="1"/>
          </a:gradFill>
          <a:ln/>
        </p:spPr>
        <p:txBody>
          <a:bodyPr wrap="square" rtlCol="0" anchor="t"/>
          <a:lstStyle/>
          <a:p>
            <a:pPr marL="0" indent="0">
              <a:buNone/>
            </a:pPr>
            <a:endParaRPr lang="en-US" dirty="0"/>
          </a:p>
        </p:txBody>
      </p:sp>
      <p:sp>
        <p:nvSpPr>
          <p:cNvPr id="4" name="Text 1"/>
          <p:cNvSpPr/>
          <p:nvPr/>
        </p:nvSpPr>
        <p:spPr>
          <a:xfrm>
            <a:off x="571500" y="342900"/>
            <a:ext cx="1860054" cy="283815"/>
          </a:xfrm>
          <a:prstGeom prst="roundRect">
            <a:avLst>
              <a:gd name="adj" fmla="val 15214"/>
            </a:avLst>
          </a:prstGeom>
          <a:solidFill>
            <a:srgbClr val="00B4D8">
              <a:alpha val="15000"/>
            </a:srgbClr>
          </a:solidFill>
          <a:ln w="9525">
            <a:solidFill>
              <a:srgbClr val="00B4D8">
                <a:alpha val="35000"/>
              </a:srgbClr>
            </a:solidFill>
          </a:ln>
        </p:spPr>
        <p:txBody>
          <a:bodyPr wrap="square" rtlCol="0" anchor="t"/>
          <a:lstStyle/>
          <a:p>
            <a:pPr marL="0" indent="0">
              <a:buNone/>
            </a:pPr>
            <a:endParaRPr lang="en-US"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6673" y="418514"/>
            <a:ext cx="132588" cy="132588"/>
          </a:xfrm>
          <a:prstGeom prst="rect">
            <a:avLst/>
          </a:prstGeom>
        </p:spPr>
      </p:pic>
      <p:sp>
        <p:nvSpPr>
          <p:cNvPr id="6" name="Text 2"/>
          <p:cNvSpPr/>
          <p:nvPr/>
        </p:nvSpPr>
        <p:spPr>
          <a:xfrm>
            <a:off x="887760" y="409575"/>
            <a:ext cx="1546741" cy="150465"/>
          </a:xfrm>
          <a:prstGeom prst="rect">
            <a:avLst/>
          </a:prstGeom>
          <a:noFill/>
          <a:ln/>
        </p:spPr>
        <p:txBody>
          <a:bodyPr wrap="none" lIns="0" tIns="0" rIns="0" bIns="0" rtlCol="0" anchor="ctr"/>
          <a:lstStyle/>
          <a:p>
            <a:pPr marL="0" indent="0" algn="l">
              <a:lnSpc>
                <a:spcPts val="1185"/>
              </a:lnSpc>
              <a:buNone/>
            </a:pPr>
            <a:r>
              <a:rPr lang="en-US" sz="790" b="1" dirty="0">
                <a:solidFill>
                  <a:srgbClr val="00B4D8"/>
                </a:solidFill>
                <a:latin typeface="Calibri" pitchFamily="34" charset="0"/>
                <a:ea typeface="Calibri" pitchFamily="34" charset="-122"/>
                <a:cs typeface="Calibri" pitchFamily="34" charset="-120"/>
              </a:rPr>
              <a:t>AIRBNB MARKET STUDY</a:t>
            </a:r>
            <a:endParaRPr lang="en-US" sz="790" dirty="0"/>
          </a:p>
        </p:txBody>
      </p:sp>
      <p:sp>
        <p:nvSpPr>
          <p:cNvPr id="7" name="Text 3"/>
          <p:cNvSpPr/>
          <p:nvPr/>
        </p:nvSpPr>
        <p:spPr>
          <a:xfrm>
            <a:off x="571500" y="3083421"/>
            <a:ext cx="571500" cy="29170"/>
          </a:xfrm>
          <a:prstGeom prst="roundRect">
            <a:avLst>
              <a:gd name="adj" fmla="val 47892"/>
            </a:avLst>
          </a:prstGeom>
          <a:solidFill>
            <a:srgbClr val="00B4D8"/>
          </a:solidFill>
          <a:ln/>
        </p:spPr>
        <p:txBody>
          <a:bodyPr wrap="none" rtlCol="0" anchor="t"/>
          <a:lstStyle/>
          <a:p>
            <a:pPr marL="0" indent="0">
              <a:buNone/>
            </a:pPr>
            <a:endParaRPr lang="en-US" dirty="0"/>
          </a:p>
        </p:txBody>
      </p:sp>
      <p:sp>
        <p:nvSpPr>
          <p:cNvPr id="8" name="Text 4"/>
          <p:cNvSpPr/>
          <p:nvPr/>
        </p:nvSpPr>
        <p:spPr>
          <a:xfrm>
            <a:off x="571500" y="3313212"/>
            <a:ext cx="6558570" cy="1005126"/>
          </a:xfrm>
          <a:prstGeom prst="rect">
            <a:avLst/>
          </a:prstGeom>
          <a:noFill/>
          <a:ln/>
        </p:spPr>
        <p:txBody>
          <a:bodyPr wrap="square" lIns="0" tIns="0" rIns="0" bIns="0" rtlCol="0" anchor="t"/>
          <a:lstStyle/>
          <a:p>
            <a:pPr marL="0" indent="0" algn="l">
              <a:lnSpc>
                <a:spcPts val="3769"/>
              </a:lnSpc>
              <a:spcAft>
                <a:spcPts val="1130"/>
              </a:spcAft>
              <a:buNone/>
            </a:pPr>
            <a:r>
              <a:rPr lang="en-US" sz="3490" kern="0" spc="-30" dirty="0">
                <a:solidFill>
                  <a:srgbClr val="F8FAFC"/>
                </a:solidFill>
                <a:latin typeface="Constantia" pitchFamily="34" charset="0"/>
                <a:ea typeface="Constantia" pitchFamily="34" charset="-122"/>
                <a:cs typeface="Constantia" pitchFamily="34" charset="-120"/>
              </a:rPr>
              <a:t>Punta Cana Airbnb</a:t>
            </a:r>
            <a:br/>
            <a:r>
              <a:rPr lang="en-US" sz="3490" kern="0" spc="-30" dirty="0">
                <a:solidFill>
                  <a:srgbClr val="F8FAFC"/>
                </a:solidFill>
                <a:latin typeface="Constantia" pitchFamily="34" charset="0"/>
                <a:ea typeface="Constantia" pitchFamily="34" charset="-122"/>
                <a:cs typeface="Constantia" pitchFamily="34" charset="-120"/>
              </a:rPr>
              <a:t>Pricing Analysis</a:t>
            </a:r>
            <a:endParaRPr lang="en-US" sz="3490" dirty="0"/>
          </a:p>
        </p:txBody>
      </p:sp>
      <p:sp>
        <p:nvSpPr>
          <p:cNvPr id="9" name="Text 5"/>
          <p:cNvSpPr/>
          <p:nvPr/>
        </p:nvSpPr>
        <p:spPr>
          <a:xfrm>
            <a:off x="571500" y="4413945"/>
            <a:ext cx="8801100" cy="215205"/>
          </a:xfrm>
          <a:prstGeom prst="rect">
            <a:avLst/>
          </a:prstGeom>
          <a:noFill/>
          <a:ln/>
        </p:spPr>
        <p:txBody>
          <a:bodyPr wrap="none" lIns="0" tIns="0" rIns="0" bIns="0" rtlCol="0" anchor="t"/>
          <a:lstStyle/>
          <a:p>
            <a:pPr>
              <a:lnSpc>
                <a:spcPts val="1695"/>
              </a:lnSpc>
            </a:pPr>
            <a:r>
              <a:rPr lang="en-US" sz="1130" kern="0" spc="140" dirty="0">
                <a:solidFill>
                  <a:srgbClr val="94A3B8"/>
                </a:solidFill>
                <a:latin typeface="Calibri" pitchFamily="34" charset="0"/>
                <a:ea typeface="Calibri" pitchFamily="34" charset="-122"/>
                <a:cs typeface="Calibri" pitchFamily="34" charset="-120"/>
              </a:rPr>
              <a:t>PROJECT 1</a:t>
            </a:r>
            <a:r>
              <a:rPr lang="en-US" sz="1010" kern="0" spc="140" dirty="0">
                <a:solidFill>
                  <a:srgbClr val="00B4D8"/>
                </a:solidFill>
                <a:latin typeface="Calibri" pitchFamily="34" charset="0"/>
                <a:ea typeface="Calibri" pitchFamily="34" charset="-122"/>
                <a:cs typeface="Calibri" pitchFamily="34" charset="-120"/>
              </a:rPr>
              <a:t>·</a:t>
            </a:r>
            <a:r>
              <a:rPr lang="en-US" sz="1130" kern="0" spc="140" dirty="0">
                <a:solidFill>
                  <a:srgbClr val="94A3B8"/>
                </a:solidFill>
                <a:latin typeface="Calibri" pitchFamily="34" charset="0"/>
                <a:ea typeface="Calibri" pitchFamily="34" charset="-122"/>
                <a:cs typeface="Calibri" pitchFamily="34" charset="-120"/>
              </a:rPr>
              <a:t>DAVID J. GIBBENS</a:t>
            </a:r>
            <a:r>
              <a:rPr lang="en-US" sz="1010" kern="0" spc="140" dirty="0">
                <a:solidFill>
                  <a:srgbClr val="00B4D8"/>
                </a:solidFill>
                <a:latin typeface="Calibri" pitchFamily="34" charset="0"/>
                <a:ea typeface="Calibri" pitchFamily="34" charset="-122"/>
                <a:cs typeface="Calibri" pitchFamily="34" charset="-120"/>
              </a:rPr>
              <a:t>·</a:t>
            </a:r>
            <a:r>
              <a:rPr lang="en-US" sz="1130" kern="0" spc="140" dirty="0">
                <a:solidFill>
                  <a:srgbClr val="94A3B8"/>
                </a:solidFill>
                <a:latin typeface="Calibri" pitchFamily="34" charset="0"/>
                <a:ea typeface="Calibri" pitchFamily="34" charset="-122"/>
                <a:cs typeface="Calibri" pitchFamily="34" charset="-120"/>
              </a:rPr>
              <a:t>APRIL 19, 2026 </a:t>
            </a:r>
            <a:r>
              <a:rPr lang="en-US" sz="1200" kern="0" spc="140" dirty="0">
                <a:solidFill>
                  <a:srgbClr val="00B4D8"/>
                </a:solidFill>
                <a:latin typeface="Calibri" pitchFamily="34" charset="0"/>
                <a:ea typeface="Calibri" pitchFamily="34" charset="-122"/>
                <a:cs typeface="Calibri" pitchFamily="34" charset="-120"/>
              </a:rPr>
              <a:t>· www.linkedin.com/in/djogibbens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alphaModFix amt="6000"/>
            <a:extLst>
              <a:ext uri="{96DAC541-7B7A-43D3-8B79-37D633B846F1}">
                <asvg:svgBlip xmlns:asvg="http://schemas.microsoft.com/office/drawing/2016/SVG/main" r:embed="rId3"/>
              </a:ext>
            </a:extLst>
          </a:blip>
          <a:stretch>
            <a:fillRect/>
          </a:stretch>
        </p:blipFill>
        <p:spPr>
          <a:xfrm>
            <a:off x="7579072" y="171450"/>
            <a:ext cx="1393478" cy="1393478"/>
          </a:xfrm>
          <a:prstGeom prst="rect">
            <a:avLst/>
          </a:prstGeom>
        </p:spPr>
      </p:pic>
      <p:sp>
        <p:nvSpPr>
          <p:cNvPr id="3" name="Text 0"/>
          <p:cNvSpPr/>
          <p:nvPr/>
        </p:nvSpPr>
        <p:spPr>
          <a:xfrm>
            <a:off x="457200" y="987028"/>
            <a:ext cx="6002953" cy="139005"/>
          </a:xfrm>
          <a:prstGeom prst="rect">
            <a:avLst/>
          </a:prstGeom>
          <a:noFill/>
          <a:ln/>
        </p:spPr>
        <p:txBody>
          <a:bodyPr wrap="none" lIns="0" tIns="0" rIns="0" bIns="0" rtlCol="0" anchor="t"/>
          <a:lstStyle/>
          <a:p>
            <a:pPr marL="0" indent="0" algn="l">
              <a:lnSpc>
                <a:spcPts val="1095"/>
              </a:lnSpc>
              <a:buNone/>
            </a:pPr>
            <a:r>
              <a:rPr lang="en-US" sz="730" b="1" kern="0" spc="170" dirty="0">
                <a:solidFill>
                  <a:srgbClr val="00B4D8"/>
                </a:solidFill>
                <a:latin typeface="Calibri" pitchFamily="34" charset="0"/>
                <a:ea typeface="Calibri" pitchFamily="34" charset="-122"/>
                <a:cs typeface="Calibri" pitchFamily="34" charset="-120"/>
              </a:rPr>
              <a:t>INTRODUCTION</a:t>
            </a:r>
            <a:endParaRPr lang="en-US" sz="730" dirty="0"/>
          </a:p>
        </p:txBody>
      </p:sp>
      <p:sp>
        <p:nvSpPr>
          <p:cNvPr id="4" name="Text 1"/>
          <p:cNvSpPr/>
          <p:nvPr/>
        </p:nvSpPr>
        <p:spPr>
          <a:xfrm>
            <a:off x="457200" y="1169194"/>
            <a:ext cx="342900" cy="21580"/>
          </a:xfrm>
          <a:prstGeom prst="roundRect">
            <a:avLst>
              <a:gd name="adj" fmla="val 64736"/>
            </a:avLst>
          </a:prstGeom>
          <a:solidFill>
            <a:srgbClr val="00B4D8"/>
          </a:solidFill>
          <a:ln/>
        </p:spPr>
        <p:txBody>
          <a:bodyPr wrap="none" rtlCol="0" anchor="t"/>
          <a:lstStyle/>
          <a:p>
            <a:pPr marL="0" indent="0">
              <a:buNone/>
            </a:pPr>
            <a:endParaRPr lang="en-US" dirty="0"/>
          </a:p>
        </p:txBody>
      </p:sp>
      <p:sp>
        <p:nvSpPr>
          <p:cNvPr id="5" name="Text 2"/>
          <p:cNvSpPr/>
          <p:nvPr/>
        </p:nvSpPr>
        <p:spPr>
          <a:xfrm>
            <a:off x="457200" y="1305074"/>
            <a:ext cx="5839236" cy="309265"/>
          </a:xfrm>
          <a:prstGeom prst="rect">
            <a:avLst/>
          </a:prstGeom>
          <a:noFill/>
          <a:ln/>
        </p:spPr>
        <p:txBody>
          <a:bodyPr wrap="none" lIns="0" tIns="0" rIns="0" bIns="0" rtlCol="0" anchor="t"/>
          <a:lstStyle/>
          <a:p>
            <a:pPr marL="0" indent="0" algn="l">
              <a:lnSpc>
                <a:spcPts val="2436"/>
              </a:lnSpc>
              <a:spcAft>
                <a:spcPts val="1580"/>
              </a:spcAft>
              <a:buNone/>
            </a:pPr>
            <a:r>
              <a:rPr lang="en-US" sz="2030" b="1" dirty="0">
                <a:solidFill>
                  <a:srgbClr val="0B2545"/>
                </a:solidFill>
                <a:latin typeface="Constantia" pitchFamily="34" charset="0"/>
                <a:ea typeface="Constantia" pitchFamily="34" charset="-122"/>
                <a:cs typeface="Constantia" pitchFamily="34" charset="-120"/>
              </a:rPr>
              <a:t>Introduction &amp; Research Question</a:t>
            </a:r>
            <a:endParaRPr lang="en-US" sz="2030" dirty="0"/>
          </a:p>
        </p:txBody>
      </p:sp>
      <p:sp>
        <p:nvSpPr>
          <p:cNvPr id="6" name="Text 3"/>
          <p:cNvSpPr/>
          <p:nvPr/>
        </p:nvSpPr>
        <p:spPr>
          <a:xfrm>
            <a:off x="457200" y="1814959"/>
            <a:ext cx="314920" cy="314920"/>
          </a:xfrm>
          <a:prstGeom prst="ellipse">
            <a:avLst/>
          </a:prstGeom>
          <a:gradFill rotWithShape="1">
            <a:gsLst>
              <a:gs pos="0">
                <a:srgbClr val="0B2545"/>
              </a:gs>
              <a:gs pos="100000">
                <a:srgbClr val="134074"/>
              </a:gs>
            </a:gsLst>
            <a:lin ang="2700000" scaled="1"/>
          </a:gradFill>
          <a:ln/>
        </p:spPr>
        <p:txBody>
          <a:bodyPr wrap="square" rtlCol="0" anchor="t"/>
          <a:lstStyle/>
          <a:p>
            <a:pPr marL="0" indent="0">
              <a:buNone/>
            </a:pPr>
            <a:endParaRPr lang="en-US"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8292" y="1906051"/>
            <a:ext cx="132588" cy="132588"/>
          </a:xfrm>
          <a:prstGeom prst="rect">
            <a:avLst/>
          </a:prstGeom>
        </p:spPr>
      </p:pic>
      <p:sp>
        <p:nvSpPr>
          <p:cNvPr id="8" name="Text 4"/>
          <p:cNvSpPr/>
          <p:nvPr/>
        </p:nvSpPr>
        <p:spPr>
          <a:xfrm>
            <a:off x="886420" y="1814959"/>
            <a:ext cx="4449827" cy="255984"/>
          </a:xfrm>
          <a:prstGeom prst="rect">
            <a:avLst/>
          </a:prstGeom>
          <a:noFill/>
          <a:ln/>
        </p:spPr>
        <p:txBody>
          <a:bodyPr wrap="none" lIns="0" tIns="57150" rIns="0" bIns="0" rtlCol="0" anchor="t"/>
          <a:lstStyle/>
          <a:p>
            <a:pPr marL="0" indent="0" algn="l">
              <a:lnSpc>
                <a:spcPts val="1565"/>
              </a:lnSpc>
              <a:buNone/>
            </a:pPr>
            <a:r>
              <a:rPr lang="en-US" sz="1010" dirty="0">
                <a:solidFill>
                  <a:srgbClr val="0B2545"/>
                </a:solidFill>
                <a:latin typeface="Calibri" pitchFamily="34" charset="0"/>
                <a:ea typeface="Calibri" pitchFamily="34" charset="-122"/>
                <a:cs typeface="Calibri" pitchFamily="34" charset="-120"/>
              </a:rPr>
              <a:t>Punta Cana is a </a:t>
            </a:r>
            <a:r>
              <a:rPr lang="en-US" sz="1010" b="1" dirty="0">
                <a:solidFill>
                  <a:srgbClr val="0B2545"/>
                </a:solidFill>
                <a:latin typeface="Calibri" pitchFamily="34" charset="0"/>
                <a:ea typeface="Calibri" pitchFamily="34" charset="-122"/>
                <a:cs typeface="Calibri" pitchFamily="34" charset="-120"/>
              </a:rPr>
              <a:t>major tourism destination</a:t>
            </a:r>
            <a:r>
              <a:rPr lang="en-US" sz="1010" dirty="0">
                <a:solidFill>
                  <a:srgbClr val="0B2545"/>
                </a:solidFill>
                <a:latin typeface="Calibri" pitchFamily="34" charset="0"/>
                <a:ea typeface="Calibri" pitchFamily="34" charset="-122"/>
                <a:cs typeface="Calibri" pitchFamily="34" charset="-120"/>
              </a:rPr>
              <a:t> in the Dominican Republic</a:t>
            </a:r>
            <a:endParaRPr lang="en-US" sz="1010" dirty="0"/>
          </a:p>
        </p:txBody>
      </p:sp>
      <p:sp>
        <p:nvSpPr>
          <p:cNvPr id="9" name="Text 5"/>
          <p:cNvSpPr/>
          <p:nvPr/>
        </p:nvSpPr>
        <p:spPr>
          <a:xfrm>
            <a:off x="457200" y="2273350"/>
            <a:ext cx="314920" cy="314920"/>
          </a:xfrm>
          <a:prstGeom prst="ellipse">
            <a:avLst/>
          </a:prstGeom>
          <a:gradFill rotWithShape="1">
            <a:gsLst>
              <a:gs pos="0">
                <a:srgbClr val="0B2545"/>
              </a:gs>
              <a:gs pos="100000">
                <a:srgbClr val="134074"/>
              </a:gs>
            </a:gsLst>
            <a:lin ang="2700000" scaled="1"/>
          </a:gradFill>
          <a:ln/>
        </p:spPr>
        <p:txBody>
          <a:bodyPr wrap="square" rtlCol="0" anchor="t"/>
          <a:lstStyle/>
          <a:p>
            <a:pPr marL="0" indent="0">
              <a:buNone/>
            </a:pPr>
            <a:endParaRPr lang="en-US"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8292" y="2364441"/>
            <a:ext cx="132588" cy="132588"/>
          </a:xfrm>
          <a:prstGeom prst="rect">
            <a:avLst/>
          </a:prstGeom>
        </p:spPr>
      </p:pic>
      <p:sp>
        <p:nvSpPr>
          <p:cNvPr id="11" name="Text 6"/>
          <p:cNvSpPr/>
          <p:nvPr/>
        </p:nvSpPr>
        <p:spPr>
          <a:xfrm>
            <a:off x="886420" y="2273350"/>
            <a:ext cx="5405899" cy="255984"/>
          </a:xfrm>
          <a:prstGeom prst="rect">
            <a:avLst/>
          </a:prstGeom>
          <a:noFill/>
          <a:ln/>
        </p:spPr>
        <p:txBody>
          <a:bodyPr wrap="none" lIns="0" tIns="57150" rIns="0" bIns="0" rtlCol="0" anchor="t"/>
          <a:lstStyle/>
          <a:p>
            <a:pPr marL="0" indent="0" algn="l">
              <a:lnSpc>
                <a:spcPts val="1565"/>
              </a:lnSpc>
              <a:buNone/>
            </a:pPr>
            <a:r>
              <a:rPr lang="en-US" sz="1010" dirty="0">
                <a:solidFill>
                  <a:srgbClr val="0B2545"/>
                </a:solidFill>
                <a:latin typeface="Calibri" pitchFamily="34" charset="0"/>
                <a:ea typeface="Calibri" pitchFamily="34" charset="-122"/>
                <a:cs typeface="Calibri" pitchFamily="34" charset="-120"/>
              </a:rPr>
              <a:t>Understanding price drivers helps </a:t>
            </a:r>
            <a:r>
              <a:rPr lang="en-US" sz="1010" b="1" dirty="0">
                <a:solidFill>
                  <a:srgbClr val="0B2545"/>
                </a:solidFill>
                <a:latin typeface="Calibri" pitchFamily="34" charset="0"/>
                <a:ea typeface="Calibri" pitchFamily="34" charset="-122"/>
                <a:cs typeface="Calibri" pitchFamily="34" charset="-120"/>
              </a:rPr>
              <a:t>hosts optimize pricing</a:t>
            </a:r>
            <a:r>
              <a:rPr lang="en-US" sz="1010" dirty="0">
                <a:solidFill>
                  <a:srgbClr val="0B2545"/>
                </a:solidFill>
                <a:latin typeface="Calibri" pitchFamily="34" charset="0"/>
                <a:ea typeface="Calibri" pitchFamily="34" charset="-122"/>
                <a:cs typeface="Calibri" pitchFamily="34" charset="-120"/>
              </a:rPr>
              <a:t> and guests understand cost</a:t>
            </a:r>
            <a:endParaRPr lang="en-US" sz="1010" dirty="0"/>
          </a:p>
        </p:txBody>
      </p:sp>
      <p:sp>
        <p:nvSpPr>
          <p:cNvPr id="12" name="Text 7"/>
          <p:cNvSpPr/>
          <p:nvPr/>
        </p:nvSpPr>
        <p:spPr>
          <a:xfrm>
            <a:off x="457200" y="2731740"/>
            <a:ext cx="314920" cy="314920"/>
          </a:xfrm>
          <a:prstGeom prst="ellipse">
            <a:avLst/>
          </a:prstGeom>
          <a:gradFill rotWithShape="1">
            <a:gsLst>
              <a:gs pos="0">
                <a:srgbClr val="0B2545"/>
              </a:gs>
              <a:gs pos="100000">
                <a:srgbClr val="134074"/>
              </a:gs>
            </a:gsLst>
            <a:lin ang="2700000" scaled="1"/>
          </a:gradFill>
          <a:ln/>
        </p:spPr>
        <p:txBody>
          <a:bodyPr wrap="square" rtlCol="0" anchor="t"/>
          <a:lstStyle/>
          <a:p>
            <a:pPr marL="0" indent="0">
              <a:buNone/>
            </a:pPr>
            <a:endParaRPr lang="en-US"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8292" y="2822832"/>
            <a:ext cx="132588" cy="132588"/>
          </a:xfrm>
          <a:prstGeom prst="rect">
            <a:avLst/>
          </a:prstGeom>
        </p:spPr>
      </p:pic>
      <p:sp>
        <p:nvSpPr>
          <p:cNvPr id="14" name="Text 8"/>
          <p:cNvSpPr/>
          <p:nvPr/>
        </p:nvSpPr>
        <p:spPr>
          <a:xfrm>
            <a:off x="886420" y="2731740"/>
            <a:ext cx="3408134" cy="255984"/>
          </a:xfrm>
          <a:prstGeom prst="rect">
            <a:avLst/>
          </a:prstGeom>
          <a:noFill/>
          <a:ln/>
        </p:spPr>
        <p:txBody>
          <a:bodyPr wrap="none" lIns="0" tIns="57150" rIns="0" bIns="0" rtlCol="0" anchor="t"/>
          <a:lstStyle/>
          <a:p>
            <a:pPr marL="0" indent="0" algn="l">
              <a:lnSpc>
                <a:spcPts val="1565"/>
              </a:lnSpc>
              <a:buNone/>
            </a:pPr>
            <a:r>
              <a:rPr lang="en-US" sz="1010" dirty="0">
                <a:solidFill>
                  <a:srgbClr val="0B2545"/>
                </a:solidFill>
                <a:latin typeface="Calibri" pitchFamily="34" charset="0"/>
                <a:ea typeface="Calibri" pitchFamily="34" charset="-122"/>
                <a:cs typeface="Calibri" pitchFamily="34" charset="-120"/>
              </a:rPr>
              <a:t>Project follows a structured </a:t>
            </a:r>
            <a:r>
              <a:rPr lang="en-US" sz="1010" b="1" dirty="0">
                <a:solidFill>
                  <a:srgbClr val="0B2545"/>
                </a:solidFill>
                <a:latin typeface="Calibri" pitchFamily="34" charset="0"/>
                <a:ea typeface="Calibri" pitchFamily="34" charset="-122"/>
                <a:cs typeface="Calibri" pitchFamily="34" charset="-120"/>
              </a:rPr>
              <a:t>8-step analytical process</a:t>
            </a:r>
            <a:endParaRPr lang="en-US" sz="1010" dirty="0"/>
          </a:p>
        </p:txBody>
      </p:sp>
      <p:sp>
        <p:nvSpPr>
          <p:cNvPr id="15" name="Text 9"/>
          <p:cNvSpPr/>
          <p:nvPr/>
        </p:nvSpPr>
        <p:spPr>
          <a:xfrm>
            <a:off x="457200" y="3276451"/>
            <a:ext cx="5457230" cy="937022"/>
          </a:xfrm>
          <a:prstGeom prst="roundRect">
            <a:avLst>
              <a:gd name="adj" fmla="val 6099"/>
            </a:avLst>
          </a:prstGeom>
          <a:gradFill rotWithShape="1">
            <a:gsLst>
              <a:gs pos="0">
                <a:srgbClr val="0B2545"/>
              </a:gs>
              <a:gs pos="100000">
                <a:srgbClr val="134074"/>
              </a:gs>
            </a:gsLst>
            <a:lin ang="2700000" scaled="1"/>
          </a:gradFill>
          <a:ln/>
        </p:spPr>
        <p:txBody>
          <a:bodyPr wrap="square" rtlCol="0" anchor="t"/>
          <a:lstStyle/>
          <a:p>
            <a:pPr marL="0" indent="0">
              <a:buNone/>
            </a:pPr>
            <a:endParaRPr lang="en-US" dirty="0"/>
          </a:p>
        </p:txBody>
      </p:sp>
      <p:sp>
        <p:nvSpPr>
          <p:cNvPr id="16" name="Text 10"/>
          <p:cNvSpPr/>
          <p:nvPr/>
        </p:nvSpPr>
        <p:spPr>
          <a:xfrm>
            <a:off x="457200" y="3276451"/>
            <a:ext cx="28575" cy="937022"/>
          </a:xfrm>
          <a:custGeom>
            <a:avLst/>
            <a:gdLst/>
            <a:ahLst/>
            <a:cxnLst/>
            <a:rect l="l" t="t" r="r" b="b"/>
            <a:pathLst>
              <a:path w="28575" h="937022">
                <a:moveTo>
                  <a:pt x="0" y="57150"/>
                </a:moveTo>
                <a:lnTo>
                  <a:pt x="3572" y="37263"/>
                </a:lnTo>
                <a:lnTo>
                  <a:pt x="7144" y="29482"/>
                </a:lnTo>
                <a:lnTo>
                  <a:pt x="10716" y="23834"/>
                </a:lnTo>
                <a:lnTo>
                  <a:pt x="14288" y="19349"/>
                </a:lnTo>
                <a:lnTo>
                  <a:pt x="17859" y="15649"/>
                </a:lnTo>
                <a:lnTo>
                  <a:pt x="21431" y="12537"/>
                </a:lnTo>
                <a:lnTo>
                  <a:pt x="25003" y="9899"/>
                </a:lnTo>
                <a:lnTo>
                  <a:pt x="28575" y="7657"/>
                </a:lnTo>
                <a:lnTo>
                  <a:pt x="28575" y="929365"/>
                </a:lnTo>
                <a:lnTo>
                  <a:pt x="25003" y="927123"/>
                </a:lnTo>
                <a:lnTo>
                  <a:pt x="21431" y="924485"/>
                </a:lnTo>
                <a:lnTo>
                  <a:pt x="17859" y="921373"/>
                </a:lnTo>
                <a:lnTo>
                  <a:pt x="14288" y="917673"/>
                </a:lnTo>
                <a:lnTo>
                  <a:pt x="10716" y="913188"/>
                </a:lnTo>
                <a:lnTo>
                  <a:pt x="7144" y="907539"/>
                </a:lnTo>
                <a:lnTo>
                  <a:pt x="3572" y="899759"/>
                </a:lnTo>
                <a:lnTo>
                  <a:pt x="0" y="879872"/>
                </a:lnTo>
                <a:close/>
              </a:path>
            </a:pathLst>
          </a:custGeom>
          <a:solidFill>
            <a:srgbClr val="00B4D8"/>
          </a:solidFill>
          <a:ln/>
        </p:spPr>
        <p:txBody>
          <a:bodyPr wrap="square" rtlCol="0" anchor="t"/>
          <a:lstStyle/>
          <a:p>
            <a:pPr marL="0" indent="0">
              <a:buNone/>
            </a:pPr>
            <a:endParaRPr lang="en-US"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6395" y="3461742"/>
            <a:ext cx="150465" cy="150465"/>
          </a:xfrm>
          <a:prstGeom prst="rect">
            <a:avLst/>
          </a:prstGeom>
        </p:spPr>
      </p:pic>
      <p:sp>
        <p:nvSpPr>
          <p:cNvPr id="18" name="Text 11"/>
          <p:cNvSpPr/>
          <p:nvPr/>
        </p:nvSpPr>
        <p:spPr>
          <a:xfrm>
            <a:off x="937171" y="3447901"/>
            <a:ext cx="5254303" cy="129480"/>
          </a:xfrm>
          <a:prstGeom prst="rect">
            <a:avLst/>
          </a:prstGeom>
          <a:noFill/>
          <a:ln/>
        </p:spPr>
        <p:txBody>
          <a:bodyPr wrap="none" lIns="0" tIns="0" rIns="0" bIns="0" rtlCol="0" anchor="t"/>
          <a:lstStyle/>
          <a:p>
            <a:pPr marL="0" indent="0" algn="l">
              <a:lnSpc>
                <a:spcPts val="1020"/>
              </a:lnSpc>
              <a:spcAft>
                <a:spcPts val="450"/>
              </a:spcAft>
              <a:buNone/>
            </a:pPr>
            <a:r>
              <a:rPr lang="en-US" sz="680" b="1" kern="0" spc="140" dirty="0">
                <a:solidFill>
                  <a:srgbClr val="00B4D8"/>
                </a:solidFill>
                <a:latin typeface="Calibri" pitchFamily="34" charset="0"/>
                <a:ea typeface="Calibri" pitchFamily="34" charset="-122"/>
                <a:cs typeface="Calibri" pitchFamily="34" charset="-120"/>
              </a:rPr>
              <a:t>RESEARCH QUESTION</a:t>
            </a:r>
            <a:endParaRPr lang="en-US" sz="680" dirty="0"/>
          </a:p>
        </p:txBody>
      </p:sp>
      <p:sp>
        <p:nvSpPr>
          <p:cNvPr id="19" name="Text 12"/>
          <p:cNvSpPr/>
          <p:nvPr/>
        </p:nvSpPr>
        <p:spPr>
          <a:xfrm>
            <a:off x="937171" y="3634532"/>
            <a:ext cx="4872171" cy="427866"/>
          </a:xfrm>
          <a:prstGeom prst="rect">
            <a:avLst/>
          </a:prstGeom>
          <a:noFill/>
          <a:ln/>
        </p:spPr>
        <p:txBody>
          <a:bodyPr wrap="square" lIns="0" tIns="0" rIns="0" bIns="0" rtlCol="0" anchor="t"/>
          <a:lstStyle/>
          <a:p>
            <a:pPr marL="0" indent="0" algn="l">
              <a:lnSpc>
                <a:spcPts val="1605"/>
              </a:lnSpc>
              <a:buNone/>
            </a:pPr>
            <a:r>
              <a:rPr lang="en-US" sz="1070" i="1" dirty="0">
                <a:solidFill>
                  <a:srgbClr val="F8FAFC"/>
                </a:solidFill>
                <a:latin typeface="Constantia" pitchFamily="34" charset="0"/>
                <a:ea typeface="Constantia" pitchFamily="34" charset="-122"/>
                <a:cs typeface="Constantia" pitchFamily="34" charset="-120"/>
              </a:rPr>
              <a:t>Which listing characteristics best explain variation in nightly Airbnb prices in Punta Cana?</a:t>
            </a:r>
            <a:endParaRPr lang="en-US" sz="1070" dirty="0"/>
          </a:p>
        </p:txBody>
      </p:sp>
      <p:pic>
        <p:nvPicPr>
          <p:cNvPr id="20" name="Image 5" descr="preencoded.png"/>
          <p:cNvPicPr>
            <a:picLocks noChangeAspect="1"/>
          </p:cNvPicPr>
          <p:nvPr/>
        </p:nvPicPr>
        <p:blipFill>
          <a:blip r:embed="rId8"/>
          <a:srcRect l="25834" r="25834"/>
          <a:stretch/>
        </p:blipFill>
        <p:spPr>
          <a:xfrm>
            <a:off x="6329065" y="928390"/>
            <a:ext cx="2286000" cy="3143250"/>
          </a:xfrm>
          <a:prstGeom prst="roundRect">
            <a:avLst>
              <a:gd name="adj" fmla="val 3778"/>
            </a:avLst>
          </a:prstGeom>
        </p:spPr>
      </p:pic>
      <p:sp>
        <p:nvSpPr>
          <p:cNvPr id="21" name="Text 13"/>
          <p:cNvSpPr/>
          <p:nvPr/>
        </p:nvSpPr>
        <p:spPr>
          <a:xfrm>
            <a:off x="6773845" y="4142631"/>
            <a:ext cx="1396291" cy="129480"/>
          </a:xfrm>
          <a:prstGeom prst="rect">
            <a:avLst/>
          </a:prstGeom>
          <a:noFill/>
          <a:ln/>
        </p:spPr>
        <p:txBody>
          <a:bodyPr wrap="none" lIns="0" tIns="0" rIns="0" bIns="0" rtlCol="0" anchor="t"/>
          <a:lstStyle/>
          <a:p>
            <a:pPr marL="0" indent="0" algn="ctr">
              <a:lnSpc>
                <a:spcPts val="1020"/>
              </a:lnSpc>
              <a:spcBef>
                <a:spcPts val="560"/>
              </a:spcBef>
              <a:buNone/>
            </a:pPr>
            <a:r>
              <a:rPr lang="en-US" sz="680" i="1" dirty="0">
                <a:solidFill>
                  <a:srgbClr val="94A3B8"/>
                </a:solidFill>
                <a:latin typeface="Calibri" pitchFamily="34" charset="0"/>
                <a:ea typeface="Calibri" pitchFamily="34" charset="-122"/>
                <a:cs typeface="Calibri" pitchFamily="34" charset="-120"/>
              </a:rPr>
              <a:t>Punta Cana, Dominican Republic</a:t>
            </a:r>
            <a:endParaRPr lang="en-US" sz="680" dirty="0"/>
          </a:p>
        </p:txBody>
      </p:sp>
      <p:sp>
        <p:nvSpPr>
          <p:cNvPr id="22" name="Text 14"/>
          <p:cNvSpPr/>
          <p:nvPr/>
        </p:nvSpPr>
        <p:spPr>
          <a:xfrm>
            <a:off x="0" y="5114330"/>
            <a:ext cx="9144000" cy="29170"/>
          </a:xfrm>
          <a:prstGeom prst="rect">
            <a:avLst/>
          </a:prstGeom>
          <a:gradFill rotWithShape="1">
            <a:gsLst>
              <a:gs pos="0">
                <a:srgbClr val="00B4D8"/>
              </a:gs>
              <a:gs pos="100000">
                <a:srgbClr val="0B2545"/>
              </a:gs>
            </a:gsLst>
            <a:lin ang="0" scaled="1"/>
          </a:gradFill>
          <a:ln/>
        </p:spPr>
        <p:txBody>
          <a:bodyPr wrap="none" rtlCol="0" anchor="t"/>
          <a:lstStyle/>
          <a:p>
            <a:pPr marL="0" indent="0">
              <a:buNone/>
            </a:pPr>
            <a:endParaRPr lang="en-US" dirty="0"/>
          </a:p>
        </p:txBody>
      </p:sp>
      <p:sp>
        <p:nvSpPr>
          <p:cNvPr id="23" name="Text 15"/>
          <p:cNvSpPr/>
          <p:nvPr/>
        </p:nvSpPr>
        <p:spPr>
          <a:xfrm>
            <a:off x="657225" y="3219301"/>
            <a:ext cx="285750" cy="29170"/>
          </a:xfrm>
          <a:prstGeom prst="roundRect">
            <a:avLst>
              <a:gd name="adj" fmla="val 47892"/>
            </a:avLst>
          </a:prstGeom>
          <a:solidFill>
            <a:srgbClr val="00B4D8"/>
          </a:solidFill>
          <a:ln/>
        </p:spPr>
        <p:txBody>
          <a:bodyPr wrap="none" rtlCol="0" anchor="t"/>
          <a:lstStyle/>
          <a:p>
            <a:pPr marL="0" indent="0">
              <a:buNone/>
            </a:pPr>
            <a:endParaRPr lang="en-US" dirty="0"/>
          </a:p>
        </p:txBody>
      </p:sp>
      <p:sp>
        <p:nvSpPr>
          <p:cNvPr id="24" name="Text 16"/>
          <p:cNvSpPr/>
          <p:nvPr/>
        </p:nvSpPr>
        <p:spPr>
          <a:xfrm>
            <a:off x="6329065" y="928390"/>
            <a:ext cx="2286000" cy="3143250"/>
          </a:xfrm>
          <a:prstGeom prst="roundRect">
            <a:avLst>
              <a:gd name="adj" fmla="val 3778"/>
            </a:avLst>
          </a:prstGeom>
          <a:noFill/>
          <a:ln w="9525">
            <a:solidFill>
              <a:srgbClr val="00B4D8">
                <a:alpha val="30000"/>
              </a:srgbClr>
            </a:solidFill>
          </a:ln>
        </p:spPr>
        <p:txBody>
          <a:bodyPr wrap="square" rtlCol="0" anchor="t"/>
          <a:lstStyle/>
          <a:p>
            <a:pPr marL="0"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54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7679" b="7679"/>
          <a:stretch/>
        </p:blipFill>
        <p:spPr>
          <a:xfrm>
            <a:off x="0" y="0"/>
            <a:ext cx="9144000" cy="5143500"/>
          </a:xfrm>
          <a:prstGeom prst="rect">
            <a:avLst/>
          </a:prstGeom>
        </p:spPr>
      </p:pic>
      <p:sp>
        <p:nvSpPr>
          <p:cNvPr id="3" name="Text 0"/>
          <p:cNvSpPr/>
          <p:nvPr/>
        </p:nvSpPr>
        <p:spPr>
          <a:xfrm>
            <a:off x="0" y="0"/>
            <a:ext cx="9144000" cy="5143500"/>
          </a:xfrm>
          <a:prstGeom prst="rect">
            <a:avLst/>
          </a:prstGeom>
          <a:gradFill rotWithShape="1">
            <a:gsLst>
              <a:gs pos="0">
                <a:srgbClr val="0B2545">
                  <a:alpha val="94000"/>
                </a:srgbClr>
              </a:gs>
              <a:gs pos="50000">
                <a:srgbClr val="0B2545">
                  <a:alpha val="88000"/>
                </a:srgbClr>
              </a:gs>
              <a:gs pos="100000">
                <a:srgbClr val="0B2545">
                  <a:alpha val="92000"/>
                </a:srgbClr>
              </a:gs>
            </a:gsLst>
            <a:lin ang="4200000" scaled="1"/>
          </a:gradFill>
          <a:ln/>
        </p:spPr>
        <p:txBody>
          <a:bodyPr wrap="square" rtlCol="0" anchor="t"/>
          <a:lstStyle/>
          <a:p>
            <a:pPr marL="0" indent="0">
              <a:buNone/>
            </a:pPr>
            <a:endParaRPr lang="en-US"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4350" y="528638"/>
            <a:ext cx="150465" cy="150465"/>
          </a:xfrm>
          <a:prstGeom prst="rect">
            <a:avLst/>
          </a:prstGeom>
        </p:spPr>
      </p:pic>
      <p:sp>
        <p:nvSpPr>
          <p:cNvPr id="5" name="Text 1"/>
          <p:cNvSpPr/>
          <p:nvPr/>
        </p:nvSpPr>
        <p:spPr>
          <a:xfrm>
            <a:off x="779115" y="400050"/>
            <a:ext cx="2368308" cy="407640"/>
          </a:xfrm>
          <a:prstGeom prst="rect">
            <a:avLst/>
          </a:prstGeom>
          <a:noFill/>
          <a:ln/>
        </p:spPr>
        <p:txBody>
          <a:bodyPr wrap="none" lIns="0" tIns="0" rIns="0" bIns="0" rtlCol="0" anchor="ctr"/>
          <a:lstStyle/>
          <a:p>
            <a:pPr marL="0" indent="0" algn="l">
              <a:lnSpc>
                <a:spcPts val="3210"/>
              </a:lnSpc>
              <a:buNone/>
            </a:pPr>
            <a:r>
              <a:rPr lang="en-US" sz="2140" b="1" kern="0" spc="-30" dirty="0">
                <a:solidFill>
                  <a:srgbClr val="F8FAFC"/>
                </a:solidFill>
                <a:latin typeface="Constantia" pitchFamily="34" charset="0"/>
                <a:ea typeface="Constantia" pitchFamily="34" charset="-122"/>
                <a:cs typeface="Constantia" pitchFamily="34" charset="-120"/>
              </a:rPr>
              <a:t>Dataset Description</a:t>
            </a:r>
            <a:endParaRPr lang="en-US" sz="2140" dirty="0"/>
          </a:p>
        </p:txBody>
      </p:sp>
      <p:sp>
        <p:nvSpPr>
          <p:cNvPr id="6" name="Text 2"/>
          <p:cNvSpPr/>
          <p:nvPr/>
        </p:nvSpPr>
        <p:spPr>
          <a:xfrm>
            <a:off x="829270" y="864840"/>
            <a:ext cx="457200" cy="13841"/>
          </a:xfrm>
          <a:prstGeom prst="rect">
            <a:avLst/>
          </a:prstGeom>
          <a:solidFill>
            <a:srgbClr val="00B4D8">
              <a:alpha val="50000"/>
            </a:srgbClr>
          </a:solidFill>
          <a:ln/>
        </p:spPr>
        <p:txBody>
          <a:bodyPr wrap="none" rtlCol="0" anchor="t"/>
          <a:lstStyle/>
          <a:p>
            <a:pPr marL="0" indent="0">
              <a:buNone/>
            </a:pPr>
            <a:endParaRPr lang="en-US" dirty="0"/>
          </a:p>
        </p:txBody>
      </p:sp>
      <p:sp>
        <p:nvSpPr>
          <p:cNvPr id="7" name="Text 3"/>
          <p:cNvSpPr/>
          <p:nvPr/>
        </p:nvSpPr>
        <p:spPr>
          <a:xfrm>
            <a:off x="857250" y="1221581"/>
            <a:ext cx="2286000" cy="1336255"/>
          </a:xfrm>
          <a:prstGeom prst="roundRect">
            <a:avLst>
              <a:gd name="adj" fmla="val 6463"/>
            </a:avLst>
          </a:prstGeom>
          <a:solidFill>
            <a:srgbClr val="FFFFFF">
              <a:alpha val="5000"/>
            </a:srgbClr>
          </a:solidFill>
          <a:ln w="9525">
            <a:solidFill>
              <a:srgbClr val="FFFFFF">
                <a:alpha val="8000"/>
              </a:srgbClr>
            </a:solidFill>
          </a:ln>
        </p:spPr>
        <p:txBody>
          <a:bodyPr wrap="square" lIns="171450" tIns="228600" rIns="171450" bIns="228600" rtlCol="0" anchor="t"/>
          <a:lstStyle/>
          <a:p>
            <a:pPr marL="0" indent="0" algn="ctr">
              <a:buNone/>
            </a:pPr>
            <a:r>
              <a:rPr lang="en-US" sz="4500" b="1" dirty="0">
                <a:solidFill>
                  <a:srgbClr val="00B4D8"/>
                </a:solidFill>
                <a:latin typeface="Constantia" pitchFamily="34" charset="0"/>
                <a:ea typeface="Constantia" pitchFamily="34" charset="-122"/>
                <a:cs typeface="Constantia" pitchFamily="34" charset="-120"/>
              </a:rPr>
              <a:t>195</a:t>
            </a:r>
            <a:endParaRPr lang="en-US" sz="4500" dirty="0"/>
          </a:p>
          <a:p>
            <a:pPr marL="0" indent="0" algn="ctr">
              <a:buNone/>
            </a:pPr>
            <a:r>
              <a:rPr lang="en-US" sz="1010" kern="0" spc="110" dirty="0">
                <a:solidFill>
                  <a:srgbClr val="94A3B8"/>
                </a:solidFill>
                <a:latin typeface="Calibri" pitchFamily="34" charset="0"/>
                <a:ea typeface="Calibri" pitchFamily="34" charset="-122"/>
                <a:cs typeface="Calibri" pitchFamily="34" charset="-120"/>
              </a:rPr>
              <a:t>RAW LISTINGS</a:t>
            </a:r>
            <a:endParaRPr lang="en-US" sz="4500" dirty="0"/>
          </a:p>
        </p:txBody>
      </p:sp>
      <p:sp>
        <p:nvSpPr>
          <p:cNvPr id="8" name="Text 4"/>
          <p:cNvSpPr/>
          <p:nvPr/>
        </p:nvSpPr>
        <p:spPr>
          <a:xfrm>
            <a:off x="3429000" y="1221581"/>
            <a:ext cx="2286000" cy="1336255"/>
          </a:xfrm>
          <a:prstGeom prst="roundRect">
            <a:avLst>
              <a:gd name="adj" fmla="val 6463"/>
            </a:avLst>
          </a:prstGeom>
          <a:solidFill>
            <a:srgbClr val="FFFFFF">
              <a:alpha val="5000"/>
            </a:srgbClr>
          </a:solidFill>
          <a:ln w="9525">
            <a:solidFill>
              <a:srgbClr val="FFFFFF">
                <a:alpha val="8000"/>
              </a:srgbClr>
            </a:solidFill>
          </a:ln>
        </p:spPr>
        <p:txBody>
          <a:bodyPr wrap="square" lIns="171450" tIns="228600" rIns="171450" bIns="228600" rtlCol="0" anchor="t"/>
          <a:lstStyle/>
          <a:p>
            <a:pPr marL="0" indent="0" algn="ctr">
              <a:buNone/>
            </a:pPr>
            <a:r>
              <a:rPr lang="en-US" sz="4500" b="1" dirty="0">
                <a:solidFill>
                  <a:srgbClr val="00B4D8"/>
                </a:solidFill>
                <a:latin typeface="Constantia" pitchFamily="34" charset="0"/>
                <a:ea typeface="Constantia" pitchFamily="34" charset="-122"/>
                <a:cs typeface="Constantia" pitchFamily="34" charset="-120"/>
              </a:rPr>
              <a:t>63</a:t>
            </a:r>
            <a:endParaRPr lang="en-US" sz="4500" dirty="0"/>
          </a:p>
          <a:p>
            <a:pPr marL="0" indent="0" algn="ctr">
              <a:buNone/>
            </a:pPr>
            <a:r>
              <a:rPr lang="en-US" sz="1010" kern="0" spc="110" dirty="0">
                <a:solidFill>
                  <a:srgbClr val="94A3B8"/>
                </a:solidFill>
                <a:latin typeface="Calibri" pitchFamily="34" charset="0"/>
                <a:ea typeface="Calibri" pitchFamily="34" charset="-122"/>
                <a:cs typeface="Calibri" pitchFamily="34" charset="-120"/>
              </a:rPr>
              <a:t>ORIGINAL VARIABLES</a:t>
            </a:r>
            <a:endParaRPr lang="en-US" sz="4500" dirty="0"/>
          </a:p>
        </p:txBody>
      </p:sp>
      <p:sp>
        <p:nvSpPr>
          <p:cNvPr id="9" name="Text 5"/>
          <p:cNvSpPr/>
          <p:nvPr/>
        </p:nvSpPr>
        <p:spPr>
          <a:xfrm>
            <a:off x="6000750" y="1221581"/>
            <a:ext cx="2286000" cy="1336255"/>
          </a:xfrm>
          <a:prstGeom prst="roundRect">
            <a:avLst>
              <a:gd name="adj" fmla="val 6463"/>
            </a:avLst>
          </a:prstGeom>
          <a:solidFill>
            <a:srgbClr val="FFFFFF">
              <a:alpha val="5000"/>
            </a:srgbClr>
          </a:solidFill>
          <a:ln w="9525">
            <a:solidFill>
              <a:srgbClr val="FFFFFF">
                <a:alpha val="8000"/>
              </a:srgbClr>
            </a:solidFill>
          </a:ln>
        </p:spPr>
        <p:txBody>
          <a:bodyPr wrap="square" lIns="171450" tIns="228600" rIns="171450" bIns="228600" rtlCol="0" anchor="t"/>
          <a:lstStyle/>
          <a:p>
            <a:pPr marL="0" indent="0" algn="ctr">
              <a:buNone/>
            </a:pPr>
            <a:r>
              <a:rPr lang="en-US" sz="4500" b="1" dirty="0">
                <a:solidFill>
                  <a:srgbClr val="00B4D8"/>
                </a:solidFill>
                <a:latin typeface="Constantia" pitchFamily="34" charset="0"/>
                <a:ea typeface="Constantia" pitchFamily="34" charset="-122"/>
                <a:cs typeface="Constantia" pitchFamily="34" charset="-120"/>
              </a:rPr>
              <a:t>4</a:t>
            </a:r>
            <a:endParaRPr lang="en-US" sz="4500" dirty="0"/>
          </a:p>
          <a:p>
            <a:pPr marL="0" indent="0" algn="ctr">
              <a:buNone/>
            </a:pPr>
            <a:r>
              <a:rPr lang="en-US" sz="1010" kern="0" spc="110" dirty="0">
                <a:solidFill>
                  <a:srgbClr val="94A3B8"/>
                </a:solidFill>
                <a:latin typeface="Calibri" pitchFamily="34" charset="0"/>
                <a:ea typeface="Calibri" pitchFamily="34" charset="-122"/>
                <a:cs typeface="Calibri" pitchFamily="34" charset="-120"/>
              </a:rPr>
              <a:t>KEY VARIABLES USED</a:t>
            </a:r>
            <a:endParaRPr lang="en-US" sz="4500" dirty="0"/>
          </a:p>
        </p:txBody>
      </p:sp>
      <p:sp>
        <p:nvSpPr>
          <p:cNvPr id="10" name="Text 6"/>
          <p:cNvSpPr/>
          <p:nvPr/>
        </p:nvSpPr>
        <p:spPr>
          <a:xfrm>
            <a:off x="3089672" y="2861816"/>
            <a:ext cx="3261122" cy="159990"/>
          </a:xfrm>
          <a:prstGeom prst="rect">
            <a:avLst/>
          </a:prstGeom>
          <a:noFill/>
          <a:ln/>
        </p:spPr>
        <p:txBody>
          <a:bodyPr wrap="none" lIns="0" tIns="0" rIns="0" bIns="0" rtlCol="0" anchor="t"/>
          <a:lstStyle/>
          <a:p>
            <a:pPr marL="0" indent="0" algn="l">
              <a:lnSpc>
                <a:spcPts val="1260"/>
              </a:lnSpc>
              <a:spcAft>
                <a:spcPts val="230"/>
              </a:spcAft>
              <a:buNone/>
            </a:pPr>
            <a:r>
              <a:rPr lang="en-US" sz="840" kern="0" spc="170" dirty="0">
                <a:solidFill>
                  <a:srgbClr val="94A3B8"/>
                </a:solidFill>
                <a:latin typeface="Calibri" pitchFamily="34" charset="0"/>
                <a:ea typeface="Calibri" pitchFamily="34" charset="-122"/>
                <a:cs typeface="Calibri" pitchFamily="34" charset="-120"/>
              </a:rPr>
              <a:t>KEY VARIABLES SELECTED FOR ANALYSIS</a:t>
            </a:r>
            <a:endParaRPr lang="en-US" sz="840" dirty="0"/>
          </a:p>
        </p:txBody>
      </p:sp>
      <p:sp>
        <p:nvSpPr>
          <p:cNvPr id="11" name="Text 7"/>
          <p:cNvSpPr/>
          <p:nvPr/>
        </p:nvSpPr>
        <p:spPr>
          <a:xfrm>
            <a:off x="1661071" y="3194447"/>
            <a:ext cx="1704826" cy="343793"/>
          </a:xfrm>
          <a:prstGeom prst="roundRect">
            <a:avLst>
              <a:gd name="adj" fmla="val 16623"/>
            </a:avLst>
          </a:prstGeom>
          <a:solidFill>
            <a:srgbClr val="00B4D8">
              <a:alpha val="12000"/>
            </a:srgbClr>
          </a:solidFill>
          <a:ln w="9525">
            <a:solidFill>
              <a:srgbClr val="00B4D8">
                <a:alpha val="25000"/>
              </a:srgbClr>
            </a:solidFill>
          </a:ln>
        </p:spPr>
        <p:txBody>
          <a:bodyPr wrap="square" rtlCol="0" anchor="t"/>
          <a:lstStyle/>
          <a:p>
            <a:pPr marL="0" indent="0">
              <a:buNone/>
            </a:pPr>
            <a:endParaRPr lang="en-US"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01573" y="3299975"/>
            <a:ext cx="132588" cy="132588"/>
          </a:xfrm>
          <a:prstGeom prst="rect">
            <a:avLst/>
          </a:prstGeom>
        </p:spPr>
      </p:pic>
      <p:sp>
        <p:nvSpPr>
          <p:cNvPr id="13" name="Text 8"/>
          <p:cNvSpPr/>
          <p:nvPr/>
        </p:nvSpPr>
        <p:spPr>
          <a:xfrm>
            <a:off x="1978819" y="3274963"/>
            <a:ext cx="290423" cy="182761"/>
          </a:xfrm>
          <a:prstGeom prst="rect">
            <a:avLst/>
          </a:prstGeom>
          <a:noFill/>
          <a:ln/>
        </p:spPr>
        <p:txBody>
          <a:bodyPr wrap="none" lIns="0" tIns="0" rIns="0" bIns="0" rtlCol="0" anchor="ctr"/>
          <a:lstStyle/>
          <a:p>
            <a:pPr marL="0" indent="0" algn="l">
              <a:lnSpc>
                <a:spcPts val="1440"/>
              </a:lnSpc>
              <a:buNone/>
            </a:pPr>
            <a:r>
              <a:rPr lang="en-US" sz="960" b="1" dirty="0">
                <a:solidFill>
                  <a:srgbClr val="00B4D8"/>
                </a:solidFill>
                <a:latin typeface="Constantia" pitchFamily="34" charset="0"/>
                <a:ea typeface="Constantia" pitchFamily="34" charset="-122"/>
                <a:cs typeface="Constantia" pitchFamily="34" charset="-120"/>
              </a:rPr>
              <a:t>price</a:t>
            </a:r>
            <a:endParaRPr lang="en-US" sz="960" dirty="0"/>
          </a:p>
        </p:txBody>
      </p:sp>
      <p:sp>
        <p:nvSpPr>
          <p:cNvPr id="14" name="Text 9"/>
          <p:cNvSpPr/>
          <p:nvPr/>
        </p:nvSpPr>
        <p:spPr>
          <a:xfrm>
            <a:off x="2299990" y="3291036"/>
            <a:ext cx="1004203" cy="150465"/>
          </a:xfrm>
          <a:prstGeom prst="rect">
            <a:avLst/>
          </a:prstGeom>
          <a:noFill/>
          <a:ln/>
        </p:spPr>
        <p:txBody>
          <a:bodyPr wrap="none" lIns="0" tIns="0" rIns="0" bIns="0" rtlCol="0" anchor="ctr"/>
          <a:lstStyle/>
          <a:p>
            <a:pPr marL="0" indent="0" algn="l">
              <a:lnSpc>
                <a:spcPts val="1185"/>
              </a:lnSpc>
              <a:buNone/>
            </a:pPr>
            <a:r>
              <a:rPr lang="en-US" sz="790" dirty="0">
                <a:solidFill>
                  <a:srgbClr val="94A3B8"/>
                </a:solidFill>
                <a:latin typeface="Calibri" pitchFamily="34" charset="0"/>
                <a:ea typeface="Calibri" pitchFamily="34" charset="-122"/>
                <a:cs typeface="Calibri" pitchFamily="34" charset="-120"/>
              </a:rPr>
              <a:t>TTM avg nightly rate</a:t>
            </a:r>
            <a:endParaRPr lang="en-US" sz="790" dirty="0"/>
          </a:p>
        </p:txBody>
      </p:sp>
      <p:sp>
        <p:nvSpPr>
          <p:cNvPr id="15" name="Text 10"/>
          <p:cNvSpPr/>
          <p:nvPr/>
        </p:nvSpPr>
        <p:spPr>
          <a:xfrm>
            <a:off x="3480197" y="3194447"/>
            <a:ext cx="1430834" cy="343793"/>
          </a:xfrm>
          <a:prstGeom prst="roundRect">
            <a:avLst>
              <a:gd name="adj" fmla="val 16623"/>
            </a:avLst>
          </a:prstGeom>
          <a:solidFill>
            <a:srgbClr val="00B4D8">
              <a:alpha val="12000"/>
            </a:srgbClr>
          </a:solidFill>
          <a:ln w="9525">
            <a:solidFill>
              <a:srgbClr val="00B4D8">
                <a:alpha val="25000"/>
              </a:srgbClr>
            </a:solidFill>
          </a:ln>
        </p:spPr>
        <p:txBody>
          <a:bodyPr wrap="square" rtlCol="0" anchor="t"/>
          <a:lstStyle/>
          <a:p>
            <a:pPr marL="0" indent="0">
              <a:buNone/>
            </a:pPr>
            <a:endParaRPr lang="en-US"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20700" y="3299975"/>
            <a:ext cx="132588" cy="132588"/>
          </a:xfrm>
          <a:prstGeom prst="rect">
            <a:avLst/>
          </a:prstGeom>
        </p:spPr>
      </p:pic>
      <p:sp>
        <p:nvSpPr>
          <p:cNvPr id="17" name="Text 11"/>
          <p:cNvSpPr/>
          <p:nvPr/>
        </p:nvSpPr>
        <p:spPr>
          <a:xfrm>
            <a:off x="3797945" y="3274963"/>
            <a:ext cx="350178" cy="182761"/>
          </a:xfrm>
          <a:prstGeom prst="rect">
            <a:avLst/>
          </a:prstGeom>
          <a:noFill/>
          <a:ln/>
        </p:spPr>
        <p:txBody>
          <a:bodyPr wrap="none" lIns="0" tIns="0" rIns="0" bIns="0" rtlCol="0" anchor="ctr"/>
          <a:lstStyle/>
          <a:p>
            <a:pPr marL="0" indent="0" algn="l">
              <a:lnSpc>
                <a:spcPts val="1440"/>
              </a:lnSpc>
              <a:buNone/>
            </a:pPr>
            <a:r>
              <a:rPr lang="en-US" sz="960" b="1" dirty="0">
                <a:solidFill>
                  <a:srgbClr val="00B4D8"/>
                </a:solidFill>
                <a:latin typeface="Constantia" pitchFamily="34" charset="0"/>
                <a:ea typeface="Constantia" pitchFamily="34" charset="-122"/>
                <a:cs typeface="Constantia" pitchFamily="34" charset="-120"/>
              </a:rPr>
              <a:t>guests</a:t>
            </a:r>
            <a:endParaRPr lang="en-US" sz="960" dirty="0"/>
          </a:p>
        </p:txBody>
      </p:sp>
      <p:sp>
        <p:nvSpPr>
          <p:cNvPr id="18" name="Text 12"/>
          <p:cNvSpPr/>
          <p:nvPr/>
        </p:nvSpPr>
        <p:spPr>
          <a:xfrm>
            <a:off x="4173438" y="3291036"/>
            <a:ext cx="643057" cy="150465"/>
          </a:xfrm>
          <a:prstGeom prst="rect">
            <a:avLst/>
          </a:prstGeom>
          <a:noFill/>
          <a:ln/>
        </p:spPr>
        <p:txBody>
          <a:bodyPr wrap="none" lIns="0" tIns="0" rIns="0" bIns="0" rtlCol="0" anchor="ctr"/>
          <a:lstStyle/>
          <a:p>
            <a:pPr marL="0" indent="0" algn="l">
              <a:lnSpc>
                <a:spcPts val="1185"/>
              </a:lnSpc>
              <a:buNone/>
            </a:pPr>
            <a:r>
              <a:rPr lang="en-US" sz="790" dirty="0">
                <a:solidFill>
                  <a:srgbClr val="94A3B8"/>
                </a:solidFill>
                <a:latin typeface="Calibri" pitchFamily="34" charset="0"/>
                <a:ea typeface="Calibri" pitchFamily="34" charset="-122"/>
                <a:cs typeface="Calibri" pitchFamily="34" charset="-120"/>
              </a:rPr>
              <a:t>max capacity</a:t>
            </a:r>
            <a:endParaRPr lang="en-US" sz="790" dirty="0"/>
          </a:p>
        </p:txBody>
      </p:sp>
      <p:sp>
        <p:nvSpPr>
          <p:cNvPr id="19" name="Text 13"/>
          <p:cNvSpPr/>
          <p:nvPr/>
        </p:nvSpPr>
        <p:spPr>
          <a:xfrm>
            <a:off x="5025330" y="3194447"/>
            <a:ext cx="1285577" cy="343793"/>
          </a:xfrm>
          <a:prstGeom prst="roundRect">
            <a:avLst>
              <a:gd name="adj" fmla="val 16623"/>
            </a:avLst>
          </a:prstGeom>
          <a:solidFill>
            <a:srgbClr val="00B4D8">
              <a:alpha val="12000"/>
            </a:srgbClr>
          </a:solidFill>
          <a:ln w="9525">
            <a:solidFill>
              <a:srgbClr val="00B4D8">
                <a:alpha val="25000"/>
              </a:srgbClr>
            </a:solidFill>
          </a:ln>
        </p:spPr>
        <p:txBody>
          <a:bodyPr wrap="square" rtlCol="0" anchor="t"/>
          <a:lstStyle/>
          <a:p>
            <a:pPr marL="0" indent="0">
              <a:buNone/>
            </a:pPr>
            <a:endParaRPr lang="en-US"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65833" y="3299975"/>
            <a:ext cx="132588" cy="132588"/>
          </a:xfrm>
          <a:prstGeom prst="rect">
            <a:avLst/>
          </a:prstGeom>
        </p:spPr>
      </p:pic>
      <p:sp>
        <p:nvSpPr>
          <p:cNvPr id="21" name="Text 14"/>
          <p:cNvSpPr/>
          <p:nvPr/>
        </p:nvSpPr>
        <p:spPr>
          <a:xfrm>
            <a:off x="5343079" y="3274963"/>
            <a:ext cx="563820" cy="182761"/>
          </a:xfrm>
          <a:prstGeom prst="rect">
            <a:avLst/>
          </a:prstGeom>
          <a:noFill/>
          <a:ln/>
        </p:spPr>
        <p:txBody>
          <a:bodyPr wrap="none" lIns="0" tIns="0" rIns="0" bIns="0" rtlCol="0" anchor="ctr"/>
          <a:lstStyle/>
          <a:p>
            <a:pPr marL="0" indent="0" algn="l">
              <a:lnSpc>
                <a:spcPts val="1440"/>
              </a:lnSpc>
              <a:buNone/>
            </a:pPr>
            <a:r>
              <a:rPr lang="en-US" sz="960" b="1" dirty="0">
                <a:solidFill>
                  <a:srgbClr val="00B4D8"/>
                </a:solidFill>
                <a:latin typeface="Constantia" pitchFamily="34" charset="0"/>
                <a:ea typeface="Constantia" pitchFamily="34" charset="-122"/>
                <a:cs typeface="Constantia" pitchFamily="34" charset="-120"/>
              </a:rPr>
              <a:t>bedrooms</a:t>
            </a:r>
            <a:endParaRPr lang="en-US" sz="960" dirty="0"/>
          </a:p>
        </p:txBody>
      </p:sp>
      <p:sp>
        <p:nvSpPr>
          <p:cNvPr id="22" name="Text 15"/>
          <p:cNvSpPr/>
          <p:nvPr/>
        </p:nvSpPr>
        <p:spPr>
          <a:xfrm>
            <a:off x="5912793" y="3291036"/>
            <a:ext cx="269632" cy="150465"/>
          </a:xfrm>
          <a:prstGeom prst="rect">
            <a:avLst/>
          </a:prstGeom>
          <a:noFill/>
          <a:ln/>
        </p:spPr>
        <p:txBody>
          <a:bodyPr wrap="none" lIns="0" tIns="0" rIns="0" bIns="0" rtlCol="0" anchor="ctr"/>
          <a:lstStyle/>
          <a:p>
            <a:pPr marL="0" indent="0" algn="l">
              <a:lnSpc>
                <a:spcPts val="1185"/>
              </a:lnSpc>
              <a:buNone/>
            </a:pPr>
            <a:r>
              <a:rPr lang="en-US" sz="790" dirty="0">
                <a:solidFill>
                  <a:srgbClr val="94A3B8"/>
                </a:solidFill>
                <a:latin typeface="Calibri" pitchFamily="34" charset="0"/>
                <a:ea typeface="Calibri" pitchFamily="34" charset="-122"/>
                <a:cs typeface="Calibri" pitchFamily="34" charset="-120"/>
              </a:rPr>
              <a:t>count</a:t>
            </a:r>
            <a:endParaRPr lang="en-US" sz="790" dirty="0"/>
          </a:p>
        </p:txBody>
      </p:sp>
      <p:sp>
        <p:nvSpPr>
          <p:cNvPr id="23" name="Text 16"/>
          <p:cNvSpPr/>
          <p:nvPr/>
        </p:nvSpPr>
        <p:spPr>
          <a:xfrm>
            <a:off x="6425208" y="3194447"/>
            <a:ext cx="1057573" cy="343793"/>
          </a:xfrm>
          <a:prstGeom prst="roundRect">
            <a:avLst>
              <a:gd name="adj" fmla="val 16623"/>
            </a:avLst>
          </a:prstGeom>
          <a:solidFill>
            <a:srgbClr val="00B4D8">
              <a:alpha val="12000"/>
            </a:srgbClr>
          </a:solidFill>
          <a:ln w="9525">
            <a:solidFill>
              <a:srgbClr val="00B4D8">
                <a:alpha val="25000"/>
              </a:srgbClr>
            </a:solidFill>
          </a:ln>
        </p:spPr>
        <p:txBody>
          <a:bodyPr wrap="square" rtlCol="0" anchor="t"/>
          <a:lstStyle/>
          <a:p>
            <a:pPr marL="0" indent="0">
              <a:buNone/>
            </a:pPr>
            <a:endParaRPr lang="en-US" dirty="0"/>
          </a:p>
        </p:txBody>
      </p:sp>
      <p:pic>
        <p:nvPicPr>
          <p:cNvPr id="2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65710" y="3299975"/>
            <a:ext cx="132588" cy="132588"/>
          </a:xfrm>
          <a:prstGeom prst="rect">
            <a:avLst/>
          </a:prstGeom>
        </p:spPr>
      </p:pic>
      <p:sp>
        <p:nvSpPr>
          <p:cNvPr id="25" name="Text 17"/>
          <p:cNvSpPr/>
          <p:nvPr/>
        </p:nvSpPr>
        <p:spPr>
          <a:xfrm>
            <a:off x="6742956" y="3274963"/>
            <a:ext cx="313015" cy="182761"/>
          </a:xfrm>
          <a:prstGeom prst="rect">
            <a:avLst/>
          </a:prstGeom>
          <a:noFill/>
          <a:ln/>
        </p:spPr>
        <p:txBody>
          <a:bodyPr wrap="none" lIns="0" tIns="0" rIns="0" bIns="0" rtlCol="0" anchor="ctr"/>
          <a:lstStyle/>
          <a:p>
            <a:pPr marL="0" indent="0" algn="l">
              <a:lnSpc>
                <a:spcPts val="1440"/>
              </a:lnSpc>
              <a:buNone/>
            </a:pPr>
            <a:r>
              <a:rPr lang="en-US" sz="960" b="1" dirty="0">
                <a:solidFill>
                  <a:srgbClr val="00B4D8"/>
                </a:solidFill>
                <a:latin typeface="Constantia" pitchFamily="34" charset="0"/>
                <a:ea typeface="Constantia" pitchFamily="34" charset="-122"/>
                <a:cs typeface="Constantia" pitchFamily="34" charset="-120"/>
              </a:rPr>
              <a:t>baths</a:t>
            </a:r>
            <a:endParaRPr lang="en-US" sz="960" dirty="0"/>
          </a:p>
        </p:txBody>
      </p:sp>
      <p:sp>
        <p:nvSpPr>
          <p:cNvPr id="26" name="Text 18"/>
          <p:cNvSpPr/>
          <p:nvPr/>
        </p:nvSpPr>
        <p:spPr>
          <a:xfrm>
            <a:off x="7084665" y="3291036"/>
            <a:ext cx="269632" cy="150465"/>
          </a:xfrm>
          <a:prstGeom prst="rect">
            <a:avLst/>
          </a:prstGeom>
          <a:noFill/>
          <a:ln/>
        </p:spPr>
        <p:txBody>
          <a:bodyPr wrap="none" lIns="0" tIns="0" rIns="0" bIns="0" rtlCol="0" anchor="ctr"/>
          <a:lstStyle/>
          <a:p>
            <a:pPr marL="0" indent="0" algn="l">
              <a:lnSpc>
                <a:spcPts val="1185"/>
              </a:lnSpc>
              <a:buNone/>
            </a:pPr>
            <a:r>
              <a:rPr lang="en-US" sz="790" dirty="0">
                <a:solidFill>
                  <a:srgbClr val="94A3B8"/>
                </a:solidFill>
                <a:latin typeface="Calibri" pitchFamily="34" charset="0"/>
                <a:ea typeface="Calibri" pitchFamily="34" charset="-122"/>
                <a:cs typeface="Calibri" pitchFamily="34" charset="-120"/>
              </a:rPr>
              <a:t>count</a:t>
            </a:r>
            <a:endParaRPr lang="en-US" sz="790" dirty="0"/>
          </a:p>
        </p:txBody>
      </p:sp>
      <p:pic>
        <p:nvPicPr>
          <p:cNvPr id="27" name="Image 6" descr="preencoded.png"/>
          <p:cNvPicPr>
            <a:picLocks noChangeAspect="1"/>
          </p:cNvPicPr>
          <p:nvPr/>
        </p:nvPicPr>
        <p:blipFill>
          <a:blip>
            <a:alphaModFix amt="70000"/>
            <a:extLst>
              <a:ext uri="{96DAC541-7B7A-43D3-8B79-37D633B846F1}">
                <asvg:svgBlip xmlns:asvg="http://schemas.microsoft.com/office/drawing/2016/SVG/main" r:embed="rId9"/>
              </a:ext>
            </a:extLst>
          </a:blip>
          <a:stretch>
            <a:fillRect/>
          </a:stretch>
        </p:blipFill>
        <p:spPr>
          <a:xfrm>
            <a:off x="6469270" y="4721879"/>
            <a:ext cx="132588" cy="132588"/>
          </a:xfrm>
          <a:prstGeom prst="rect">
            <a:avLst/>
          </a:prstGeom>
        </p:spPr>
      </p:pic>
      <p:sp>
        <p:nvSpPr>
          <p:cNvPr id="28" name="Text 19"/>
          <p:cNvSpPr/>
          <p:nvPr/>
        </p:nvSpPr>
        <p:spPr>
          <a:xfrm>
            <a:off x="6630293" y="4718745"/>
            <a:ext cx="2199293" cy="139005"/>
          </a:xfrm>
          <a:prstGeom prst="rect">
            <a:avLst/>
          </a:prstGeom>
          <a:noFill/>
          <a:ln/>
        </p:spPr>
        <p:txBody>
          <a:bodyPr wrap="none" lIns="0" tIns="0" rIns="0" bIns="0" rtlCol="0" anchor="ctr"/>
          <a:lstStyle/>
          <a:p>
            <a:pPr marL="0" indent="0" algn="l">
              <a:lnSpc>
                <a:spcPts val="1095"/>
              </a:lnSpc>
              <a:buNone/>
            </a:pPr>
            <a:r>
              <a:rPr lang="en-US" sz="730" dirty="0">
                <a:solidFill>
                  <a:srgbClr val="94A3B8"/>
                </a:solidFill>
                <a:latin typeface="Calibri" pitchFamily="34" charset="0"/>
                <a:ea typeface="Calibri" pitchFamily="34" charset="-122"/>
                <a:cs typeface="Calibri" pitchFamily="34" charset="-120"/>
              </a:rPr>
              <a:t>Data from AirRoi.com, exported April 4, 2026</a:t>
            </a:r>
            <a:endParaRPr lang="en-US" sz="730" dirty="0"/>
          </a:p>
        </p:txBody>
      </p:sp>
      <p:sp>
        <p:nvSpPr>
          <p:cNvPr id="29" name="Text 20"/>
          <p:cNvSpPr/>
          <p:nvPr/>
        </p:nvSpPr>
        <p:spPr>
          <a:xfrm>
            <a:off x="1828800" y="2487816"/>
            <a:ext cx="342900" cy="21580"/>
          </a:xfrm>
          <a:prstGeom prst="roundRect">
            <a:avLst>
              <a:gd name="adj" fmla="val 64736"/>
            </a:avLst>
          </a:prstGeom>
          <a:solidFill>
            <a:srgbClr val="00B4D8"/>
          </a:solidFill>
          <a:ln/>
        </p:spPr>
        <p:txBody>
          <a:bodyPr wrap="none" rtlCol="0" anchor="t"/>
          <a:lstStyle/>
          <a:p>
            <a:pPr marL="0" indent="0">
              <a:buNone/>
            </a:pPr>
            <a:endParaRPr lang="en-US" dirty="0"/>
          </a:p>
        </p:txBody>
      </p:sp>
      <p:sp>
        <p:nvSpPr>
          <p:cNvPr id="30" name="Text 21"/>
          <p:cNvSpPr/>
          <p:nvPr/>
        </p:nvSpPr>
        <p:spPr>
          <a:xfrm>
            <a:off x="4400550" y="2487816"/>
            <a:ext cx="342900" cy="21580"/>
          </a:xfrm>
          <a:prstGeom prst="roundRect">
            <a:avLst>
              <a:gd name="adj" fmla="val 64736"/>
            </a:avLst>
          </a:prstGeom>
          <a:solidFill>
            <a:srgbClr val="00B4D8"/>
          </a:solidFill>
          <a:ln/>
        </p:spPr>
        <p:txBody>
          <a:bodyPr wrap="none" rtlCol="0" anchor="t"/>
          <a:lstStyle/>
          <a:p>
            <a:pPr marL="0" indent="0">
              <a:buNone/>
            </a:pPr>
            <a:endParaRPr lang="en-US" dirty="0"/>
          </a:p>
        </p:txBody>
      </p:sp>
      <p:sp>
        <p:nvSpPr>
          <p:cNvPr id="31" name="Text 22"/>
          <p:cNvSpPr/>
          <p:nvPr/>
        </p:nvSpPr>
        <p:spPr>
          <a:xfrm>
            <a:off x="6972300" y="2487816"/>
            <a:ext cx="342900" cy="21580"/>
          </a:xfrm>
          <a:prstGeom prst="roundRect">
            <a:avLst>
              <a:gd name="adj" fmla="val 64736"/>
            </a:avLst>
          </a:prstGeom>
          <a:solidFill>
            <a:srgbClr val="00B4D8"/>
          </a:solidFill>
          <a:ln/>
        </p:spPr>
        <p:txBody>
          <a:bodyPr wrap="none" rtlCol="0" anchor="t"/>
          <a:lstStyle/>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 y="431602"/>
            <a:ext cx="193328" cy="193328"/>
          </a:xfrm>
          <a:prstGeom prst="rect">
            <a:avLst/>
          </a:prstGeom>
        </p:spPr>
      </p:pic>
      <p:sp>
        <p:nvSpPr>
          <p:cNvPr id="3" name="Text 0"/>
          <p:cNvSpPr/>
          <p:nvPr/>
        </p:nvSpPr>
        <p:spPr>
          <a:xfrm>
            <a:off x="764828" y="372070"/>
            <a:ext cx="3501503" cy="312390"/>
          </a:xfrm>
          <a:prstGeom prst="rect">
            <a:avLst/>
          </a:prstGeom>
          <a:noFill/>
          <a:ln/>
        </p:spPr>
        <p:txBody>
          <a:bodyPr wrap="none" lIns="0" tIns="0" rIns="0" bIns="0" rtlCol="0" anchor="ctr"/>
          <a:lstStyle/>
          <a:p>
            <a:pPr marL="0" indent="0" algn="l">
              <a:lnSpc>
                <a:spcPts val="2461"/>
              </a:lnSpc>
              <a:buNone/>
            </a:pPr>
            <a:r>
              <a:rPr lang="en-US" sz="2140" b="1" dirty="0">
                <a:solidFill>
                  <a:srgbClr val="0B2545"/>
                </a:solidFill>
                <a:latin typeface="Constantia" pitchFamily="34" charset="0"/>
                <a:ea typeface="Constantia" pitchFamily="34" charset="-122"/>
                <a:cs typeface="Constantia" pitchFamily="34" charset="-120"/>
              </a:rPr>
              <a:t>Data Cleaning &amp; Wrangling</a:t>
            </a:r>
            <a:endParaRPr lang="en-US" sz="2140" dirty="0"/>
          </a:p>
        </p:txBody>
      </p:sp>
      <p:sp>
        <p:nvSpPr>
          <p:cNvPr id="4" name="Text 1"/>
          <p:cNvSpPr/>
          <p:nvPr/>
        </p:nvSpPr>
        <p:spPr>
          <a:xfrm>
            <a:off x="829270" y="741611"/>
            <a:ext cx="8643283" cy="170557"/>
          </a:xfrm>
          <a:prstGeom prst="rect">
            <a:avLst/>
          </a:prstGeom>
          <a:noFill/>
          <a:ln/>
        </p:spPr>
        <p:txBody>
          <a:bodyPr wrap="none" lIns="0" tIns="0" rIns="0" bIns="0" rtlCol="0" anchor="t"/>
          <a:lstStyle/>
          <a:p>
            <a:pPr marL="0" indent="0" algn="l">
              <a:lnSpc>
                <a:spcPts val="1344"/>
              </a:lnSpc>
              <a:spcAft>
                <a:spcPts val="2030"/>
              </a:spcAft>
              <a:buNone/>
            </a:pPr>
            <a:r>
              <a:rPr lang="en-US" sz="960" dirty="0">
                <a:solidFill>
                  <a:srgbClr val="4A5568"/>
                </a:solidFill>
                <a:latin typeface="Calibri" pitchFamily="34" charset="0"/>
                <a:ea typeface="Calibri" pitchFamily="34" charset="-122"/>
                <a:cs typeface="Calibri" pitchFamily="34" charset="-120"/>
              </a:rPr>
              <a:t>Preparing the raw Airbnb dataset for regression analysis</a:t>
            </a:r>
            <a:endParaRPr lang="en-US" sz="960" dirty="0"/>
          </a:p>
        </p:txBody>
      </p:sp>
      <p:sp>
        <p:nvSpPr>
          <p:cNvPr id="5" name="Text 2"/>
          <p:cNvSpPr/>
          <p:nvPr/>
        </p:nvSpPr>
        <p:spPr>
          <a:xfrm>
            <a:off x="870645" y="1830586"/>
            <a:ext cx="1657350" cy="1714500"/>
          </a:xfrm>
          <a:prstGeom prst="roundRect">
            <a:avLst>
              <a:gd name="adj" fmla="val 5211"/>
            </a:avLst>
          </a:prstGeom>
          <a:solidFill>
            <a:srgbClr val="FFFFFF"/>
          </a:solidFill>
          <a:ln w="9525">
            <a:solidFill>
              <a:srgbClr val="0B2545">
                <a:alpha val="6000"/>
              </a:srgbClr>
            </a:solidFill>
          </a:ln>
          <a:effectLst>
            <a:outerShdw blurRad="86360" dist="13970" dir="5400000" algn="bl" rotWithShape="0">
              <a:srgbClr val="0B2545">
                <a:alpha val="8000"/>
              </a:srgbClr>
            </a:outerShdw>
          </a:effectLst>
        </p:spPr>
        <p:txBody>
          <a:bodyPr wrap="square" rtlCol="0" anchor="t"/>
          <a:lstStyle/>
          <a:p>
            <a:pPr marL="0" indent="0">
              <a:buNone/>
            </a:pPr>
            <a:endParaRPr lang="en-US" dirty="0"/>
          </a:p>
        </p:txBody>
      </p:sp>
      <p:sp>
        <p:nvSpPr>
          <p:cNvPr id="6" name="Text 3"/>
          <p:cNvSpPr/>
          <p:nvPr/>
        </p:nvSpPr>
        <p:spPr>
          <a:xfrm>
            <a:off x="1037630" y="2040731"/>
            <a:ext cx="285750" cy="314325"/>
          </a:xfrm>
          <a:prstGeom prst="ellipse">
            <a:avLst/>
          </a:prstGeom>
          <a:solidFill>
            <a:srgbClr val="00B4D8"/>
          </a:solidFill>
          <a:ln/>
        </p:spPr>
        <p:txBody>
          <a:bodyPr wrap="none" lIns="0" tIns="0" rIns="0" bIns="0" rtlCol="0" anchor="ctr"/>
          <a:lstStyle/>
          <a:p>
            <a:pPr marL="0" indent="0" algn="ctr">
              <a:buNone/>
            </a:pPr>
            <a:r>
              <a:rPr lang="en-US" sz="1010" b="1" dirty="0">
                <a:solidFill>
                  <a:srgbClr val="FFFFFF"/>
                </a:solidFill>
                <a:latin typeface="Constantia" pitchFamily="34" charset="0"/>
                <a:ea typeface="Constantia" pitchFamily="34" charset="-122"/>
                <a:cs typeface="Constantia" pitchFamily="34" charset="-120"/>
              </a:rPr>
              <a:t>1</a:t>
            </a:r>
            <a:endParaRPr lang="en-US" sz="1010" dirty="0"/>
          </a:p>
        </p:txBody>
      </p:sp>
      <p:sp>
        <p:nvSpPr>
          <p:cNvPr id="7" name="Text 4"/>
          <p:cNvSpPr/>
          <p:nvPr/>
        </p:nvSpPr>
        <p:spPr>
          <a:xfrm>
            <a:off x="1037630" y="2440781"/>
            <a:ext cx="525348" cy="139005"/>
          </a:xfrm>
          <a:prstGeom prst="rect">
            <a:avLst/>
          </a:prstGeom>
          <a:noFill/>
          <a:ln/>
        </p:spPr>
        <p:txBody>
          <a:bodyPr wrap="none" lIns="0" tIns="0" rIns="0" bIns="0" rtlCol="0" anchor="t"/>
          <a:lstStyle/>
          <a:p>
            <a:pPr marL="0" indent="0" algn="l">
              <a:lnSpc>
                <a:spcPts val="1095"/>
              </a:lnSpc>
              <a:buNone/>
            </a:pPr>
            <a:r>
              <a:rPr lang="en-US" sz="730" b="1" kern="0" spc="80" dirty="0">
                <a:solidFill>
                  <a:srgbClr val="0090AD"/>
                </a:solidFill>
                <a:latin typeface="Constantia" pitchFamily="34" charset="0"/>
                <a:ea typeface="Constantia" pitchFamily="34" charset="-122"/>
                <a:cs typeface="Constantia" pitchFamily="34" charset="-120"/>
              </a:rPr>
              <a:t>REMOVE</a:t>
            </a:r>
            <a:endParaRPr lang="en-US" sz="730" dirty="0"/>
          </a:p>
        </p:txBody>
      </p:sp>
      <p:sp>
        <p:nvSpPr>
          <p:cNvPr id="8" name="Text 5"/>
          <p:cNvSpPr/>
          <p:nvPr/>
        </p:nvSpPr>
        <p:spPr>
          <a:xfrm>
            <a:off x="1037630" y="2636937"/>
            <a:ext cx="1349847" cy="763533"/>
          </a:xfrm>
          <a:prstGeom prst="rect">
            <a:avLst/>
          </a:prstGeom>
          <a:noFill/>
          <a:ln/>
        </p:spPr>
        <p:txBody>
          <a:bodyPr wrap="square" lIns="0" tIns="0" rIns="0" bIns="0" rtlCol="0" anchor="ctr"/>
          <a:lstStyle/>
          <a:p>
            <a:pPr marL="0" indent="0" algn="l">
              <a:lnSpc>
                <a:spcPts val="1305"/>
              </a:lnSpc>
              <a:buNone/>
            </a:pPr>
            <a:r>
              <a:rPr lang="en-US" sz="900" dirty="0">
                <a:solidFill>
                  <a:srgbClr val="0B2545"/>
                </a:solidFill>
                <a:latin typeface="Calibri" pitchFamily="34" charset="0"/>
                <a:ea typeface="Calibri" pitchFamily="34" charset="-122"/>
                <a:cs typeface="Calibri" pitchFamily="34" charset="-120"/>
              </a:rPr>
              <a:t>Removed listings with </a:t>
            </a:r>
            <a:r>
              <a:rPr lang="en-US" sz="900" b="1" dirty="0">
                <a:solidFill>
                  <a:srgbClr val="0090AD"/>
                </a:solidFill>
                <a:latin typeface="Calibri" pitchFamily="34" charset="0"/>
                <a:ea typeface="Calibri" pitchFamily="34" charset="-122"/>
                <a:cs typeface="Calibri" pitchFamily="34" charset="-120"/>
              </a:rPr>
              <a:t>missing or zero prices</a:t>
            </a:r>
            <a:endParaRPr lang="en-US" sz="900" dirty="0"/>
          </a:p>
        </p:txBody>
      </p:sp>
      <p:sp>
        <p:nvSpPr>
          <p:cNvPr id="9" name="Text 6"/>
          <p:cNvSpPr/>
          <p:nvPr/>
        </p:nvSpPr>
        <p:spPr>
          <a:xfrm>
            <a:off x="880170" y="3506391"/>
            <a:ext cx="1638300" cy="29170"/>
          </a:xfrm>
          <a:prstGeom prst="rect">
            <a:avLst/>
          </a:prstGeom>
          <a:gradFill rotWithShape="1">
            <a:gsLst>
              <a:gs pos="0">
                <a:srgbClr val="00B4D8"/>
              </a:gs>
              <a:gs pos="100000">
                <a:srgbClr val="0090AD"/>
              </a:gs>
            </a:gsLst>
            <a:lin ang="0" scaled="1"/>
          </a:gradFill>
          <a:ln/>
        </p:spPr>
        <p:txBody>
          <a:bodyPr wrap="none" rtlCol="0" anchor="t"/>
          <a:lstStyle/>
          <a:p>
            <a:pPr marL="0" indent="0">
              <a:buNone/>
            </a:pPr>
            <a:endParaRPr lang="en-US"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71155" y="2623542"/>
            <a:ext cx="171450" cy="128588"/>
          </a:xfrm>
          <a:prstGeom prst="rect">
            <a:avLst/>
          </a:prstGeom>
        </p:spPr>
      </p:pic>
      <p:sp>
        <p:nvSpPr>
          <p:cNvPr id="11" name="Text 7"/>
          <p:cNvSpPr/>
          <p:nvPr/>
        </p:nvSpPr>
        <p:spPr>
          <a:xfrm>
            <a:off x="2785765" y="1830586"/>
            <a:ext cx="1657350" cy="1714500"/>
          </a:xfrm>
          <a:prstGeom prst="roundRect">
            <a:avLst>
              <a:gd name="adj" fmla="val 5211"/>
            </a:avLst>
          </a:prstGeom>
          <a:solidFill>
            <a:srgbClr val="FFFFFF"/>
          </a:solidFill>
          <a:ln w="9525">
            <a:solidFill>
              <a:srgbClr val="0B2545">
                <a:alpha val="6000"/>
              </a:srgbClr>
            </a:solidFill>
          </a:ln>
          <a:effectLst>
            <a:outerShdw blurRad="86360" dist="13970" dir="5400000" algn="bl" rotWithShape="0">
              <a:srgbClr val="0B2545">
                <a:alpha val="8000"/>
              </a:srgbClr>
            </a:outerShdw>
          </a:effectLst>
        </p:spPr>
        <p:txBody>
          <a:bodyPr wrap="square" rtlCol="0" anchor="t"/>
          <a:lstStyle/>
          <a:p>
            <a:pPr marL="0" indent="0">
              <a:buNone/>
            </a:pPr>
            <a:endParaRPr lang="en-US" dirty="0"/>
          </a:p>
        </p:txBody>
      </p:sp>
      <p:sp>
        <p:nvSpPr>
          <p:cNvPr id="12" name="Text 8"/>
          <p:cNvSpPr/>
          <p:nvPr/>
        </p:nvSpPr>
        <p:spPr>
          <a:xfrm>
            <a:off x="2952750" y="2040731"/>
            <a:ext cx="285750" cy="314325"/>
          </a:xfrm>
          <a:prstGeom prst="ellipse">
            <a:avLst/>
          </a:prstGeom>
          <a:solidFill>
            <a:srgbClr val="00B4D8"/>
          </a:solidFill>
          <a:ln/>
        </p:spPr>
        <p:txBody>
          <a:bodyPr wrap="none" lIns="0" tIns="0" rIns="0" bIns="0" rtlCol="0" anchor="ctr"/>
          <a:lstStyle/>
          <a:p>
            <a:pPr marL="0" indent="0" algn="ctr">
              <a:buNone/>
            </a:pPr>
            <a:r>
              <a:rPr lang="en-US" sz="1010" b="1" dirty="0">
                <a:solidFill>
                  <a:srgbClr val="FFFFFF"/>
                </a:solidFill>
                <a:latin typeface="Constantia" pitchFamily="34" charset="0"/>
                <a:ea typeface="Constantia" pitchFamily="34" charset="-122"/>
                <a:cs typeface="Constantia" pitchFamily="34" charset="-120"/>
              </a:rPr>
              <a:t>2</a:t>
            </a:r>
            <a:endParaRPr lang="en-US" sz="1010" dirty="0"/>
          </a:p>
        </p:txBody>
      </p:sp>
      <p:sp>
        <p:nvSpPr>
          <p:cNvPr id="13" name="Text 9"/>
          <p:cNvSpPr/>
          <p:nvPr/>
        </p:nvSpPr>
        <p:spPr>
          <a:xfrm>
            <a:off x="2952750" y="2440781"/>
            <a:ext cx="436944" cy="139005"/>
          </a:xfrm>
          <a:prstGeom prst="rect">
            <a:avLst/>
          </a:prstGeom>
          <a:noFill/>
          <a:ln/>
        </p:spPr>
        <p:txBody>
          <a:bodyPr wrap="none" lIns="0" tIns="0" rIns="0" bIns="0" rtlCol="0" anchor="t"/>
          <a:lstStyle/>
          <a:p>
            <a:pPr marL="0" indent="0" algn="l">
              <a:lnSpc>
                <a:spcPts val="1095"/>
              </a:lnSpc>
              <a:buNone/>
            </a:pPr>
            <a:r>
              <a:rPr lang="en-US" sz="730" b="1" kern="0" spc="80" dirty="0">
                <a:solidFill>
                  <a:srgbClr val="0090AD"/>
                </a:solidFill>
                <a:latin typeface="Constantia" pitchFamily="34" charset="0"/>
                <a:ea typeface="Constantia" pitchFamily="34" charset="-122"/>
                <a:cs typeface="Constantia" pitchFamily="34" charset="-120"/>
              </a:rPr>
              <a:t>FILTER</a:t>
            </a:r>
            <a:endParaRPr lang="en-US" sz="730" dirty="0"/>
          </a:p>
        </p:txBody>
      </p:sp>
      <p:sp>
        <p:nvSpPr>
          <p:cNvPr id="14" name="Text 10"/>
          <p:cNvSpPr/>
          <p:nvPr/>
        </p:nvSpPr>
        <p:spPr>
          <a:xfrm>
            <a:off x="2952750" y="2636937"/>
            <a:ext cx="1349847" cy="763533"/>
          </a:xfrm>
          <a:prstGeom prst="rect">
            <a:avLst/>
          </a:prstGeom>
          <a:noFill/>
          <a:ln/>
        </p:spPr>
        <p:txBody>
          <a:bodyPr wrap="square" lIns="0" tIns="0" rIns="0" bIns="0" rtlCol="0" anchor="ctr"/>
          <a:lstStyle/>
          <a:p>
            <a:pPr marL="0" indent="0" algn="l">
              <a:lnSpc>
                <a:spcPts val="1305"/>
              </a:lnSpc>
              <a:buNone/>
            </a:pPr>
            <a:r>
              <a:rPr lang="en-US" sz="900" dirty="0">
                <a:solidFill>
                  <a:srgbClr val="0B2545"/>
                </a:solidFill>
                <a:latin typeface="Calibri" pitchFamily="34" charset="0"/>
                <a:ea typeface="Calibri" pitchFamily="34" charset="-122"/>
                <a:cs typeface="Calibri" pitchFamily="34" charset="-120"/>
              </a:rPr>
              <a:t>Removed listings </a:t>
            </a:r>
            <a:r>
              <a:rPr lang="en-US" sz="900" b="1" dirty="0">
                <a:solidFill>
                  <a:srgbClr val="0090AD"/>
                </a:solidFill>
                <a:latin typeface="Calibri" pitchFamily="34" charset="0"/>
                <a:ea typeface="Calibri" pitchFamily="34" charset="-122"/>
                <a:cs typeface="Calibri" pitchFamily="34" charset="-120"/>
              </a:rPr>
              <a:t>missing guests, bedrooms, or baths</a:t>
            </a:r>
            <a:endParaRPr lang="en-US" sz="900" dirty="0"/>
          </a:p>
        </p:txBody>
      </p:sp>
      <p:sp>
        <p:nvSpPr>
          <p:cNvPr id="15" name="Text 11"/>
          <p:cNvSpPr/>
          <p:nvPr/>
        </p:nvSpPr>
        <p:spPr>
          <a:xfrm>
            <a:off x="2795290" y="3506391"/>
            <a:ext cx="1638300" cy="29170"/>
          </a:xfrm>
          <a:prstGeom prst="rect">
            <a:avLst/>
          </a:prstGeom>
          <a:gradFill rotWithShape="1">
            <a:gsLst>
              <a:gs pos="0">
                <a:srgbClr val="00B4D8"/>
              </a:gs>
              <a:gs pos="100000">
                <a:srgbClr val="0090AD"/>
              </a:gs>
            </a:gsLst>
            <a:lin ang="0" scaled="1"/>
          </a:gradFill>
          <a:ln/>
        </p:spPr>
        <p:txBody>
          <a:bodyPr wrap="none" rtlCol="0" anchor="t"/>
          <a:lstStyle/>
          <a:p>
            <a:pPr marL="0" indent="0">
              <a:buNone/>
            </a:pPr>
            <a:endParaRPr lang="en-US"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86275" y="2623542"/>
            <a:ext cx="171450" cy="128588"/>
          </a:xfrm>
          <a:prstGeom prst="rect">
            <a:avLst/>
          </a:prstGeom>
        </p:spPr>
      </p:pic>
      <p:sp>
        <p:nvSpPr>
          <p:cNvPr id="17" name="Text 12"/>
          <p:cNvSpPr/>
          <p:nvPr/>
        </p:nvSpPr>
        <p:spPr>
          <a:xfrm>
            <a:off x="4700885" y="1830586"/>
            <a:ext cx="1657350" cy="1714500"/>
          </a:xfrm>
          <a:prstGeom prst="roundRect">
            <a:avLst>
              <a:gd name="adj" fmla="val 5211"/>
            </a:avLst>
          </a:prstGeom>
          <a:solidFill>
            <a:srgbClr val="FFFFFF"/>
          </a:solidFill>
          <a:ln w="9525">
            <a:solidFill>
              <a:srgbClr val="0B2545">
                <a:alpha val="6000"/>
              </a:srgbClr>
            </a:solidFill>
          </a:ln>
          <a:effectLst>
            <a:outerShdw blurRad="86360" dist="13970" dir="5400000" algn="bl" rotWithShape="0">
              <a:srgbClr val="0B2545">
                <a:alpha val="8000"/>
              </a:srgbClr>
            </a:outerShdw>
          </a:effectLst>
        </p:spPr>
        <p:txBody>
          <a:bodyPr wrap="square" rtlCol="0" anchor="t"/>
          <a:lstStyle/>
          <a:p>
            <a:pPr marL="0" indent="0">
              <a:buNone/>
            </a:pPr>
            <a:endParaRPr lang="en-US" dirty="0"/>
          </a:p>
        </p:txBody>
      </p:sp>
      <p:sp>
        <p:nvSpPr>
          <p:cNvPr id="18" name="Text 13"/>
          <p:cNvSpPr/>
          <p:nvPr/>
        </p:nvSpPr>
        <p:spPr>
          <a:xfrm>
            <a:off x="4867870" y="2040731"/>
            <a:ext cx="285750" cy="314325"/>
          </a:xfrm>
          <a:prstGeom prst="ellipse">
            <a:avLst/>
          </a:prstGeom>
          <a:solidFill>
            <a:srgbClr val="00B4D8"/>
          </a:solidFill>
          <a:ln/>
        </p:spPr>
        <p:txBody>
          <a:bodyPr wrap="none" lIns="0" tIns="0" rIns="0" bIns="0" rtlCol="0" anchor="ctr"/>
          <a:lstStyle/>
          <a:p>
            <a:pPr marL="0" indent="0" algn="ctr">
              <a:buNone/>
            </a:pPr>
            <a:r>
              <a:rPr lang="en-US" sz="1010" b="1" dirty="0">
                <a:solidFill>
                  <a:srgbClr val="FFFFFF"/>
                </a:solidFill>
                <a:latin typeface="Constantia" pitchFamily="34" charset="0"/>
                <a:ea typeface="Constantia" pitchFamily="34" charset="-122"/>
                <a:cs typeface="Constantia" pitchFamily="34" charset="-120"/>
              </a:rPr>
              <a:t>3</a:t>
            </a:r>
            <a:endParaRPr lang="en-US" sz="1010" dirty="0"/>
          </a:p>
        </p:txBody>
      </p:sp>
      <p:sp>
        <p:nvSpPr>
          <p:cNvPr id="19" name="Text 14"/>
          <p:cNvSpPr/>
          <p:nvPr/>
        </p:nvSpPr>
        <p:spPr>
          <a:xfrm>
            <a:off x="4867870" y="2440781"/>
            <a:ext cx="583957" cy="139005"/>
          </a:xfrm>
          <a:prstGeom prst="rect">
            <a:avLst/>
          </a:prstGeom>
          <a:noFill/>
          <a:ln/>
        </p:spPr>
        <p:txBody>
          <a:bodyPr wrap="none" lIns="0" tIns="0" rIns="0" bIns="0" rtlCol="0" anchor="t"/>
          <a:lstStyle/>
          <a:p>
            <a:pPr marL="0" indent="0" algn="l">
              <a:lnSpc>
                <a:spcPts val="1095"/>
              </a:lnSpc>
              <a:buNone/>
            </a:pPr>
            <a:r>
              <a:rPr lang="en-US" sz="730" b="1" kern="0" spc="80" dirty="0">
                <a:solidFill>
                  <a:srgbClr val="0090AD"/>
                </a:solidFill>
                <a:latin typeface="Constantia" pitchFamily="34" charset="0"/>
                <a:ea typeface="Constantia" pitchFamily="34" charset="-122"/>
                <a:cs typeface="Constantia" pitchFamily="34" charset="-120"/>
              </a:rPr>
              <a:t>CONVERT</a:t>
            </a:r>
            <a:endParaRPr lang="en-US" sz="730" dirty="0"/>
          </a:p>
        </p:txBody>
      </p:sp>
      <p:sp>
        <p:nvSpPr>
          <p:cNvPr id="20" name="Text 15"/>
          <p:cNvSpPr/>
          <p:nvPr/>
        </p:nvSpPr>
        <p:spPr>
          <a:xfrm>
            <a:off x="4867870" y="2636937"/>
            <a:ext cx="1349847" cy="763533"/>
          </a:xfrm>
          <a:prstGeom prst="rect">
            <a:avLst/>
          </a:prstGeom>
          <a:noFill/>
          <a:ln/>
        </p:spPr>
        <p:txBody>
          <a:bodyPr wrap="square" lIns="0" tIns="0" rIns="0" bIns="0" rtlCol="0" anchor="ctr"/>
          <a:lstStyle/>
          <a:p>
            <a:pPr marL="0" indent="0" algn="l">
              <a:lnSpc>
                <a:spcPts val="1305"/>
              </a:lnSpc>
              <a:buNone/>
            </a:pPr>
            <a:r>
              <a:rPr lang="en-US" sz="900" dirty="0">
                <a:solidFill>
                  <a:srgbClr val="0B2545"/>
                </a:solidFill>
                <a:latin typeface="Calibri" pitchFamily="34" charset="0"/>
                <a:ea typeface="Calibri" pitchFamily="34" charset="-122"/>
                <a:cs typeface="Calibri" pitchFamily="34" charset="-120"/>
              </a:rPr>
              <a:t>All predictors </a:t>
            </a:r>
            <a:r>
              <a:rPr lang="en-US" sz="900" b="1" dirty="0">
                <a:solidFill>
                  <a:srgbClr val="0090AD"/>
                </a:solidFill>
                <a:latin typeface="Calibri" pitchFamily="34" charset="0"/>
                <a:ea typeface="Calibri" pitchFamily="34" charset="-122"/>
                <a:cs typeface="Calibri" pitchFamily="34" charset="-120"/>
              </a:rPr>
              <a:t>converted to numeric</a:t>
            </a:r>
            <a:r>
              <a:rPr lang="en-US" sz="900" dirty="0">
                <a:solidFill>
                  <a:srgbClr val="0B2545"/>
                </a:solidFill>
                <a:latin typeface="Calibri" pitchFamily="34" charset="0"/>
                <a:ea typeface="Calibri" pitchFamily="34" charset="-122"/>
                <a:cs typeface="Calibri" pitchFamily="34" charset="-120"/>
              </a:rPr>
              <a:t> type</a:t>
            </a:r>
            <a:endParaRPr lang="en-US" sz="900" dirty="0"/>
          </a:p>
        </p:txBody>
      </p:sp>
      <p:sp>
        <p:nvSpPr>
          <p:cNvPr id="21" name="Text 16"/>
          <p:cNvSpPr/>
          <p:nvPr/>
        </p:nvSpPr>
        <p:spPr>
          <a:xfrm>
            <a:off x="4710410" y="3506391"/>
            <a:ext cx="1638300" cy="29170"/>
          </a:xfrm>
          <a:prstGeom prst="rect">
            <a:avLst/>
          </a:prstGeom>
          <a:gradFill rotWithShape="1">
            <a:gsLst>
              <a:gs pos="0">
                <a:srgbClr val="00B4D8"/>
              </a:gs>
              <a:gs pos="100000">
                <a:srgbClr val="0090AD"/>
              </a:gs>
            </a:gsLst>
            <a:lin ang="0" scaled="1"/>
          </a:gradFill>
          <a:ln/>
        </p:spPr>
        <p:txBody>
          <a:bodyPr wrap="none" rtlCol="0" anchor="t"/>
          <a:lstStyle/>
          <a:p>
            <a:pPr marL="0" indent="0">
              <a:buNone/>
            </a:pPr>
            <a:endParaRPr lang="en-US"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01395" y="2623542"/>
            <a:ext cx="171450" cy="128588"/>
          </a:xfrm>
          <a:prstGeom prst="rect">
            <a:avLst/>
          </a:prstGeom>
        </p:spPr>
      </p:pic>
      <p:sp>
        <p:nvSpPr>
          <p:cNvPr id="23" name="Text 17"/>
          <p:cNvSpPr/>
          <p:nvPr/>
        </p:nvSpPr>
        <p:spPr>
          <a:xfrm>
            <a:off x="6616005" y="1830586"/>
            <a:ext cx="1657350" cy="1714500"/>
          </a:xfrm>
          <a:prstGeom prst="roundRect">
            <a:avLst>
              <a:gd name="adj" fmla="val 5211"/>
            </a:avLst>
          </a:prstGeom>
          <a:solidFill>
            <a:srgbClr val="FFFFFF"/>
          </a:solidFill>
          <a:ln w="9525">
            <a:solidFill>
              <a:srgbClr val="0B2545">
                <a:alpha val="6000"/>
              </a:srgbClr>
            </a:solidFill>
          </a:ln>
          <a:effectLst>
            <a:outerShdw blurRad="86360" dist="13970" dir="5400000" algn="bl" rotWithShape="0">
              <a:srgbClr val="0B2545">
                <a:alpha val="8000"/>
              </a:srgbClr>
            </a:outerShdw>
          </a:effectLst>
        </p:spPr>
        <p:txBody>
          <a:bodyPr wrap="square" rtlCol="0" anchor="t"/>
          <a:lstStyle/>
          <a:p>
            <a:pPr marL="0" indent="0">
              <a:buNone/>
            </a:pPr>
            <a:endParaRPr lang="en-US" dirty="0"/>
          </a:p>
        </p:txBody>
      </p:sp>
      <p:sp>
        <p:nvSpPr>
          <p:cNvPr id="24" name="Text 18"/>
          <p:cNvSpPr/>
          <p:nvPr/>
        </p:nvSpPr>
        <p:spPr>
          <a:xfrm>
            <a:off x="6782991" y="2040731"/>
            <a:ext cx="285750" cy="314325"/>
          </a:xfrm>
          <a:prstGeom prst="ellipse">
            <a:avLst/>
          </a:prstGeom>
          <a:solidFill>
            <a:srgbClr val="22C55E"/>
          </a:solidFill>
          <a:ln/>
        </p:spPr>
        <p:txBody>
          <a:bodyPr wrap="none" lIns="0" tIns="0" rIns="0" bIns="0" rtlCol="0" anchor="ctr"/>
          <a:lstStyle/>
          <a:p>
            <a:pPr marL="0" indent="0" algn="ctr">
              <a:buNone/>
            </a:pPr>
            <a:r>
              <a:rPr lang="en-US" sz="1010" b="1" dirty="0">
                <a:solidFill>
                  <a:srgbClr val="FFFFFF"/>
                </a:solidFill>
                <a:latin typeface="Constantia" pitchFamily="34" charset="0"/>
                <a:ea typeface="Constantia" pitchFamily="34" charset="-122"/>
                <a:cs typeface="Constantia" pitchFamily="34" charset="-120"/>
              </a:rPr>
              <a:t>4</a:t>
            </a:r>
            <a:endParaRPr lang="en-US" sz="1010" dirty="0"/>
          </a:p>
        </p:txBody>
      </p:sp>
      <p:sp>
        <p:nvSpPr>
          <p:cNvPr id="25" name="Text 19"/>
          <p:cNvSpPr/>
          <p:nvPr/>
        </p:nvSpPr>
        <p:spPr>
          <a:xfrm>
            <a:off x="6782991" y="2440781"/>
            <a:ext cx="465266" cy="139005"/>
          </a:xfrm>
          <a:prstGeom prst="rect">
            <a:avLst/>
          </a:prstGeom>
          <a:noFill/>
          <a:ln/>
        </p:spPr>
        <p:txBody>
          <a:bodyPr wrap="none" lIns="0" tIns="0" rIns="0" bIns="0" rtlCol="0" anchor="t"/>
          <a:lstStyle/>
          <a:p>
            <a:pPr marL="0" indent="0" algn="l">
              <a:lnSpc>
                <a:spcPts val="1095"/>
              </a:lnSpc>
              <a:buNone/>
            </a:pPr>
            <a:r>
              <a:rPr lang="en-US" sz="730" b="1" kern="0" spc="80" dirty="0">
                <a:solidFill>
                  <a:srgbClr val="16A34A"/>
                </a:solidFill>
                <a:latin typeface="Constantia" pitchFamily="34" charset="0"/>
                <a:ea typeface="Constantia" pitchFamily="34" charset="-122"/>
                <a:cs typeface="Constantia" pitchFamily="34" charset="-120"/>
              </a:rPr>
              <a:t>RESULT</a:t>
            </a:r>
            <a:endParaRPr lang="en-US" sz="730" dirty="0"/>
          </a:p>
        </p:txBody>
      </p:sp>
      <p:sp>
        <p:nvSpPr>
          <p:cNvPr id="26" name="Text 20"/>
          <p:cNvSpPr/>
          <p:nvPr/>
        </p:nvSpPr>
        <p:spPr>
          <a:xfrm>
            <a:off x="6782991" y="2636937"/>
            <a:ext cx="1011019" cy="763533"/>
          </a:xfrm>
          <a:prstGeom prst="rect">
            <a:avLst/>
          </a:prstGeom>
          <a:noFill/>
          <a:ln/>
        </p:spPr>
        <p:txBody>
          <a:bodyPr wrap="square" lIns="0" tIns="0" rIns="0" bIns="0" rtlCol="0" anchor="ctr"/>
          <a:lstStyle/>
          <a:p>
            <a:pPr marL="0" indent="0" algn="l">
              <a:lnSpc>
                <a:spcPts val="1305"/>
              </a:lnSpc>
              <a:buNone/>
            </a:pPr>
            <a:r>
              <a:rPr lang="en-US" sz="900" dirty="0">
                <a:solidFill>
                  <a:srgbClr val="0B2545"/>
                </a:solidFill>
                <a:latin typeface="Calibri" pitchFamily="34" charset="0"/>
                <a:ea typeface="Calibri" pitchFamily="34" charset="-122"/>
                <a:cs typeface="Calibri" pitchFamily="34" charset="-120"/>
              </a:rPr>
              <a:t>Final clean dataset: </a:t>
            </a:r>
            <a:r>
              <a:rPr lang="en-US" sz="1580" b="1" dirty="0">
                <a:solidFill>
                  <a:srgbClr val="16A34A"/>
                </a:solidFill>
                <a:latin typeface="Constantia" pitchFamily="34" charset="0"/>
                <a:ea typeface="Constantia" pitchFamily="34" charset="-122"/>
                <a:cs typeface="Constantia" pitchFamily="34" charset="-120"/>
              </a:rPr>
              <a:t>190 listings</a:t>
            </a:r>
            <a:endParaRPr lang="en-US" sz="900" dirty="0"/>
          </a:p>
        </p:txBody>
      </p:sp>
      <p:sp>
        <p:nvSpPr>
          <p:cNvPr id="27" name="Text 21"/>
          <p:cNvSpPr/>
          <p:nvPr/>
        </p:nvSpPr>
        <p:spPr>
          <a:xfrm>
            <a:off x="6625530" y="3506391"/>
            <a:ext cx="1638300" cy="29170"/>
          </a:xfrm>
          <a:prstGeom prst="rect">
            <a:avLst/>
          </a:prstGeom>
          <a:gradFill rotWithShape="1">
            <a:gsLst>
              <a:gs pos="0">
                <a:srgbClr val="22C55E"/>
              </a:gs>
              <a:gs pos="100000">
                <a:srgbClr val="16A34A"/>
              </a:gs>
            </a:gsLst>
            <a:lin ang="0" scaled="1"/>
          </a:gradFill>
          <a:ln/>
        </p:spPr>
        <p:txBody>
          <a:bodyPr wrap="none" rtlCol="0" anchor="t"/>
          <a:lstStyle/>
          <a:p>
            <a:pPr marL="0" indent="0">
              <a:buNone/>
            </a:pPr>
            <a:endParaRPr lang="en-US" dirty="0"/>
          </a:p>
        </p:txBody>
      </p:sp>
      <p:sp>
        <p:nvSpPr>
          <p:cNvPr id="28" name="Text 22"/>
          <p:cNvSpPr/>
          <p:nvPr/>
        </p:nvSpPr>
        <p:spPr>
          <a:xfrm>
            <a:off x="457200" y="4434334"/>
            <a:ext cx="8229600" cy="394246"/>
          </a:xfrm>
          <a:prstGeom prst="roundRect">
            <a:avLst>
              <a:gd name="adj" fmla="val 18040"/>
            </a:avLst>
          </a:prstGeom>
          <a:solidFill>
            <a:srgbClr val="0B2545"/>
          </a:solidFill>
          <a:ln/>
        </p:spPr>
        <p:txBody>
          <a:bodyPr wrap="square" rtlCol="0" anchor="t"/>
          <a:lstStyle/>
          <a:p>
            <a:pPr marL="0" indent="0">
              <a:buNone/>
            </a:pPr>
            <a:endParaRPr lang="en-US" dirty="0"/>
          </a:p>
        </p:txBody>
      </p:sp>
      <p:pic>
        <p:nvPicPr>
          <p:cNvPr id="2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8516" y="4565163"/>
            <a:ext cx="132588" cy="132588"/>
          </a:xfrm>
          <a:prstGeom prst="rect">
            <a:avLst/>
          </a:prstGeom>
        </p:spPr>
      </p:pic>
      <p:sp>
        <p:nvSpPr>
          <p:cNvPr id="30" name="Text 23"/>
          <p:cNvSpPr/>
          <p:nvPr/>
        </p:nvSpPr>
        <p:spPr>
          <a:xfrm>
            <a:off x="904131" y="4548634"/>
            <a:ext cx="6289774" cy="165646"/>
          </a:xfrm>
          <a:prstGeom prst="rect">
            <a:avLst/>
          </a:prstGeom>
          <a:noFill/>
          <a:ln/>
        </p:spPr>
        <p:txBody>
          <a:bodyPr wrap="none" lIns="0" tIns="0" rIns="0" bIns="0" rtlCol="0" anchor="ctr"/>
          <a:lstStyle/>
          <a:p>
            <a:pPr marL="0" indent="0" algn="l">
              <a:lnSpc>
                <a:spcPts val="1305"/>
              </a:lnSpc>
              <a:buNone/>
            </a:pPr>
            <a:r>
              <a:rPr lang="en-US" sz="900" dirty="0">
                <a:solidFill>
                  <a:srgbClr val="E2E8F0"/>
                </a:solidFill>
                <a:latin typeface="Calibri" pitchFamily="34" charset="0"/>
                <a:ea typeface="Calibri" pitchFamily="34" charset="-122"/>
                <a:cs typeface="Calibri" pitchFamily="34" charset="-120"/>
              </a:rPr>
              <a:t>Ensures a </a:t>
            </a:r>
            <a:r>
              <a:rPr lang="en-US" sz="900" b="1" dirty="0">
                <a:solidFill>
                  <a:srgbClr val="00B4D8"/>
                </a:solidFill>
                <a:latin typeface="Calibri" pitchFamily="34" charset="0"/>
                <a:ea typeface="Calibri" pitchFamily="34" charset="-122"/>
                <a:cs typeface="Calibri" pitchFamily="34" charset="-120"/>
              </a:rPr>
              <a:t>clean, complete dataset</a:t>
            </a:r>
            <a:r>
              <a:rPr lang="en-US" sz="900" dirty="0">
                <a:solidFill>
                  <a:srgbClr val="E2E8F0"/>
                </a:solidFill>
                <a:latin typeface="Calibri" pitchFamily="34" charset="0"/>
                <a:ea typeface="Calibri" pitchFamily="34" charset="-122"/>
                <a:cs typeface="Calibri" pitchFamily="34" charset="-120"/>
              </a:rPr>
              <a:t> suitable for regression modeling — only 5 of 195 raw listings were excluded.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 y="400050"/>
            <a:ext cx="150465" cy="150465"/>
          </a:xfrm>
          <a:prstGeom prst="rect">
            <a:avLst/>
          </a:prstGeom>
        </p:spPr>
      </p:pic>
      <p:sp>
        <p:nvSpPr>
          <p:cNvPr id="3" name="Text 0"/>
          <p:cNvSpPr/>
          <p:nvPr/>
        </p:nvSpPr>
        <p:spPr>
          <a:xfrm>
            <a:off x="721965" y="400050"/>
            <a:ext cx="2318474" cy="150465"/>
          </a:xfrm>
          <a:prstGeom prst="rect">
            <a:avLst/>
          </a:prstGeom>
          <a:noFill/>
          <a:ln/>
        </p:spPr>
        <p:txBody>
          <a:bodyPr wrap="none" lIns="0" tIns="0" rIns="0" bIns="0" rtlCol="0" anchor="ctr"/>
          <a:lstStyle/>
          <a:p>
            <a:pPr marL="0" indent="0" algn="l">
              <a:lnSpc>
                <a:spcPts val="1185"/>
              </a:lnSpc>
              <a:buNone/>
            </a:pPr>
            <a:r>
              <a:rPr lang="en-US" sz="790" b="1" kern="0" spc="170" dirty="0">
                <a:solidFill>
                  <a:srgbClr val="F8FAFC"/>
                </a:solidFill>
                <a:latin typeface="Constantia" pitchFamily="34" charset="0"/>
                <a:ea typeface="Constantia" pitchFamily="34" charset="-122"/>
                <a:cs typeface="Constantia" pitchFamily="34" charset="-120"/>
              </a:rPr>
              <a:t>EXPLORATORY DATA ANALYSIS</a:t>
            </a:r>
            <a:endParaRPr lang="en-US" sz="790" dirty="0"/>
          </a:p>
        </p:txBody>
      </p:sp>
      <p:sp>
        <p:nvSpPr>
          <p:cNvPr id="4" name="Text 1"/>
          <p:cNvSpPr/>
          <p:nvPr/>
        </p:nvSpPr>
        <p:spPr>
          <a:xfrm>
            <a:off x="457200" y="607665"/>
            <a:ext cx="8805672" cy="328613"/>
          </a:xfrm>
          <a:prstGeom prst="rect">
            <a:avLst/>
          </a:prstGeom>
          <a:noFill/>
          <a:ln/>
        </p:spPr>
        <p:txBody>
          <a:bodyPr wrap="none" lIns="0" tIns="0" rIns="0" bIns="0" rtlCol="0" anchor="t"/>
          <a:lstStyle/>
          <a:p>
            <a:pPr marL="0" indent="0" algn="l">
              <a:lnSpc>
                <a:spcPts val="2587"/>
              </a:lnSpc>
              <a:spcAft>
                <a:spcPts val="340"/>
              </a:spcAft>
              <a:buNone/>
            </a:pPr>
            <a:r>
              <a:rPr lang="en-US" sz="2250" b="1" dirty="0">
                <a:solidFill>
                  <a:srgbClr val="F8FAFC"/>
                </a:solidFill>
                <a:latin typeface="Constantia" pitchFamily="34" charset="0"/>
                <a:ea typeface="Constantia" pitchFamily="34" charset="-122"/>
                <a:cs typeface="Constantia" pitchFamily="34" charset="-120"/>
              </a:rPr>
              <a:t>Summary Statistics for Nightly Rate</a:t>
            </a:r>
            <a:endParaRPr lang="en-US" sz="2250" dirty="0"/>
          </a:p>
        </p:txBody>
      </p:sp>
      <p:sp>
        <p:nvSpPr>
          <p:cNvPr id="5" name="Text 2"/>
          <p:cNvSpPr/>
          <p:nvPr/>
        </p:nvSpPr>
        <p:spPr>
          <a:xfrm>
            <a:off x="457200" y="979438"/>
            <a:ext cx="457200" cy="21580"/>
          </a:xfrm>
          <a:prstGeom prst="roundRect">
            <a:avLst>
              <a:gd name="adj" fmla="val 64736"/>
            </a:avLst>
          </a:prstGeom>
          <a:solidFill>
            <a:srgbClr val="00B4D8"/>
          </a:solidFill>
          <a:ln/>
        </p:spPr>
        <p:txBody>
          <a:bodyPr wrap="none" rtlCol="0" anchor="t"/>
          <a:lstStyle/>
          <a:p>
            <a:pPr marL="0" indent="0">
              <a:buNone/>
            </a:pPr>
            <a:endParaRPr lang="en-US" dirty="0"/>
          </a:p>
        </p:txBody>
      </p:sp>
      <p:sp>
        <p:nvSpPr>
          <p:cNvPr id="6" name="Text 3"/>
          <p:cNvSpPr/>
          <p:nvPr/>
        </p:nvSpPr>
        <p:spPr>
          <a:xfrm>
            <a:off x="457200" y="1258788"/>
            <a:ext cx="2647504" cy="1210401"/>
          </a:xfrm>
          <a:prstGeom prst="roundRect">
            <a:avLst>
              <a:gd name="adj" fmla="val 9443"/>
            </a:avLst>
          </a:prstGeom>
          <a:solidFill>
            <a:srgbClr val="FFFFFF">
              <a:alpha val="6000"/>
            </a:srgbClr>
          </a:solidFill>
          <a:ln w="9525">
            <a:solidFill>
              <a:srgbClr val="FFFFFF">
                <a:alpha val="10000"/>
              </a:srgbClr>
            </a:solidFill>
          </a:ln>
        </p:spPr>
        <p:txBody>
          <a:bodyPr wrap="square" lIns="171450" tIns="228600" rIns="171450" bIns="200660" rtlCol="0" anchor="t"/>
          <a:lstStyle/>
          <a:p>
            <a:pPr marL="0" indent="0" algn="ctr">
              <a:buNone/>
            </a:pPr>
            <a:r>
              <a:rPr lang="en-US" sz="730" b="1" kern="0" spc="110" dirty="0">
                <a:solidFill>
                  <a:srgbClr val="94A3B8"/>
                </a:solidFill>
                <a:latin typeface="Calibri" pitchFamily="34" charset="0"/>
                <a:ea typeface="Calibri" pitchFamily="34" charset="-122"/>
                <a:cs typeface="Calibri" pitchFamily="34" charset="-120"/>
              </a:rPr>
              <a:t>MINIMUM</a:t>
            </a:r>
            <a:endParaRPr lang="en-US" sz="730" dirty="0"/>
          </a:p>
          <a:p>
            <a:pPr marL="0" indent="0" algn="ctr">
              <a:buNone/>
            </a:pPr>
            <a:r>
              <a:rPr lang="en-US" sz="1580" b="1" dirty="0">
                <a:solidFill>
                  <a:srgbClr val="00B4D8"/>
                </a:solidFill>
                <a:latin typeface="Constantia" pitchFamily="34" charset="0"/>
                <a:ea typeface="Constantia" pitchFamily="34" charset="-122"/>
                <a:cs typeface="Constantia" pitchFamily="34" charset="-120"/>
              </a:rPr>
              <a:t>$</a:t>
            </a:r>
            <a:r>
              <a:rPr lang="en-US" sz="2480" b="1" dirty="0">
                <a:solidFill>
                  <a:srgbClr val="F8FAFC"/>
                </a:solidFill>
                <a:latin typeface="Constantia" pitchFamily="34" charset="0"/>
                <a:ea typeface="Constantia" pitchFamily="34" charset="-122"/>
                <a:cs typeface="Constantia" pitchFamily="34" charset="-120"/>
              </a:rPr>
              <a:t>18.30</a:t>
            </a:r>
            <a:endParaRPr lang="en-US" sz="730" dirty="0"/>
          </a:p>
          <a:p>
            <a:pPr marL="0" indent="0" algn="ctr">
              <a:buNone/>
            </a:pPr>
            <a:r>
              <a:rPr lang="en-US" sz="680" kern="0" spc="30" dirty="0">
                <a:solidFill>
                  <a:srgbClr val="94A3B8"/>
                </a:solidFill>
                <a:latin typeface="Calibri" pitchFamily="34" charset="0"/>
                <a:ea typeface="Calibri" pitchFamily="34" charset="-122"/>
                <a:cs typeface="Calibri" pitchFamily="34" charset="-120"/>
              </a:rPr>
              <a:t>Lowest nightly rate</a:t>
            </a:r>
            <a:endParaRPr lang="en-US" sz="730" dirty="0"/>
          </a:p>
        </p:txBody>
      </p:sp>
      <p:sp>
        <p:nvSpPr>
          <p:cNvPr id="7" name="Text 4"/>
          <p:cNvSpPr/>
          <p:nvPr/>
        </p:nvSpPr>
        <p:spPr>
          <a:xfrm>
            <a:off x="3248174" y="1258788"/>
            <a:ext cx="2647504" cy="1210401"/>
          </a:xfrm>
          <a:prstGeom prst="roundRect">
            <a:avLst>
              <a:gd name="adj" fmla="val 9443"/>
            </a:avLst>
          </a:prstGeom>
          <a:solidFill>
            <a:srgbClr val="FFFFFF">
              <a:alpha val="6000"/>
            </a:srgbClr>
          </a:solidFill>
          <a:ln w="9525">
            <a:solidFill>
              <a:srgbClr val="FFFFFF">
                <a:alpha val="10000"/>
              </a:srgbClr>
            </a:solidFill>
          </a:ln>
        </p:spPr>
        <p:txBody>
          <a:bodyPr wrap="square" lIns="171450" tIns="228600" rIns="171450" bIns="200660" rtlCol="0" anchor="t"/>
          <a:lstStyle/>
          <a:p>
            <a:pPr marL="0" indent="0" algn="ctr">
              <a:buNone/>
            </a:pPr>
            <a:r>
              <a:rPr lang="en-US" sz="730" b="1" kern="0" spc="110" dirty="0">
                <a:solidFill>
                  <a:srgbClr val="94A3B8"/>
                </a:solidFill>
                <a:latin typeface="Calibri" pitchFamily="34" charset="0"/>
                <a:ea typeface="Calibri" pitchFamily="34" charset="-122"/>
                <a:cs typeface="Calibri" pitchFamily="34" charset="-120"/>
              </a:rPr>
              <a:t>Q1 (25TH %ILE)</a:t>
            </a:r>
            <a:endParaRPr lang="en-US" sz="730" dirty="0"/>
          </a:p>
          <a:p>
            <a:pPr marL="0" indent="0" algn="ctr">
              <a:buNone/>
            </a:pPr>
            <a:r>
              <a:rPr lang="en-US" sz="1580" b="1" dirty="0">
                <a:solidFill>
                  <a:srgbClr val="00B4D8"/>
                </a:solidFill>
                <a:latin typeface="Constantia" pitchFamily="34" charset="0"/>
                <a:ea typeface="Constantia" pitchFamily="34" charset="-122"/>
                <a:cs typeface="Constantia" pitchFamily="34" charset="-120"/>
              </a:rPr>
              <a:t>$</a:t>
            </a:r>
            <a:r>
              <a:rPr lang="en-US" sz="2480" b="1" dirty="0">
                <a:solidFill>
                  <a:srgbClr val="F8FAFC"/>
                </a:solidFill>
                <a:latin typeface="Constantia" pitchFamily="34" charset="0"/>
                <a:ea typeface="Constantia" pitchFamily="34" charset="-122"/>
                <a:cs typeface="Constantia" pitchFamily="34" charset="-120"/>
              </a:rPr>
              <a:t>63.20</a:t>
            </a:r>
            <a:endParaRPr lang="en-US" sz="730" dirty="0"/>
          </a:p>
          <a:p>
            <a:pPr marL="0" indent="0" algn="ctr">
              <a:buNone/>
            </a:pPr>
            <a:r>
              <a:rPr lang="en-US" sz="680" kern="0" spc="30" dirty="0">
                <a:solidFill>
                  <a:srgbClr val="94A3B8"/>
                </a:solidFill>
                <a:latin typeface="Calibri" pitchFamily="34" charset="0"/>
                <a:ea typeface="Calibri" pitchFamily="34" charset="-122"/>
                <a:cs typeface="Calibri" pitchFamily="34" charset="-120"/>
              </a:rPr>
              <a:t>Lower quartile</a:t>
            </a:r>
            <a:endParaRPr lang="en-US" sz="730" dirty="0"/>
          </a:p>
        </p:txBody>
      </p:sp>
      <p:sp>
        <p:nvSpPr>
          <p:cNvPr id="8" name="Text 5"/>
          <p:cNvSpPr/>
          <p:nvPr/>
        </p:nvSpPr>
        <p:spPr>
          <a:xfrm>
            <a:off x="6039148" y="1258788"/>
            <a:ext cx="2647652" cy="1210401"/>
          </a:xfrm>
          <a:prstGeom prst="roundRect">
            <a:avLst>
              <a:gd name="adj" fmla="val 9443"/>
            </a:avLst>
          </a:prstGeom>
          <a:gradFill rotWithShape="1">
            <a:gsLst>
              <a:gs pos="0">
                <a:srgbClr val="00B4D8">
                  <a:alpha val="12000"/>
                </a:srgbClr>
              </a:gs>
              <a:gs pos="100000">
                <a:srgbClr val="00B4D8">
                  <a:alpha val="4000"/>
                </a:srgbClr>
              </a:gs>
            </a:gsLst>
            <a:lin ang="2700000" scaled="1"/>
          </a:gradFill>
          <a:ln w="9525">
            <a:solidFill>
              <a:srgbClr val="00B4D8">
                <a:alpha val="30000"/>
              </a:srgbClr>
            </a:solidFill>
          </a:ln>
        </p:spPr>
        <p:txBody>
          <a:bodyPr wrap="square" lIns="171450" tIns="228600" rIns="171450" bIns="200660" rtlCol="0" anchor="t"/>
          <a:lstStyle/>
          <a:p>
            <a:pPr marL="0" indent="0" algn="ctr">
              <a:buNone/>
            </a:pPr>
            <a:r>
              <a:rPr lang="en-US" sz="730" b="1" kern="0" spc="110" dirty="0">
                <a:solidFill>
                  <a:srgbClr val="94A3B8"/>
                </a:solidFill>
                <a:latin typeface="Calibri" pitchFamily="34" charset="0"/>
                <a:ea typeface="Calibri" pitchFamily="34" charset="-122"/>
                <a:cs typeface="Calibri" pitchFamily="34" charset="-120"/>
              </a:rPr>
              <a:t>MEDIAN</a:t>
            </a:r>
            <a:endParaRPr lang="en-US" sz="730" dirty="0"/>
          </a:p>
          <a:p>
            <a:pPr marL="0" indent="0" algn="ctr">
              <a:buNone/>
            </a:pPr>
            <a:r>
              <a:rPr lang="en-US" sz="1580" b="1" dirty="0">
                <a:solidFill>
                  <a:srgbClr val="00B4D8"/>
                </a:solidFill>
                <a:latin typeface="Constantia" pitchFamily="34" charset="0"/>
                <a:ea typeface="Constantia" pitchFamily="34" charset="-122"/>
                <a:cs typeface="Constantia" pitchFamily="34" charset="-120"/>
              </a:rPr>
              <a:t>$</a:t>
            </a:r>
            <a:r>
              <a:rPr lang="en-US" sz="2480" b="1" dirty="0">
                <a:solidFill>
                  <a:srgbClr val="00B4D8"/>
                </a:solidFill>
                <a:latin typeface="Constantia" pitchFamily="34" charset="0"/>
                <a:ea typeface="Constantia" pitchFamily="34" charset="-122"/>
                <a:cs typeface="Constantia" pitchFamily="34" charset="-120"/>
              </a:rPr>
              <a:t>99.25</a:t>
            </a:r>
            <a:endParaRPr lang="en-US" sz="730" dirty="0"/>
          </a:p>
          <a:p>
            <a:pPr marL="0" indent="0" algn="ctr">
              <a:buNone/>
            </a:pPr>
            <a:r>
              <a:rPr lang="en-US" sz="680" kern="0" spc="30" dirty="0">
                <a:solidFill>
                  <a:srgbClr val="94A3B8"/>
                </a:solidFill>
                <a:latin typeface="Calibri" pitchFamily="34" charset="0"/>
                <a:ea typeface="Calibri" pitchFamily="34" charset="-122"/>
                <a:cs typeface="Calibri" pitchFamily="34" charset="-120"/>
              </a:rPr>
              <a:t>Center of distribution</a:t>
            </a:r>
            <a:endParaRPr lang="en-US" sz="730" dirty="0"/>
          </a:p>
        </p:txBody>
      </p:sp>
      <p:sp>
        <p:nvSpPr>
          <p:cNvPr id="9" name="Text 6"/>
          <p:cNvSpPr/>
          <p:nvPr/>
        </p:nvSpPr>
        <p:spPr>
          <a:xfrm>
            <a:off x="457200" y="2571750"/>
            <a:ext cx="2647504" cy="1210401"/>
          </a:xfrm>
          <a:prstGeom prst="roundRect">
            <a:avLst>
              <a:gd name="adj" fmla="val 9443"/>
            </a:avLst>
          </a:prstGeom>
          <a:gradFill rotWithShape="1">
            <a:gsLst>
              <a:gs pos="0">
                <a:srgbClr val="00B4D8">
                  <a:alpha val="12000"/>
                </a:srgbClr>
              </a:gs>
              <a:gs pos="100000">
                <a:srgbClr val="00B4D8">
                  <a:alpha val="4000"/>
                </a:srgbClr>
              </a:gs>
            </a:gsLst>
            <a:lin ang="2700000" scaled="1"/>
          </a:gradFill>
          <a:ln w="9525">
            <a:solidFill>
              <a:srgbClr val="00B4D8">
                <a:alpha val="30000"/>
              </a:srgbClr>
            </a:solidFill>
          </a:ln>
        </p:spPr>
        <p:txBody>
          <a:bodyPr wrap="square" lIns="171450" tIns="228600" rIns="171450" bIns="200660" rtlCol="0" anchor="t"/>
          <a:lstStyle/>
          <a:p>
            <a:pPr marL="0" indent="0" algn="ctr">
              <a:buNone/>
            </a:pPr>
            <a:r>
              <a:rPr lang="en-US" sz="730" b="1" kern="0" spc="110" dirty="0">
                <a:solidFill>
                  <a:srgbClr val="94A3B8"/>
                </a:solidFill>
                <a:latin typeface="Calibri" pitchFamily="34" charset="0"/>
                <a:ea typeface="Calibri" pitchFamily="34" charset="-122"/>
                <a:cs typeface="Calibri" pitchFamily="34" charset="-120"/>
              </a:rPr>
              <a:t>MEAN</a:t>
            </a:r>
            <a:endParaRPr lang="en-US" sz="730" dirty="0"/>
          </a:p>
          <a:p>
            <a:pPr marL="0" indent="0" algn="ctr">
              <a:buNone/>
            </a:pPr>
            <a:r>
              <a:rPr lang="en-US" sz="1580" b="1" dirty="0">
                <a:solidFill>
                  <a:srgbClr val="F0B429"/>
                </a:solidFill>
                <a:latin typeface="Constantia" pitchFamily="34" charset="0"/>
                <a:ea typeface="Constantia" pitchFamily="34" charset="-122"/>
                <a:cs typeface="Constantia" pitchFamily="34" charset="-120"/>
              </a:rPr>
              <a:t>$</a:t>
            </a:r>
            <a:r>
              <a:rPr lang="en-US" sz="2480" b="1" dirty="0">
                <a:solidFill>
                  <a:srgbClr val="F0B429"/>
                </a:solidFill>
                <a:latin typeface="Constantia" pitchFamily="34" charset="0"/>
                <a:ea typeface="Constantia" pitchFamily="34" charset="-122"/>
                <a:cs typeface="Constantia" pitchFamily="34" charset="-120"/>
              </a:rPr>
              <a:t>177.45</a:t>
            </a:r>
            <a:endParaRPr lang="en-US" sz="730" dirty="0"/>
          </a:p>
          <a:p>
            <a:pPr marL="0" indent="0" algn="ctr">
              <a:buNone/>
            </a:pPr>
            <a:r>
              <a:rPr lang="en-US" sz="680" kern="0" spc="30" dirty="0">
                <a:solidFill>
                  <a:srgbClr val="94A3B8"/>
                </a:solidFill>
                <a:latin typeface="Calibri" pitchFamily="34" charset="0"/>
                <a:ea typeface="Calibri" pitchFamily="34" charset="-122"/>
                <a:cs typeface="Calibri" pitchFamily="34" charset="-120"/>
              </a:rPr>
              <a:t>Pulled right by luxury listings</a:t>
            </a:r>
            <a:endParaRPr lang="en-US" sz="730" dirty="0"/>
          </a:p>
        </p:txBody>
      </p:sp>
      <p:sp>
        <p:nvSpPr>
          <p:cNvPr id="10" name="Text 7"/>
          <p:cNvSpPr/>
          <p:nvPr/>
        </p:nvSpPr>
        <p:spPr>
          <a:xfrm>
            <a:off x="3248174" y="2577405"/>
            <a:ext cx="2647504" cy="1210401"/>
          </a:xfrm>
          <a:prstGeom prst="roundRect">
            <a:avLst>
              <a:gd name="adj" fmla="val 9443"/>
            </a:avLst>
          </a:prstGeom>
          <a:solidFill>
            <a:srgbClr val="FFFFFF">
              <a:alpha val="6000"/>
            </a:srgbClr>
          </a:solidFill>
          <a:ln w="9525">
            <a:solidFill>
              <a:srgbClr val="FFFFFF">
                <a:alpha val="10000"/>
              </a:srgbClr>
            </a:solidFill>
          </a:ln>
        </p:spPr>
        <p:txBody>
          <a:bodyPr wrap="square" lIns="171450" tIns="228600" rIns="171450" bIns="200660" rtlCol="0" anchor="t"/>
          <a:lstStyle/>
          <a:p>
            <a:pPr marL="0" indent="0" algn="ctr">
              <a:buNone/>
            </a:pPr>
            <a:r>
              <a:rPr lang="en-US" sz="730" b="1" kern="0" spc="110" dirty="0">
                <a:solidFill>
                  <a:srgbClr val="94A3B8"/>
                </a:solidFill>
                <a:latin typeface="Calibri" pitchFamily="34" charset="0"/>
                <a:ea typeface="Calibri" pitchFamily="34" charset="-122"/>
                <a:cs typeface="Calibri" pitchFamily="34" charset="-120"/>
              </a:rPr>
              <a:t>Q3 (75TH %ILE)</a:t>
            </a:r>
            <a:endParaRPr lang="en-US" sz="730" dirty="0"/>
          </a:p>
          <a:p>
            <a:pPr marL="0" indent="0" algn="ctr">
              <a:buNone/>
            </a:pPr>
            <a:r>
              <a:rPr lang="en-US" sz="1580" b="1" dirty="0">
                <a:solidFill>
                  <a:srgbClr val="00B4D8"/>
                </a:solidFill>
                <a:latin typeface="Constantia" pitchFamily="34" charset="0"/>
                <a:ea typeface="Constantia" pitchFamily="34" charset="-122"/>
                <a:cs typeface="Constantia" pitchFamily="34" charset="-120"/>
              </a:rPr>
              <a:t>$</a:t>
            </a:r>
            <a:r>
              <a:rPr lang="en-US" sz="2480" b="1" dirty="0">
                <a:solidFill>
                  <a:srgbClr val="F8FAFC"/>
                </a:solidFill>
                <a:latin typeface="Constantia" pitchFamily="34" charset="0"/>
                <a:ea typeface="Constantia" pitchFamily="34" charset="-122"/>
                <a:cs typeface="Constantia" pitchFamily="34" charset="-120"/>
              </a:rPr>
              <a:t>164.88</a:t>
            </a:r>
            <a:endParaRPr lang="en-US" sz="730" dirty="0"/>
          </a:p>
          <a:p>
            <a:pPr marL="0" indent="0" algn="ctr">
              <a:buNone/>
            </a:pPr>
            <a:r>
              <a:rPr lang="en-US" sz="680" kern="0" spc="30" dirty="0">
                <a:solidFill>
                  <a:srgbClr val="94A3B8"/>
                </a:solidFill>
                <a:latin typeface="Calibri" pitchFamily="34" charset="0"/>
                <a:ea typeface="Calibri" pitchFamily="34" charset="-122"/>
                <a:cs typeface="Calibri" pitchFamily="34" charset="-120"/>
              </a:rPr>
              <a:t>Upper quartile</a:t>
            </a:r>
            <a:endParaRPr lang="en-US" sz="730" dirty="0"/>
          </a:p>
        </p:txBody>
      </p:sp>
      <p:sp>
        <p:nvSpPr>
          <p:cNvPr id="11" name="Text 8"/>
          <p:cNvSpPr/>
          <p:nvPr/>
        </p:nvSpPr>
        <p:spPr>
          <a:xfrm>
            <a:off x="6039148" y="2577405"/>
            <a:ext cx="2647652" cy="1210401"/>
          </a:xfrm>
          <a:prstGeom prst="roundRect">
            <a:avLst>
              <a:gd name="adj" fmla="val 9443"/>
            </a:avLst>
          </a:prstGeom>
          <a:solidFill>
            <a:srgbClr val="FFFFFF">
              <a:alpha val="6000"/>
            </a:srgbClr>
          </a:solidFill>
          <a:ln w="9525">
            <a:solidFill>
              <a:srgbClr val="FFFFFF">
                <a:alpha val="10000"/>
              </a:srgbClr>
            </a:solidFill>
          </a:ln>
        </p:spPr>
        <p:txBody>
          <a:bodyPr wrap="square" lIns="171450" tIns="228600" rIns="171450" bIns="200660" rtlCol="0" anchor="t"/>
          <a:lstStyle/>
          <a:p>
            <a:pPr marL="0" indent="0" algn="ctr">
              <a:buNone/>
            </a:pPr>
            <a:r>
              <a:rPr lang="en-US" sz="730" b="1" kern="0" spc="110" dirty="0">
                <a:solidFill>
                  <a:srgbClr val="94A3B8"/>
                </a:solidFill>
                <a:latin typeface="Calibri" pitchFamily="34" charset="0"/>
                <a:ea typeface="Calibri" pitchFamily="34" charset="-122"/>
                <a:cs typeface="Calibri" pitchFamily="34" charset="-120"/>
              </a:rPr>
              <a:t>MAXIMUM</a:t>
            </a:r>
            <a:endParaRPr lang="en-US" sz="730" dirty="0"/>
          </a:p>
          <a:p>
            <a:pPr marL="0" indent="0" algn="ctr">
              <a:buNone/>
            </a:pPr>
            <a:r>
              <a:rPr lang="en-US" sz="1580" b="1" dirty="0">
                <a:solidFill>
                  <a:srgbClr val="00B4D8"/>
                </a:solidFill>
                <a:latin typeface="Constantia" pitchFamily="34" charset="0"/>
                <a:ea typeface="Constantia" pitchFamily="34" charset="-122"/>
                <a:cs typeface="Constantia" pitchFamily="34" charset="-120"/>
              </a:rPr>
              <a:t>$</a:t>
            </a:r>
            <a:r>
              <a:rPr lang="en-US" sz="2140" b="1" dirty="0">
                <a:solidFill>
                  <a:srgbClr val="F8FAFC"/>
                </a:solidFill>
                <a:latin typeface="Constantia" pitchFamily="34" charset="0"/>
                <a:ea typeface="Constantia" pitchFamily="34" charset="-122"/>
                <a:cs typeface="Constantia" pitchFamily="34" charset="-120"/>
              </a:rPr>
              <a:t>2,738.10</a:t>
            </a:r>
            <a:endParaRPr lang="en-US" sz="730" dirty="0"/>
          </a:p>
          <a:p>
            <a:pPr marL="0" indent="0" algn="ctr">
              <a:buNone/>
            </a:pPr>
            <a:r>
              <a:rPr lang="en-US" sz="680" kern="0" spc="30" dirty="0">
                <a:solidFill>
                  <a:srgbClr val="94A3B8"/>
                </a:solidFill>
                <a:latin typeface="Calibri" pitchFamily="34" charset="0"/>
                <a:ea typeface="Calibri" pitchFamily="34" charset="-122"/>
                <a:cs typeface="Calibri" pitchFamily="34" charset="-120"/>
              </a:rPr>
              <a:t>Highest nightly rate</a:t>
            </a:r>
            <a:endParaRPr lang="en-US" sz="730" dirty="0"/>
          </a:p>
        </p:txBody>
      </p:sp>
      <p:sp>
        <p:nvSpPr>
          <p:cNvPr id="12" name="Text 9"/>
          <p:cNvSpPr/>
          <p:nvPr/>
        </p:nvSpPr>
        <p:spPr>
          <a:xfrm>
            <a:off x="457200" y="3981152"/>
            <a:ext cx="8229600" cy="676870"/>
          </a:xfrm>
          <a:prstGeom prst="rect">
            <a:avLst/>
          </a:prstGeom>
          <a:solidFill>
            <a:srgbClr val="FFFFFF">
              <a:alpha val="4000"/>
            </a:srgbClr>
          </a:solidFill>
          <a:ln/>
        </p:spPr>
        <p:txBody>
          <a:bodyPr wrap="square" rtlCol="0" anchor="t"/>
          <a:lstStyle/>
          <a:p>
            <a:pPr marL="0" indent="0">
              <a:buNone/>
            </a:pPr>
            <a:endParaRPr lang="en-US" dirty="0"/>
          </a:p>
        </p:txBody>
      </p:sp>
      <p:sp>
        <p:nvSpPr>
          <p:cNvPr id="13" name="Text 10"/>
          <p:cNvSpPr/>
          <p:nvPr/>
        </p:nvSpPr>
        <p:spPr>
          <a:xfrm>
            <a:off x="457200" y="3981152"/>
            <a:ext cx="19050" cy="676870"/>
          </a:xfrm>
          <a:prstGeom prst="rect">
            <a:avLst/>
          </a:prstGeom>
          <a:solidFill>
            <a:srgbClr val="00B4D8"/>
          </a:solidFill>
          <a:ln/>
        </p:spPr>
        <p:txBody>
          <a:bodyPr wrap="square" rtlCol="0" anchor="t"/>
          <a:lstStyle/>
          <a:p>
            <a:pPr marL="0" indent="0">
              <a:buNone/>
            </a:pPr>
            <a:endParaRPr lang="en-US"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9587" y="4131180"/>
            <a:ext cx="132588" cy="132588"/>
          </a:xfrm>
          <a:prstGeom prst="rect">
            <a:avLst/>
          </a:prstGeom>
        </p:spPr>
      </p:pic>
      <p:sp>
        <p:nvSpPr>
          <p:cNvPr id="15" name="Text 11"/>
          <p:cNvSpPr/>
          <p:nvPr/>
        </p:nvSpPr>
        <p:spPr>
          <a:xfrm>
            <a:off x="895201" y="4124623"/>
            <a:ext cx="7742798" cy="409426"/>
          </a:xfrm>
          <a:prstGeom prst="rect">
            <a:avLst/>
          </a:prstGeom>
          <a:noFill/>
          <a:ln/>
        </p:spPr>
        <p:txBody>
          <a:bodyPr wrap="square" lIns="0" tIns="0" rIns="0" bIns="0" rtlCol="0" anchor="t"/>
          <a:lstStyle/>
          <a:p>
            <a:pPr marL="0" indent="0" algn="l">
              <a:lnSpc>
                <a:spcPts val="1536"/>
              </a:lnSpc>
              <a:buNone/>
            </a:pPr>
            <a:r>
              <a:rPr lang="en-US" sz="960" dirty="0">
                <a:solidFill>
                  <a:srgbClr val="94A3B8"/>
                </a:solidFill>
                <a:latin typeface="Calibri" pitchFamily="34" charset="0"/>
                <a:ea typeface="Calibri" pitchFamily="34" charset="-122"/>
                <a:cs typeface="Calibri" pitchFamily="34" charset="-120"/>
              </a:rPr>
              <a:t>Distribution is right-skewed — most listings cluster in the lower-to-mid range with a long tail of luxury properties. </a:t>
            </a:r>
            <a:r>
              <a:rPr lang="en-US" sz="960" dirty="0">
                <a:solidFill>
                  <a:srgbClr val="F8FAFC"/>
                </a:solidFill>
                <a:latin typeface="Calibri" pitchFamily="34" charset="0"/>
                <a:ea typeface="Calibri" pitchFamily="34" charset="-122"/>
                <a:cs typeface="Calibri" pitchFamily="34" charset="-120"/>
              </a:rPr>
              <a:t>The mean ($177) is nearly 1.8× the median ($99)</a:t>
            </a:r>
            <a:r>
              <a:rPr lang="en-US" sz="960" dirty="0">
                <a:solidFill>
                  <a:srgbClr val="94A3B8"/>
                </a:solidFill>
                <a:latin typeface="Calibri" pitchFamily="34" charset="0"/>
                <a:ea typeface="Calibri" pitchFamily="34" charset="-122"/>
                <a:cs typeface="Calibri" pitchFamily="34" charset="-120"/>
              </a:rPr>
              <a:t>, confirming skewness. Wide variation justifies using regression to explain price differences.</a:t>
            </a:r>
            <a:endParaRPr lang="en-US" sz="960" dirty="0"/>
          </a:p>
        </p:txBody>
      </p:sp>
      <p:sp>
        <p:nvSpPr>
          <p:cNvPr id="16" name="Text 12"/>
          <p:cNvSpPr/>
          <p:nvPr/>
        </p:nvSpPr>
        <p:spPr>
          <a:xfrm>
            <a:off x="1609430" y="1268313"/>
            <a:ext cx="342900" cy="21580"/>
          </a:xfrm>
          <a:custGeom>
            <a:avLst/>
            <a:gdLst/>
            <a:ahLst/>
            <a:cxnLst/>
            <a:rect l="l" t="t" r="r" b="b"/>
            <a:pathLst>
              <a:path w="342900" h="21580">
                <a:moveTo>
                  <a:pt x="0" y="0"/>
                </a:moveTo>
                <a:lnTo>
                  <a:pt x="342900" y="0"/>
                </a:lnTo>
                <a:lnTo>
                  <a:pt x="342900" y="-9144000"/>
                </a:lnTo>
                <a:lnTo>
                  <a:pt x="342900" y="0"/>
                </a:lnTo>
                <a:lnTo>
                  <a:pt x="342485" y="4202"/>
                </a:lnTo>
                <a:lnTo>
                  <a:pt x="341257" y="8252"/>
                </a:lnTo>
                <a:lnTo>
                  <a:pt x="339261" y="11985"/>
                </a:lnTo>
                <a:lnTo>
                  <a:pt x="336576" y="15256"/>
                </a:lnTo>
                <a:lnTo>
                  <a:pt x="333305" y="17941"/>
                </a:lnTo>
                <a:lnTo>
                  <a:pt x="329572" y="19937"/>
                </a:lnTo>
                <a:lnTo>
                  <a:pt x="325522" y="21165"/>
                </a:lnTo>
                <a:lnTo>
                  <a:pt x="321310" y="21580"/>
                </a:lnTo>
                <a:lnTo>
                  <a:pt x="21590" y="21580"/>
                </a:lnTo>
                <a:lnTo>
                  <a:pt x="0" y="0"/>
                </a:lnTo>
                <a:lnTo>
                  <a:pt x="415" y="4202"/>
                </a:lnTo>
                <a:lnTo>
                  <a:pt x="1643" y="8252"/>
                </a:lnTo>
                <a:lnTo>
                  <a:pt x="3639" y="11985"/>
                </a:lnTo>
                <a:lnTo>
                  <a:pt x="6324" y="15256"/>
                </a:lnTo>
                <a:lnTo>
                  <a:pt x="9595" y="17941"/>
                </a:lnTo>
                <a:lnTo>
                  <a:pt x="13328" y="19937"/>
                </a:lnTo>
                <a:lnTo>
                  <a:pt x="17378" y="21165"/>
                </a:lnTo>
                <a:lnTo>
                  <a:pt x="21590" y="21580"/>
                </a:lnTo>
                <a:close/>
              </a:path>
            </a:pathLst>
          </a:custGeom>
          <a:solidFill>
            <a:srgbClr val="00B4D8"/>
          </a:solidFill>
          <a:ln/>
        </p:spPr>
        <p:txBody>
          <a:bodyPr wrap="none" rtlCol="0" anchor="t"/>
          <a:lstStyle/>
          <a:p>
            <a:pPr marL="0" indent="0">
              <a:buNone/>
            </a:pPr>
            <a:endParaRPr lang="en-US" dirty="0"/>
          </a:p>
        </p:txBody>
      </p:sp>
      <p:sp>
        <p:nvSpPr>
          <p:cNvPr id="17" name="Text 13"/>
          <p:cNvSpPr/>
          <p:nvPr/>
        </p:nvSpPr>
        <p:spPr>
          <a:xfrm>
            <a:off x="4400404" y="1268313"/>
            <a:ext cx="342900" cy="21580"/>
          </a:xfrm>
          <a:custGeom>
            <a:avLst/>
            <a:gdLst/>
            <a:ahLst/>
            <a:cxnLst/>
            <a:rect l="l" t="t" r="r" b="b"/>
            <a:pathLst>
              <a:path w="342900" h="21580">
                <a:moveTo>
                  <a:pt x="0" y="0"/>
                </a:moveTo>
                <a:lnTo>
                  <a:pt x="342900" y="0"/>
                </a:lnTo>
                <a:lnTo>
                  <a:pt x="342900" y="-9144000"/>
                </a:lnTo>
                <a:lnTo>
                  <a:pt x="342900" y="0"/>
                </a:lnTo>
                <a:lnTo>
                  <a:pt x="342485" y="4202"/>
                </a:lnTo>
                <a:lnTo>
                  <a:pt x="341257" y="8252"/>
                </a:lnTo>
                <a:lnTo>
                  <a:pt x="339261" y="11985"/>
                </a:lnTo>
                <a:lnTo>
                  <a:pt x="336576" y="15256"/>
                </a:lnTo>
                <a:lnTo>
                  <a:pt x="333305" y="17941"/>
                </a:lnTo>
                <a:lnTo>
                  <a:pt x="329572" y="19937"/>
                </a:lnTo>
                <a:lnTo>
                  <a:pt x="325522" y="21165"/>
                </a:lnTo>
                <a:lnTo>
                  <a:pt x="321310" y="21580"/>
                </a:lnTo>
                <a:lnTo>
                  <a:pt x="21590" y="21580"/>
                </a:lnTo>
                <a:lnTo>
                  <a:pt x="0" y="0"/>
                </a:lnTo>
                <a:lnTo>
                  <a:pt x="415" y="4202"/>
                </a:lnTo>
                <a:lnTo>
                  <a:pt x="1643" y="8252"/>
                </a:lnTo>
                <a:lnTo>
                  <a:pt x="3639" y="11985"/>
                </a:lnTo>
                <a:lnTo>
                  <a:pt x="6324" y="15256"/>
                </a:lnTo>
                <a:lnTo>
                  <a:pt x="9595" y="17941"/>
                </a:lnTo>
                <a:lnTo>
                  <a:pt x="13328" y="19937"/>
                </a:lnTo>
                <a:lnTo>
                  <a:pt x="17378" y="21165"/>
                </a:lnTo>
                <a:lnTo>
                  <a:pt x="21590" y="21580"/>
                </a:lnTo>
                <a:close/>
              </a:path>
            </a:pathLst>
          </a:custGeom>
          <a:solidFill>
            <a:srgbClr val="00B4D8"/>
          </a:solidFill>
          <a:ln/>
        </p:spPr>
        <p:txBody>
          <a:bodyPr wrap="none" rtlCol="0" anchor="t"/>
          <a:lstStyle/>
          <a:p>
            <a:pPr marL="0" indent="0">
              <a:buNone/>
            </a:pPr>
            <a:endParaRPr lang="en-US" dirty="0"/>
          </a:p>
        </p:txBody>
      </p:sp>
      <p:sp>
        <p:nvSpPr>
          <p:cNvPr id="18" name="Text 14"/>
          <p:cNvSpPr/>
          <p:nvPr/>
        </p:nvSpPr>
        <p:spPr>
          <a:xfrm>
            <a:off x="7191520" y="1268313"/>
            <a:ext cx="342900" cy="21580"/>
          </a:xfrm>
          <a:custGeom>
            <a:avLst/>
            <a:gdLst/>
            <a:ahLst/>
            <a:cxnLst/>
            <a:rect l="l" t="t" r="r" b="b"/>
            <a:pathLst>
              <a:path w="342900" h="21580">
                <a:moveTo>
                  <a:pt x="0" y="0"/>
                </a:moveTo>
                <a:lnTo>
                  <a:pt x="342900" y="0"/>
                </a:lnTo>
                <a:lnTo>
                  <a:pt x="342900" y="-9144000"/>
                </a:lnTo>
                <a:lnTo>
                  <a:pt x="342900" y="0"/>
                </a:lnTo>
                <a:lnTo>
                  <a:pt x="342485" y="4202"/>
                </a:lnTo>
                <a:lnTo>
                  <a:pt x="341257" y="8252"/>
                </a:lnTo>
                <a:lnTo>
                  <a:pt x="339261" y="11985"/>
                </a:lnTo>
                <a:lnTo>
                  <a:pt x="336576" y="15256"/>
                </a:lnTo>
                <a:lnTo>
                  <a:pt x="333305" y="17941"/>
                </a:lnTo>
                <a:lnTo>
                  <a:pt x="329572" y="19937"/>
                </a:lnTo>
                <a:lnTo>
                  <a:pt x="325522" y="21165"/>
                </a:lnTo>
                <a:lnTo>
                  <a:pt x="321310" y="21580"/>
                </a:lnTo>
                <a:lnTo>
                  <a:pt x="21590" y="21580"/>
                </a:lnTo>
                <a:lnTo>
                  <a:pt x="0" y="0"/>
                </a:lnTo>
                <a:lnTo>
                  <a:pt x="415" y="4202"/>
                </a:lnTo>
                <a:lnTo>
                  <a:pt x="1643" y="8252"/>
                </a:lnTo>
                <a:lnTo>
                  <a:pt x="3639" y="11985"/>
                </a:lnTo>
                <a:lnTo>
                  <a:pt x="6324" y="15256"/>
                </a:lnTo>
                <a:lnTo>
                  <a:pt x="9595" y="17941"/>
                </a:lnTo>
                <a:lnTo>
                  <a:pt x="13328" y="19937"/>
                </a:lnTo>
                <a:lnTo>
                  <a:pt x="17378" y="21165"/>
                </a:lnTo>
                <a:lnTo>
                  <a:pt x="21590" y="21580"/>
                </a:lnTo>
                <a:close/>
              </a:path>
            </a:pathLst>
          </a:custGeom>
          <a:solidFill>
            <a:srgbClr val="00B4D8"/>
          </a:solidFill>
          <a:ln/>
        </p:spPr>
        <p:txBody>
          <a:bodyPr wrap="none" rtlCol="0" anchor="t"/>
          <a:lstStyle/>
          <a:p>
            <a:pPr marL="0" indent="0">
              <a:buNone/>
            </a:pPr>
            <a:endParaRPr lang="en-US" dirty="0"/>
          </a:p>
        </p:txBody>
      </p:sp>
      <p:sp>
        <p:nvSpPr>
          <p:cNvPr id="19" name="Text 15"/>
          <p:cNvSpPr/>
          <p:nvPr/>
        </p:nvSpPr>
        <p:spPr>
          <a:xfrm>
            <a:off x="1609430" y="2586930"/>
            <a:ext cx="342900" cy="21580"/>
          </a:xfrm>
          <a:custGeom>
            <a:avLst/>
            <a:gdLst/>
            <a:ahLst/>
            <a:cxnLst/>
            <a:rect l="l" t="t" r="r" b="b"/>
            <a:pathLst>
              <a:path w="342900" h="21580">
                <a:moveTo>
                  <a:pt x="0" y="0"/>
                </a:moveTo>
                <a:lnTo>
                  <a:pt x="342900" y="0"/>
                </a:lnTo>
                <a:lnTo>
                  <a:pt x="342900" y="-9144000"/>
                </a:lnTo>
                <a:lnTo>
                  <a:pt x="342900" y="0"/>
                </a:lnTo>
                <a:lnTo>
                  <a:pt x="342485" y="4202"/>
                </a:lnTo>
                <a:lnTo>
                  <a:pt x="341257" y="8252"/>
                </a:lnTo>
                <a:lnTo>
                  <a:pt x="339261" y="11985"/>
                </a:lnTo>
                <a:lnTo>
                  <a:pt x="336576" y="15256"/>
                </a:lnTo>
                <a:lnTo>
                  <a:pt x="333305" y="17941"/>
                </a:lnTo>
                <a:lnTo>
                  <a:pt x="329572" y="19937"/>
                </a:lnTo>
                <a:lnTo>
                  <a:pt x="325522" y="21165"/>
                </a:lnTo>
                <a:lnTo>
                  <a:pt x="321310" y="21580"/>
                </a:lnTo>
                <a:lnTo>
                  <a:pt x="21590" y="21580"/>
                </a:lnTo>
                <a:lnTo>
                  <a:pt x="0" y="0"/>
                </a:lnTo>
                <a:lnTo>
                  <a:pt x="415" y="4202"/>
                </a:lnTo>
                <a:lnTo>
                  <a:pt x="1643" y="8252"/>
                </a:lnTo>
                <a:lnTo>
                  <a:pt x="3639" y="11985"/>
                </a:lnTo>
                <a:lnTo>
                  <a:pt x="6324" y="15256"/>
                </a:lnTo>
                <a:lnTo>
                  <a:pt x="9595" y="17941"/>
                </a:lnTo>
                <a:lnTo>
                  <a:pt x="13328" y="19937"/>
                </a:lnTo>
                <a:lnTo>
                  <a:pt x="17378" y="21165"/>
                </a:lnTo>
                <a:lnTo>
                  <a:pt x="21590" y="21580"/>
                </a:lnTo>
                <a:close/>
              </a:path>
            </a:pathLst>
          </a:custGeom>
          <a:solidFill>
            <a:srgbClr val="F0B429"/>
          </a:solidFill>
          <a:ln/>
        </p:spPr>
        <p:txBody>
          <a:bodyPr wrap="none" rtlCol="0" anchor="t"/>
          <a:lstStyle/>
          <a:p>
            <a:pPr marL="0" indent="0">
              <a:buNone/>
            </a:pPr>
            <a:endParaRPr lang="en-US" dirty="0"/>
          </a:p>
        </p:txBody>
      </p:sp>
      <p:sp>
        <p:nvSpPr>
          <p:cNvPr id="20" name="Text 16"/>
          <p:cNvSpPr/>
          <p:nvPr/>
        </p:nvSpPr>
        <p:spPr>
          <a:xfrm>
            <a:off x="4400404" y="2586930"/>
            <a:ext cx="342900" cy="21580"/>
          </a:xfrm>
          <a:custGeom>
            <a:avLst/>
            <a:gdLst/>
            <a:ahLst/>
            <a:cxnLst/>
            <a:rect l="l" t="t" r="r" b="b"/>
            <a:pathLst>
              <a:path w="342900" h="21580">
                <a:moveTo>
                  <a:pt x="0" y="0"/>
                </a:moveTo>
                <a:lnTo>
                  <a:pt x="342900" y="0"/>
                </a:lnTo>
                <a:lnTo>
                  <a:pt x="342900" y="-9144000"/>
                </a:lnTo>
                <a:lnTo>
                  <a:pt x="342900" y="0"/>
                </a:lnTo>
                <a:lnTo>
                  <a:pt x="342485" y="4202"/>
                </a:lnTo>
                <a:lnTo>
                  <a:pt x="341257" y="8252"/>
                </a:lnTo>
                <a:lnTo>
                  <a:pt x="339261" y="11985"/>
                </a:lnTo>
                <a:lnTo>
                  <a:pt x="336576" y="15256"/>
                </a:lnTo>
                <a:lnTo>
                  <a:pt x="333305" y="17941"/>
                </a:lnTo>
                <a:lnTo>
                  <a:pt x="329572" y="19937"/>
                </a:lnTo>
                <a:lnTo>
                  <a:pt x="325522" y="21165"/>
                </a:lnTo>
                <a:lnTo>
                  <a:pt x="321310" y="21580"/>
                </a:lnTo>
                <a:lnTo>
                  <a:pt x="21590" y="21580"/>
                </a:lnTo>
                <a:lnTo>
                  <a:pt x="0" y="0"/>
                </a:lnTo>
                <a:lnTo>
                  <a:pt x="415" y="4202"/>
                </a:lnTo>
                <a:lnTo>
                  <a:pt x="1643" y="8252"/>
                </a:lnTo>
                <a:lnTo>
                  <a:pt x="3639" y="11985"/>
                </a:lnTo>
                <a:lnTo>
                  <a:pt x="6324" y="15256"/>
                </a:lnTo>
                <a:lnTo>
                  <a:pt x="9595" y="17941"/>
                </a:lnTo>
                <a:lnTo>
                  <a:pt x="13328" y="19937"/>
                </a:lnTo>
                <a:lnTo>
                  <a:pt x="17378" y="21165"/>
                </a:lnTo>
                <a:lnTo>
                  <a:pt x="21590" y="21580"/>
                </a:lnTo>
                <a:close/>
              </a:path>
            </a:pathLst>
          </a:custGeom>
          <a:solidFill>
            <a:srgbClr val="00B4D8"/>
          </a:solidFill>
          <a:ln/>
        </p:spPr>
        <p:txBody>
          <a:bodyPr wrap="none" rtlCol="0" anchor="t"/>
          <a:lstStyle/>
          <a:p>
            <a:pPr marL="0" indent="0">
              <a:buNone/>
            </a:pPr>
            <a:endParaRPr lang="en-US" dirty="0"/>
          </a:p>
        </p:txBody>
      </p:sp>
      <p:sp>
        <p:nvSpPr>
          <p:cNvPr id="21" name="Text 17"/>
          <p:cNvSpPr/>
          <p:nvPr/>
        </p:nvSpPr>
        <p:spPr>
          <a:xfrm>
            <a:off x="7191520" y="2586930"/>
            <a:ext cx="342900" cy="21580"/>
          </a:xfrm>
          <a:custGeom>
            <a:avLst/>
            <a:gdLst/>
            <a:ahLst/>
            <a:cxnLst/>
            <a:rect l="l" t="t" r="r" b="b"/>
            <a:pathLst>
              <a:path w="342900" h="21580">
                <a:moveTo>
                  <a:pt x="0" y="0"/>
                </a:moveTo>
                <a:lnTo>
                  <a:pt x="342900" y="0"/>
                </a:lnTo>
                <a:lnTo>
                  <a:pt x="342900" y="-9144000"/>
                </a:lnTo>
                <a:lnTo>
                  <a:pt x="342900" y="0"/>
                </a:lnTo>
                <a:lnTo>
                  <a:pt x="342485" y="4202"/>
                </a:lnTo>
                <a:lnTo>
                  <a:pt x="341257" y="8252"/>
                </a:lnTo>
                <a:lnTo>
                  <a:pt x="339261" y="11985"/>
                </a:lnTo>
                <a:lnTo>
                  <a:pt x="336576" y="15256"/>
                </a:lnTo>
                <a:lnTo>
                  <a:pt x="333305" y="17941"/>
                </a:lnTo>
                <a:lnTo>
                  <a:pt x="329572" y="19937"/>
                </a:lnTo>
                <a:lnTo>
                  <a:pt x="325522" y="21165"/>
                </a:lnTo>
                <a:lnTo>
                  <a:pt x="321310" y="21580"/>
                </a:lnTo>
                <a:lnTo>
                  <a:pt x="21590" y="21580"/>
                </a:lnTo>
                <a:lnTo>
                  <a:pt x="0" y="0"/>
                </a:lnTo>
                <a:lnTo>
                  <a:pt x="415" y="4202"/>
                </a:lnTo>
                <a:lnTo>
                  <a:pt x="1643" y="8252"/>
                </a:lnTo>
                <a:lnTo>
                  <a:pt x="3639" y="11985"/>
                </a:lnTo>
                <a:lnTo>
                  <a:pt x="6324" y="15256"/>
                </a:lnTo>
                <a:lnTo>
                  <a:pt x="9595" y="17941"/>
                </a:lnTo>
                <a:lnTo>
                  <a:pt x="13328" y="19937"/>
                </a:lnTo>
                <a:lnTo>
                  <a:pt x="17378" y="21165"/>
                </a:lnTo>
                <a:lnTo>
                  <a:pt x="21590" y="21580"/>
                </a:lnTo>
                <a:close/>
              </a:path>
            </a:pathLst>
          </a:custGeom>
          <a:solidFill>
            <a:srgbClr val="00B4D8"/>
          </a:solidFill>
          <a:ln/>
        </p:spPr>
        <p:txBody>
          <a:bodyPr wrap="none" rtlCol="0" anchor="t"/>
          <a:lstStyle/>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7284" r="7284"/>
          <a:stretch/>
        </p:blipFill>
        <p:spPr>
          <a:xfrm>
            <a:off x="7857530" y="4142780"/>
            <a:ext cx="1286470" cy="1000720"/>
          </a:xfrm>
          <a:prstGeom prst="rect">
            <a:avLst/>
          </a:prstGeom>
        </p:spPr>
      </p:pic>
      <p:sp>
        <p:nvSpPr>
          <p:cNvPr id="29" name="Text 26"/>
          <p:cNvSpPr/>
          <p:nvPr/>
        </p:nvSpPr>
        <p:spPr>
          <a:xfrm>
            <a:off x="457200" y="342900"/>
            <a:ext cx="342900" cy="29170"/>
          </a:xfrm>
          <a:prstGeom prst="roundRect">
            <a:avLst>
              <a:gd name="adj" fmla="val 47892"/>
            </a:avLst>
          </a:prstGeom>
          <a:solidFill>
            <a:srgbClr val="00B4D8"/>
          </a:solidFill>
          <a:ln/>
        </p:spPr>
        <p:txBody>
          <a:bodyPr wrap="none" rtlCol="0" anchor="t"/>
          <a:lstStyle/>
          <a:p>
            <a:pPr marL="0" indent="0">
              <a:buNone/>
            </a:pPr>
            <a:endParaRPr lang="en-US" dirty="0"/>
          </a:p>
        </p:txBody>
      </p:sp>
      <p:sp>
        <p:nvSpPr>
          <p:cNvPr id="30" name="Text 27"/>
          <p:cNvSpPr/>
          <p:nvPr/>
        </p:nvSpPr>
        <p:spPr>
          <a:xfrm>
            <a:off x="457200" y="458391"/>
            <a:ext cx="8805672" cy="309265"/>
          </a:xfrm>
          <a:prstGeom prst="rect">
            <a:avLst/>
          </a:prstGeom>
          <a:noFill/>
          <a:ln/>
        </p:spPr>
        <p:txBody>
          <a:bodyPr wrap="none" lIns="0" tIns="0" rIns="0" bIns="0" rtlCol="0" anchor="t"/>
          <a:lstStyle/>
          <a:p>
            <a:pPr marL="0" indent="0" algn="l">
              <a:lnSpc>
                <a:spcPts val="2436"/>
              </a:lnSpc>
              <a:spcAft>
                <a:spcPts val="340"/>
              </a:spcAft>
              <a:buNone/>
            </a:pPr>
            <a:r>
              <a:rPr lang="en-US" sz="2030" b="1" dirty="0">
                <a:solidFill>
                  <a:srgbClr val="0B2545"/>
                </a:solidFill>
                <a:latin typeface="Constantia" pitchFamily="34" charset="0"/>
                <a:ea typeface="Constantia" pitchFamily="34" charset="-122"/>
                <a:cs typeface="Constantia" pitchFamily="34" charset="-120"/>
              </a:rPr>
              <a:t>Distribution of Nightly Rates</a:t>
            </a:r>
            <a:endParaRPr lang="en-US" sz="2030" dirty="0"/>
          </a:p>
        </p:txBody>
      </p:sp>
      <p:sp>
        <p:nvSpPr>
          <p:cNvPr id="31" name="Text 28"/>
          <p:cNvSpPr/>
          <p:nvPr/>
        </p:nvSpPr>
        <p:spPr>
          <a:xfrm>
            <a:off x="457200" y="810816"/>
            <a:ext cx="9052560" cy="171450"/>
          </a:xfrm>
          <a:prstGeom prst="rect">
            <a:avLst/>
          </a:prstGeom>
          <a:noFill/>
          <a:ln/>
        </p:spPr>
        <p:txBody>
          <a:bodyPr wrap="none" lIns="0" tIns="0" rIns="0" bIns="0" rtlCol="0" anchor="t"/>
          <a:lstStyle/>
          <a:p>
            <a:pPr marL="0" indent="0" algn="l">
              <a:lnSpc>
                <a:spcPts val="1350"/>
              </a:lnSpc>
              <a:buNone/>
            </a:pPr>
            <a:r>
              <a:rPr lang="en-US" sz="900" i="1" dirty="0">
                <a:solidFill>
                  <a:srgbClr val="5A6A7A"/>
                </a:solidFill>
                <a:latin typeface="Calibri" pitchFamily="34" charset="0"/>
                <a:ea typeface="Calibri" pitchFamily="34" charset="-122"/>
                <a:cs typeface="Calibri" pitchFamily="34" charset="-120"/>
              </a:rPr>
              <a:t>TTM Average Nightly Rate across Punta Cana Airbnb Listings</a:t>
            </a:r>
            <a:endParaRPr lang="en-US" sz="900" dirty="0"/>
          </a:p>
        </p:txBody>
      </p:sp>
      <p:sp>
        <p:nvSpPr>
          <p:cNvPr id="33" name="Text 30"/>
          <p:cNvSpPr/>
          <p:nvPr/>
        </p:nvSpPr>
        <p:spPr>
          <a:xfrm>
            <a:off x="695325" y="1335881"/>
            <a:ext cx="257770" cy="257770"/>
          </a:xfrm>
          <a:prstGeom prst="roundRect">
            <a:avLst>
              <a:gd name="adj" fmla="val 22171"/>
            </a:avLst>
          </a:prstGeom>
          <a:solidFill>
            <a:srgbClr val="4682B4">
              <a:alpha val="12000"/>
            </a:srgbClr>
          </a:solidFill>
          <a:ln/>
        </p:spPr>
        <p:txBody>
          <a:bodyPr wrap="none" rtlCol="0" anchor="t"/>
          <a:lstStyle/>
          <a:p>
            <a:pPr marL="0" indent="0">
              <a:buNone/>
            </a:pPr>
            <a:endParaRPr lang="en-US" dirty="0"/>
          </a:p>
        </p:txBody>
      </p:sp>
      <p:pic>
        <p:nvPicPr>
          <p:cNvPr id="3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7842" y="1398398"/>
            <a:ext cx="132588" cy="132588"/>
          </a:xfrm>
          <a:prstGeom prst="rect">
            <a:avLst/>
          </a:prstGeom>
        </p:spPr>
      </p:pic>
      <p:sp>
        <p:nvSpPr>
          <p:cNvPr id="35" name="Text 31"/>
          <p:cNvSpPr/>
          <p:nvPr/>
        </p:nvSpPr>
        <p:spPr>
          <a:xfrm>
            <a:off x="1024086" y="1368475"/>
            <a:ext cx="2710562" cy="192435"/>
          </a:xfrm>
          <a:prstGeom prst="rect">
            <a:avLst/>
          </a:prstGeom>
          <a:noFill/>
          <a:ln/>
        </p:spPr>
        <p:txBody>
          <a:bodyPr wrap="none" lIns="0" tIns="0" rIns="0" bIns="0" rtlCol="0" anchor="ctr"/>
          <a:lstStyle/>
          <a:p>
            <a:pPr marL="0" indent="0" algn="l">
              <a:lnSpc>
                <a:spcPts val="1515"/>
              </a:lnSpc>
              <a:buNone/>
            </a:pPr>
            <a:r>
              <a:rPr lang="en-US" sz="1010" b="1" dirty="0">
                <a:solidFill>
                  <a:srgbClr val="0B2545"/>
                </a:solidFill>
                <a:latin typeface="Constantia" pitchFamily="34" charset="0"/>
                <a:ea typeface="Constantia" pitchFamily="34" charset="-122"/>
                <a:cs typeface="Constantia" pitchFamily="34" charset="-120"/>
              </a:rPr>
              <a:t>Distribution of Nightly Rates (TTM Average)</a:t>
            </a:r>
            <a:endParaRPr lang="en-US" sz="1010" dirty="0"/>
          </a:p>
        </p:txBody>
      </p:sp>
      <p:pic>
        <p:nvPicPr>
          <p:cNvPr id="3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63037" y="1405772"/>
            <a:ext cx="132588" cy="132588"/>
          </a:xfrm>
          <a:prstGeom prst="rect">
            <a:avLst/>
          </a:prstGeom>
        </p:spPr>
      </p:pic>
      <p:pic>
        <p:nvPicPr>
          <p:cNvPr id="51" name="Image 3" descr="preencoded.png"/>
          <p:cNvPicPr>
            <a:picLocks noChangeAspect="1"/>
          </p:cNvPicPr>
          <p:nvPr/>
        </p:nvPicPr>
        <p:blipFill>
          <a:blip>
            <a:alphaModFix amt="70000"/>
            <a:extLst>
              <a:ext uri="{96DAC541-7B7A-43D3-8B79-37D633B846F1}">
                <asvg:svgBlip xmlns:asvg="http://schemas.microsoft.com/office/drawing/2016/SVG/main" r:embed="rId6"/>
              </a:ext>
            </a:extLst>
          </a:blip>
          <a:stretch>
            <a:fillRect/>
          </a:stretch>
        </p:blipFill>
        <p:spPr>
          <a:xfrm>
            <a:off x="5048780" y="1705207"/>
            <a:ext cx="132588" cy="132588"/>
          </a:xfrm>
          <a:prstGeom prst="rect">
            <a:avLst/>
          </a:prstGeom>
        </p:spPr>
      </p:pic>
      <p:sp>
        <p:nvSpPr>
          <p:cNvPr id="52" name="Text 46"/>
          <p:cNvSpPr/>
          <p:nvPr/>
        </p:nvSpPr>
        <p:spPr>
          <a:xfrm>
            <a:off x="5201096" y="1706761"/>
            <a:ext cx="616372" cy="129480"/>
          </a:xfrm>
          <a:prstGeom prst="rect">
            <a:avLst/>
          </a:prstGeom>
          <a:noFill/>
          <a:ln/>
        </p:spPr>
        <p:txBody>
          <a:bodyPr wrap="none" lIns="0" tIns="0" rIns="0" bIns="0" rtlCol="0" anchor="ctr"/>
          <a:lstStyle/>
          <a:p>
            <a:pPr marL="0" indent="0" algn="l">
              <a:lnSpc>
                <a:spcPts val="1020"/>
              </a:lnSpc>
              <a:buNone/>
            </a:pPr>
            <a:r>
              <a:rPr lang="en-US" sz="680" b="1" dirty="0">
                <a:solidFill>
                  <a:srgbClr val="4682B4"/>
                </a:solidFill>
                <a:latin typeface="Calibri" pitchFamily="34" charset="0"/>
                <a:ea typeface="Calibri" pitchFamily="34" charset="-122"/>
                <a:cs typeface="Calibri" pitchFamily="34" charset="-120"/>
              </a:rPr>
              <a:t>Right-skewed</a:t>
            </a:r>
            <a:endParaRPr lang="en-US" sz="680" dirty="0"/>
          </a:p>
        </p:txBody>
      </p:sp>
      <p:sp>
        <p:nvSpPr>
          <p:cNvPr id="53" name="Text 47"/>
          <p:cNvSpPr/>
          <p:nvPr/>
        </p:nvSpPr>
        <p:spPr>
          <a:xfrm>
            <a:off x="6400800" y="1125736"/>
            <a:ext cx="2286000" cy="1758255"/>
          </a:xfrm>
          <a:prstGeom prst="roundRect">
            <a:avLst>
              <a:gd name="adj" fmla="val 6501"/>
            </a:avLst>
          </a:prstGeom>
          <a:solidFill>
            <a:srgbClr val="FFFFFF"/>
          </a:solidFill>
          <a:ln w="9525">
            <a:solidFill>
              <a:srgbClr val="0B2545">
                <a:alpha val="6000"/>
              </a:srgbClr>
            </a:solidFill>
          </a:ln>
          <a:effectLst>
            <a:outerShdw blurRad="171450" dist="29210" dir="5400000" algn="bl" rotWithShape="0">
              <a:srgbClr val="0B2545">
                <a:alpha val="8000"/>
              </a:srgbClr>
            </a:outerShdw>
          </a:effectLst>
        </p:spPr>
        <p:txBody>
          <a:bodyPr wrap="square" rtlCol="0" anchor="t"/>
          <a:lstStyle/>
          <a:p>
            <a:pPr marL="0" indent="0">
              <a:buNone/>
            </a:pPr>
            <a:endParaRPr lang="en-US" dirty="0"/>
          </a:p>
        </p:txBody>
      </p:sp>
      <p:sp>
        <p:nvSpPr>
          <p:cNvPr id="54" name="Text 48"/>
          <p:cNvSpPr/>
          <p:nvPr/>
        </p:nvSpPr>
        <p:spPr>
          <a:xfrm>
            <a:off x="6567785" y="1278731"/>
            <a:ext cx="2147233" cy="139005"/>
          </a:xfrm>
          <a:prstGeom prst="rect">
            <a:avLst/>
          </a:prstGeom>
          <a:noFill/>
          <a:ln/>
        </p:spPr>
        <p:txBody>
          <a:bodyPr wrap="none" lIns="0" tIns="0" rIns="0" bIns="0" rtlCol="0" anchor="t"/>
          <a:lstStyle/>
          <a:p>
            <a:pPr marL="0" indent="0" algn="l">
              <a:lnSpc>
                <a:spcPts val="1095"/>
              </a:lnSpc>
              <a:spcAft>
                <a:spcPts val="790"/>
              </a:spcAft>
              <a:buNone/>
            </a:pPr>
            <a:r>
              <a:rPr lang="en-US" sz="730" b="1" kern="0" spc="73" dirty="0">
                <a:solidFill>
                  <a:srgbClr val="5A6A7A"/>
                </a:solidFill>
                <a:latin typeface="Constantia" pitchFamily="34" charset="0"/>
                <a:ea typeface="Constantia" pitchFamily="34" charset="-122"/>
                <a:cs typeface="Constantia" pitchFamily="34" charset="-120"/>
              </a:rPr>
              <a:t>KEY DISTRIBUTION STATS</a:t>
            </a:r>
            <a:endParaRPr lang="en-US" sz="730" dirty="0"/>
          </a:p>
        </p:txBody>
      </p:sp>
      <p:sp>
        <p:nvSpPr>
          <p:cNvPr id="55" name="Text 49"/>
          <p:cNvSpPr/>
          <p:nvPr/>
        </p:nvSpPr>
        <p:spPr>
          <a:xfrm>
            <a:off x="6567785" y="1518047"/>
            <a:ext cx="1026140" cy="257175"/>
          </a:xfrm>
          <a:prstGeom prst="rect">
            <a:avLst/>
          </a:prstGeom>
          <a:noFill/>
          <a:ln/>
        </p:spPr>
        <p:txBody>
          <a:bodyPr wrap="none" lIns="0" tIns="0" rIns="0" bIns="0" rtlCol="0" anchor="t"/>
          <a:lstStyle/>
          <a:p>
            <a:pPr marL="0" indent="0" algn="l">
              <a:lnSpc>
                <a:spcPts val="2025"/>
              </a:lnSpc>
              <a:buNone/>
            </a:pPr>
            <a:r>
              <a:rPr lang="en-US" sz="1350" b="1" dirty="0">
                <a:solidFill>
                  <a:srgbClr val="4682B4"/>
                </a:solidFill>
                <a:latin typeface="Constantia" pitchFamily="34" charset="0"/>
                <a:ea typeface="Constantia" pitchFamily="34" charset="-122"/>
                <a:cs typeface="Constantia" pitchFamily="34" charset="-120"/>
              </a:rPr>
              <a:t>$99</a:t>
            </a:r>
            <a:endParaRPr lang="en-US" sz="1350" dirty="0"/>
          </a:p>
        </p:txBody>
      </p:sp>
      <p:sp>
        <p:nvSpPr>
          <p:cNvPr id="56" name="Text 50"/>
          <p:cNvSpPr/>
          <p:nvPr/>
        </p:nvSpPr>
        <p:spPr>
          <a:xfrm>
            <a:off x="6567785" y="1789063"/>
            <a:ext cx="1026140" cy="129480"/>
          </a:xfrm>
          <a:prstGeom prst="rect">
            <a:avLst/>
          </a:prstGeom>
          <a:noFill/>
          <a:ln/>
        </p:spPr>
        <p:txBody>
          <a:bodyPr wrap="none" lIns="0" tIns="0" rIns="0" bIns="0" rtlCol="0" anchor="t"/>
          <a:lstStyle/>
          <a:p>
            <a:pPr marL="0" indent="0" algn="l">
              <a:lnSpc>
                <a:spcPts val="1020"/>
              </a:lnSpc>
              <a:buNone/>
            </a:pPr>
            <a:r>
              <a:rPr lang="en-US" sz="680" dirty="0">
                <a:solidFill>
                  <a:srgbClr val="5A6A7A"/>
                </a:solidFill>
                <a:latin typeface="Calibri" pitchFamily="34" charset="0"/>
                <a:ea typeface="Calibri" pitchFamily="34" charset="-122"/>
                <a:cs typeface="Calibri" pitchFamily="34" charset="-120"/>
              </a:rPr>
              <a:t>Median Rate</a:t>
            </a:r>
            <a:endParaRPr lang="en-US" sz="680" dirty="0"/>
          </a:p>
        </p:txBody>
      </p:sp>
      <p:sp>
        <p:nvSpPr>
          <p:cNvPr id="57" name="Text 51"/>
          <p:cNvSpPr/>
          <p:nvPr/>
        </p:nvSpPr>
        <p:spPr>
          <a:xfrm>
            <a:off x="7586960" y="1518047"/>
            <a:ext cx="1026140" cy="257175"/>
          </a:xfrm>
          <a:prstGeom prst="rect">
            <a:avLst/>
          </a:prstGeom>
          <a:noFill/>
          <a:ln/>
        </p:spPr>
        <p:txBody>
          <a:bodyPr wrap="none" lIns="0" tIns="0" rIns="0" bIns="0" rtlCol="0" anchor="t"/>
          <a:lstStyle/>
          <a:p>
            <a:pPr marL="0" indent="0" algn="l">
              <a:lnSpc>
                <a:spcPts val="2025"/>
              </a:lnSpc>
              <a:buNone/>
            </a:pPr>
            <a:r>
              <a:rPr lang="en-US" sz="1350" b="1" dirty="0">
                <a:solidFill>
                  <a:srgbClr val="4682B4"/>
                </a:solidFill>
                <a:latin typeface="Constantia" pitchFamily="34" charset="0"/>
                <a:ea typeface="Constantia" pitchFamily="34" charset="-122"/>
                <a:cs typeface="Constantia" pitchFamily="34" charset="-120"/>
              </a:rPr>
              <a:t>$177</a:t>
            </a:r>
            <a:endParaRPr lang="en-US" sz="1350" dirty="0"/>
          </a:p>
        </p:txBody>
      </p:sp>
      <p:sp>
        <p:nvSpPr>
          <p:cNvPr id="58" name="Text 52"/>
          <p:cNvSpPr/>
          <p:nvPr/>
        </p:nvSpPr>
        <p:spPr>
          <a:xfrm>
            <a:off x="7586960" y="1789063"/>
            <a:ext cx="1026140" cy="129480"/>
          </a:xfrm>
          <a:prstGeom prst="rect">
            <a:avLst/>
          </a:prstGeom>
          <a:noFill/>
          <a:ln/>
        </p:spPr>
        <p:txBody>
          <a:bodyPr wrap="none" lIns="0" tIns="0" rIns="0" bIns="0" rtlCol="0" anchor="t"/>
          <a:lstStyle/>
          <a:p>
            <a:pPr marL="0" indent="0" algn="l">
              <a:lnSpc>
                <a:spcPts val="1020"/>
              </a:lnSpc>
              <a:buNone/>
            </a:pPr>
            <a:r>
              <a:rPr lang="en-US" sz="680" dirty="0">
                <a:solidFill>
                  <a:srgbClr val="5A6A7A"/>
                </a:solidFill>
                <a:latin typeface="Calibri" pitchFamily="34" charset="0"/>
                <a:ea typeface="Calibri" pitchFamily="34" charset="-122"/>
                <a:cs typeface="Calibri" pitchFamily="34" charset="-120"/>
              </a:rPr>
              <a:t>Mean Rate</a:t>
            </a:r>
            <a:endParaRPr lang="en-US" sz="680" dirty="0"/>
          </a:p>
        </p:txBody>
      </p:sp>
      <p:sp>
        <p:nvSpPr>
          <p:cNvPr id="59" name="Text 53"/>
          <p:cNvSpPr/>
          <p:nvPr/>
        </p:nvSpPr>
        <p:spPr>
          <a:xfrm>
            <a:off x="6567785" y="2004864"/>
            <a:ext cx="1026140" cy="257175"/>
          </a:xfrm>
          <a:prstGeom prst="rect">
            <a:avLst/>
          </a:prstGeom>
          <a:noFill/>
          <a:ln/>
        </p:spPr>
        <p:txBody>
          <a:bodyPr wrap="none" lIns="0" tIns="0" rIns="0" bIns="0" rtlCol="0" anchor="t"/>
          <a:lstStyle/>
          <a:p>
            <a:pPr marL="0" indent="0" algn="l">
              <a:lnSpc>
                <a:spcPts val="2025"/>
              </a:lnSpc>
              <a:buNone/>
            </a:pPr>
            <a:r>
              <a:rPr lang="en-US" sz="1350" b="1" dirty="0">
                <a:solidFill>
                  <a:srgbClr val="4682B4"/>
                </a:solidFill>
                <a:latin typeface="Constantia" pitchFamily="34" charset="0"/>
                <a:ea typeface="Constantia" pitchFamily="34" charset="-122"/>
                <a:cs typeface="Constantia" pitchFamily="34" charset="-120"/>
              </a:rPr>
              <a:t>$18</a:t>
            </a:r>
            <a:endParaRPr lang="en-US" sz="1350" dirty="0"/>
          </a:p>
        </p:txBody>
      </p:sp>
      <p:sp>
        <p:nvSpPr>
          <p:cNvPr id="60" name="Text 54"/>
          <p:cNvSpPr/>
          <p:nvPr/>
        </p:nvSpPr>
        <p:spPr>
          <a:xfrm>
            <a:off x="6567785" y="2275880"/>
            <a:ext cx="1026140" cy="129480"/>
          </a:xfrm>
          <a:prstGeom prst="rect">
            <a:avLst/>
          </a:prstGeom>
          <a:noFill/>
          <a:ln/>
        </p:spPr>
        <p:txBody>
          <a:bodyPr wrap="none" lIns="0" tIns="0" rIns="0" bIns="0" rtlCol="0" anchor="t"/>
          <a:lstStyle/>
          <a:p>
            <a:pPr marL="0" indent="0" algn="l">
              <a:lnSpc>
                <a:spcPts val="1020"/>
              </a:lnSpc>
              <a:buNone/>
            </a:pPr>
            <a:r>
              <a:rPr lang="en-US" sz="680" dirty="0">
                <a:solidFill>
                  <a:srgbClr val="5A6A7A"/>
                </a:solidFill>
                <a:latin typeface="Calibri" pitchFamily="34" charset="0"/>
                <a:ea typeface="Calibri" pitchFamily="34" charset="-122"/>
                <a:cs typeface="Calibri" pitchFamily="34" charset="-120"/>
              </a:rPr>
              <a:t>Minimum</a:t>
            </a:r>
            <a:endParaRPr lang="en-US" sz="680" dirty="0"/>
          </a:p>
        </p:txBody>
      </p:sp>
      <p:sp>
        <p:nvSpPr>
          <p:cNvPr id="61" name="Text 55"/>
          <p:cNvSpPr/>
          <p:nvPr/>
        </p:nvSpPr>
        <p:spPr>
          <a:xfrm>
            <a:off x="7586960" y="2004864"/>
            <a:ext cx="1026140" cy="257175"/>
          </a:xfrm>
          <a:prstGeom prst="rect">
            <a:avLst/>
          </a:prstGeom>
          <a:noFill/>
          <a:ln/>
        </p:spPr>
        <p:txBody>
          <a:bodyPr wrap="none" lIns="0" tIns="0" rIns="0" bIns="0" rtlCol="0" anchor="t"/>
          <a:lstStyle/>
          <a:p>
            <a:pPr marL="0" indent="0" algn="l">
              <a:lnSpc>
                <a:spcPts val="2025"/>
              </a:lnSpc>
              <a:buNone/>
            </a:pPr>
            <a:r>
              <a:rPr lang="en-US" sz="1350" b="1" dirty="0">
                <a:solidFill>
                  <a:srgbClr val="4682B4"/>
                </a:solidFill>
                <a:latin typeface="Constantia" pitchFamily="34" charset="0"/>
                <a:ea typeface="Constantia" pitchFamily="34" charset="-122"/>
                <a:cs typeface="Constantia" pitchFamily="34" charset="-120"/>
              </a:rPr>
              <a:t>$2,738</a:t>
            </a:r>
            <a:endParaRPr lang="en-US" sz="1350" dirty="0"/>
          </a:p>
        </p:txBody>
      </p:sp>
      <p:sp>
        <p:nvSpPr>
          <p:cNvPr id="62" name="Text 56"/>
          <p:cNvSpPr/>
          <p:nvPr/>
        </p:nvSpPr>
        <p:spPr>
          <a:xfrm>
            <a:off x="7586960" y="2275880"/>
            <a:ext cx="1026140" cy="129480"/>
          </a:xfrm>
          <a:prstGeom prst="rect">
            <a:avLst/>
          </a:prstGeom>
          <a:noFill/>
          <a:ln/>
        </p:spPr>
        <p:txBody>
          <a:bodyPr wrap="none" lIns="0" tIns="0" rIns="0" bIns="0" rtlCol="0" anchor="t"/>
          <a:lstStyle/>
          <a:p>
            <a:pPr marL="0" indent="0" algn="l">
              <a:lnSpc>
                <a:spcPts val="1020"/>
              </a:lnSpc>
              <a:buNone/>
            </a:pPr>
            <a:r>
              <a:rPr lang="en-US" sz="680" dirty="0">
                <a:solidFill>
                  <a:srgbClr val="5A6A7A"/>
                </a:solidFill>
                <a:latin typeface="Calibri" pitchFamily="34" charset="0"/>
                <a:ea typeface="Calibri" pitchFamily="34" charset="-122"/>
                <a:cs typeface="Calibri" pitchFamily="34" charset="-120"/>
              </a:rPr>
              <a:t>Maximum</a:t>
            </a:r>
            <a:endParaRPr lang="en-US" sz="680" dirty="0"/>
          </a:p>
        </p:txBody>
      </p:sp>
      <p:sp>
        <p:nvSpPr>
          <p:cNvPr id="63" name="Text 57"/>
          <p:cNvSpPr/>
          <p:nvPr/>
        </p:nvSpPr>
        <p:spPr>
          <a:xfrm>
            <a:off x="6567785" y="2505670"/>
            <a:ext cx="1952030" cy="9525"/>
          </a:xfrm>
          <a:prstGeom prst="rect">
            <a:avLst/>
          </a:prstGeom>
          <a:solidFill>
            <a:srgbClr val="0B2545">
              <a:alpha val="8000"/>
            </a:srgbClr>
          </a:solidFill>
          <a:ln/>
        </p:spPr>
        <p:txBody>
          <a:bodyPr wrap="none" rtlCol="0" anchor="t"/>
          <a:lstStyle/>
          <a:p>
            <a:pPr marL="0" indent="0">
              <a:buNone/>
            </a:pPr>
            <a:endParaRPr lang="en-US" dirty="0"/>
          </a:p>
        </p:txBody>
      </p:sp>
      <p:pic>
        <p:nvPicPr>
          <p:cNvPr id="6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44354" y="2599962"/>
            <a:ext cx="132588" cy="132588"/>
          </a:xfrm>
          <a:prstGeom prst="rect">
            <a:avLst/>
          </a:prstGeom>
        </p:spPr>
      </p:pic>
      <p:sp>
        <p:nvSpPr>
          <p:cNvPr id="65" name="Text 58"/>
          <p:cNvSpPr/>
          <p:nvPr/>
        </p:nvSpPr>
        <p:spPr>
          <a:xfrm>
            <a:off x="6710660" y="2601516"/>
            <a:ext cx="1493535" cy="129480"/>
          </a:xfrm>
          <a:prstGeom prst="rect">
            <a:avLst/>
          </a:prstGeom>
          <a:noFill/>
          <a:ln/>
        </p:spPr>
        <p:txBody>
          <a:bodyPr wrap="none" lIns="0" tIns="0" rIns="0" bIns="0" rtlCol="0" anchor="ctr"/>
          <a:lstStyle/>
          <a:p>
            <a:pPr marL="0" indent="0" algn="l">
              <a:lnSpc>
                <a:spcPts val="1020"/>
              </a:lnSpc>
              <a:buNone/>
            </a:pPr>
            <a:r>
              <a:rPr lang="en-US" sz="680" dirty="0">
                <a:solidFill>
                  <a:srgbClr val="5A6A7A"/>
                </a:solidFill>
                <a:latin typeface="Calibri" pitchFamily="34" charset="0"/>
                <a:ea typeface="Calibri" pitchFamily="34" charset="-122"/>
                <a:cs typeface="Calibri" pitchFamily="34" charset="-120"/>
              </a:rPr>
              <a:t>Mean &gt; Median confirms right skew</a:t>
            </a:r>
            <a:endParaRPr lang="en-US" sz="680" dirty="0"/>
          </a:p>
        </p:txBody>
      </p:sp>
      <p:sp>
        <p:nvSpPr>
          <p:cNvPr id="66" name="Text 59"/>
          <p:cNvSpPr/>
          <p:nvPr/>
        </p:nvSpPr>
        <p:spPr>
          <a:xfrm>
            <a:off x="6400800" y="2998291"/>
            <a:ext cx="2286000" cy="1859459"/>
          </a:xfrm>
          <a:prstGeom prst="rect">
            <a:avLst/>
          </a:prstGeom>
          <a:solidFill>
            <a:srgbClr val="0B2545">
              <a:alpha val="4000"/>
            </a:srgbClr>
          </a:solidFill>
          <a:ln/>
        </p:spPr>
        <p:txBody>
          <a:bodyPr wrap="square" rtlCol="0" anchor="t"/>
          <a:lstStyle/>
          <a:p>
            <a:pPr marL="0" indent="0">
              <a:buNone/>
            </a:pPr>
            <a:endParaRPr lang="en-US" dirty="0"/>
          </a:p>
        </p:txBody>
      </p:sp>
      <p:sp>
        <p:nvSpPr>
          <p:cNvPr id="67" name="Text 60"/>
          <p:cNvSpPr/>
          <p:nvPr/>
        </p:nvSpPr>
        <p:spPr>
          <a:xfrm>
            <a:off x="6400800" y="2998291"/>
            <a:ext cx="19050" cy="1859459"/>
          </a:xfrm>
          <a:prstGeom prst="rect">
            <a:avLst/>
          </a:prstGeom>
          <a:solidFill>
            <a:srgbClr val="00B4D8"/>
          </a:solidFill>
          <a:ln/>
        </p:spPr>
        <p:txBody>
          <a:bodyPr wrap="square" rtlCol="0" anchor="t"/>
          <a:lstStyle/>
          <a:p>
            <a:pPr marL="0" indent="0">
              <a:buNone/>
            </a:pPr>
            <a:endParaRPr lang="en-US" dirty="0"/>
          </a:p>
        </p:txBody>
      </p:sp>
      <p:pic>
        <p:nvPicPr>
          <p:cNvPr id="6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29769" y="3107466"/>
            <a:ext cx="132588" cy="132588"/>
          </a:xfrm>
          <a:prstGeom prst="rect">
            <a:avLst/>
          </a:prstGeom>
        </p:spPr>
      </p:pic>
      <p:sp>
        <p:nvSpPr>
          <p:cNvPr id="69" name="Text 61"/>
          <p:cNvSpPr/>
          <p:nvPr/>
        </p:nvSpPr>
        <p:spPr>
          <a:xfrm>
            <a:off x="6701284" y="3098602"/>
            <a:ext cx="1028105" cy="150465"/>
          </a:xfrm>
          <a:prstGeom prst="rect">
            <a:avLst/>
          </a:prstGeom>
          <a:noFill/>
          <a:ln/>
        </p:spPr>
        <p:txBody>
          <a:bodyPr wrap="none" lIns="0" tIns="0" rIns="0" bIns="0" rtlCol="0" anchor="ctr"/>
          <a:lstStyle/>
          <a:p>
            <a:pPr marL="0" indent="0" algn="l">
              <a:lnSpc>
                <a:spcPts val="1185"/>
              </a:lnSpc>
              <a:buNone/>
            </a:pPr>
            <a:r>
              <a:rPr lang="en-US" sz="790" b="1" dirty="0">
                <a:solidFill>
                  <a:srgbClr val="0B2545"/>
                </a:solidFill>
                <a:latin typeface="Calibri" pitchFamily="34" charset="0"/>
                <a:ea typeface="Calibri" pitchFamily="34" charset="-122"/>
                <a:cs typeface="Calibri" pitchFamily="34" charset="-120"/>
              </a:rPr>
              <a:t>INTERPRETATION</a:t>
            </a:r>
            <a:endParaRPr lang="en-US" sz="790" dirty="0"/>
          </a:p>
        </p:txBody>
      </p:sp>
      <p:sp>
        <p:nvSpPr>
          <p:cNvPr id="70" name="Text 62"/>
          <p:cNvSpPr/>
          <p:nvPr/>
        </p:nvSpPr>
        <p:spPr>
          <a:xfrm>
            <a:off x="6547991" y="3320058"/>
            <a:ext cx="2050881" cy="1075447"/>
          </a:xfrm>
          <a:prstGeom prst="rect">
            <a:avLst/>
          </a:prstGeom>
          <a:noFill/>
          <a:ln/>
        </p:spPr>
        <p:txBody>
          <a:bodyPr wrap="square" lIns="0" tIns="0" rIns="0" bIns="0" rtlCol="0" anchor="t"/>
          <a:lstStyle/>
          <a:p>
            <a:pPr marL="0" indent="0" algn="l">
              <a:lnSpc>
                <a:spcPts val="1344"/>
              </a:lnSpc>
              <a:buNone/>
            </a:pPr>
            <a:r>
              <a:rPr lang="en-US" sz="840" dirty="0">
                <a:solidFill>
                  <a:srgbClr val="0B2545"/>
                </a:solidFill>
                <a:latin typeface="Calibri" pitchFamily="34" charset="0"/>
                <a:ea typeface="Calibri" pitchFamily="34" charset="-122"/>
                <a:cs typeface="Calibri" pitchFamily="34" charset="-120"/>
              </a:rPr>
              <a:t>The distribution is </a:t>
            </a:r>
            <a:r>
              <a:rPr lang="en-US" sz="840" b="1" dirty="0">
                <a:solidFill>
                  <a:srgbClr val="0B2545"/>
                </a:solidFill>
                <a:latin typeface="Calibri" pitchFamily="34" charset="0"/>
                <a:ea typeface="Calibri" pitchFamily="34" charset="-122"/>
                <a:cs typeface="Calibri" pitchFamily="34" charset="-120"/>
              </a:rPr>
              <a:t>right-skewed</a:t>
            </a:r>
            <a:r>
              <a:rPr lang="en-US" sz="840" dirty="0">
                <a:solidFill>
                  <a:srgbClr val="0B2545"/>
                </a:solidFill>
                <a:latin typeface="Calibri" pitchFamily="34" charset="0"/>
                <a:ea typeface="Calibri" pitchFamily="34" charset="-122"/>
                <a:cs typeface="Calibri" pitchFamily="34" charset="-120"/>
              </a:rPr>
              <a:t> — most listings fall in the lower-to-mid price range while a smaller number of high-priced luxury listings create a long right tail. This confirms price varies widely across Punta Cana listings.</a:t>
            </a:r>
            <a:endParaRPr lang="en-US" sz="840" dirty="0"/>
          </a:p>
        </p:txBody>
      </p:sp>
      <p:pic>
        <p:nvPicPr>
          <p:cNvPr id="72" name="Picture 71">
            <a:extLst>
              <a:ext uri="{FF2B5EF4-FFF2-40B4-BE49-F238E27FC236}">
                <a16:creationId xmlns:a16="http://schemas.microsoft.com/office/drawing/2014/main" id="{5B2CF3A8-AE9E-E61B-9B96-6B21AE2D1687}"/>
              </a:ext>
            </a:extLst>
          </p:cNvPr>
          <p:cNvPicPr>
            <a:picLocks noChangeAspect="1"/>
          </p:cNvPicPr>
          <p:nvPr/>
        </p:nvPicPr>
        <p:blipFill>
          <a:blip r:embed="rId9"/>
          <a:stretch>
            <a:fillRect/>
          </a:stretch>
        </p:blipFill>
        <p:spPr>
          <a:xfrm>
            <a:off x="685686" y="1775222"/>
            <a:ext cx="3648024" cy="30768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2000"/>
          </a:blip>
          <a:srcRect l="37385" r="37385"/>
          <a:stretch/>
        </p:blipFill>
        <p:spPr>
          <a:xfrm>
            <a:off x="6841620" y="-51620"/>
            <a:ext cx="2286000" cy="5143500"/>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471488"/>
            <a:ext cx="150465" cy="150465"/>
          </a:xfrm>
          <a:prstGeom prst="rect">
            <a:avLst/>
          </a:prstGeom>
        </p:spPr>
      </p:pic>
      <p:sp>
        <p:nvSpPr>
          <p:cNvPr id="5" name="Text 1"/>
          <p:cNvSpPr/>
          <p:nvPr/>
        </p:nvSpPr>
        <p:spPr>
          <a:xfrm>
            <a:off x="721965" y="342900"/>
            <a:ext cx="2302380" cy="407640"/>
          </a:xfrm>
          <a:prstGeom prst="rect">
            <a:avLst/>
          </a:prstGeom>
          <a:noFill/>
          <a:ln/>
        </p:spPr>
        <p:txBody>
          <a:bodyPr wrap="none" lIns="0" tIns="0" rIns="0" bIns="0" rtlCol="0" anchor="ctr"/>
          <a:lstStyle/>
          <a:p>
            <a:pPr marL="0" indent="0" algn="l">
              <a:lnSpc>
                <a:spcPts val="3210"/>
              </a:lnSpc>
              <a:buNone/>
            </a:pPr>
            <a:r>
              <a:rPr lang="en-US" sz="2140" b="1" kern="0" spc="-30" dirty="0">
                <a:solidFill>
                  <a:srgbClr val="0B2545"/>
                </a:solidFill>
                <a:latin typeface="Constantia" pitchFamily="34" charset="0"/>
                <a:ea typeface="Constantia" pitchFamily="34" charset="-122"/>
                <a:cs typeface="Constantia" pitchFamily="34" charset="-120"/>
              </a:rPr>
              <a:t>Nightly Rate vs. Bedrooms</a:t>
            </a:r>
            <a:endParaRPr lang="en-US" sz="2140" dirty="0"/>
          </a:p>
        </p:txBody>
      </p:sp>
      <p:sp>
        <p:nvSpPr>
          <p:cNvPr id="6" name="Text 2"/>
          <p:cNvSpPr/>
          <p:nvPr/>
        </p:nvSpPr>
        <p:spPr>
          <a:xfrm>
            <a:off x="772120" y="807690"/>
            <a:ext cx="8706148" cy="159990"/>
          </a:xfrm>
          <a:prstGeom prst="rect">
            <a:avLst/>
          </a:prstGeom>
          <a:noFill/>
          <a:ln/>
        </p:spPr>
        <p:txBody>
          <a:bodyPr wrap="none" lIns="0" tIns="0" rIns="0" bIns="0" rtlCol="0" anchor="t"/>
          <a:lstStyle/>
          <a:p>
            <a:pPr marL="0" indent="0" algn="l">
              <a:lnSpc>
                <a:spcPts val="1260"/>
              </a:lnSpc>
              <a:spcAft>
                <a:spcPts val="1350"/>
              </a:spcAft>
              <a:buNone/>
            </a:pPr>
            <a:r>
              <a:rPr lang="en-US" sz="840" kern="0" spc="20" dirty="0">
                <a:solidFill>
                  <a:srgbClr val="4A5568"/>
                </a:solidFill>
                <a:latin typeface="Calibri" pitchFamily="34" charset="0"/>
                <a:ea typeface="Calibri" pitchFamily="34" charset="-122"/>
                <a:cs typeface="Calibri" pitchFamily="34" charset="-120"/>
              </a:rPr>
              <a:t>Exploratory Visualization — Scatterplot Analysis</a:t>
            </a:r>
            <a:endParaRPr lang="en-US" sz="840" dirty="0"/>
          </a:p>
        </p:txBody>
      </p:sp>
      <p:sp>
        <p:nvSpPr>
          <p:cNvPr id="25" name="Text 20"/>
          <p:cNvSpPr/>
          <p:nvPr/>
        </p:nvSpPr>
        <p:spPr>
          <a:xfrm>
            <a:off x="1076920" y="5888980"/>
            <a:ext cx="826085" cy="129480"/>
          </a:xfrm>
          <a:prstGeom prst="rect">
            <a:avLst/>
          </a:prstGeom>
          <a:noFill/>
          <a:ln/>
        </p:spPr>
        <p:txBody>
          <a:bodyPr wrap="none" lIns="0" tIns="0" rIns="0" bIns="0" rtlCol="0" anchor="t"/>
          <a:lstStyle/>
          <a:p>
            <a:pPr marL="0" indent="0" algn="l">
              <a:lnSpc>
                <a:spcPts val="1020"/>
              </a:lnSpc>
              <a:buNone/>
            </a:pPr>
            <a:r>
              <a:rPr lang="en-US" sz="680" kern="0" spc="60" dirty="0">
                <a:solidFill>
                  <a:srgbClr val="4A5568"/>
                </a:solidFill>
                <a:latin typeface="Calibri" pitchFamily="34" charset="0"/>
                <a:ea typeface="Calibri" pitchFamily="34" charset="-122"/>
                <a:cs typeface="Calibri" pitchFamily="34" charset="-120"/>
              </a:rPr>
              <a:t>CORRELATION</a:t>
            </a:r>
            <a:endParaRPr lang="en-US" sz="680" dirty="0"/>
          </a:p>
        </p:txBody>
      </p:sp>
      <p:sp>
        <p:nvSpPr>
          <p:cNvPr id="26" name="Text 21"/>
          <p:cNvSpPr/>
          <p:nvPr/>
        </p:nvSpPr>
        <p:spPr>
          <a:xfrm>
            <a:off x="1076920" y="6018461"/>
            <a:ext cx="803556" cy="300930"/>
          </a:xfrm>
          <a:prstGeom prst="rect">
            <a:avLst/>
          </a:prstGeom>
          <a:noFill/>
          <a:ln/>
        </p:spPr>
        <p:txBody>
          <a:bodyPr wrap="none" lIns="0" tIns="0" rIns="0" bIns="0" rtlCol="0" anchor="t"/>
          <a:lstStyle/>
          <a:p>
            <a:pPr marL="0" indent="0" algn="l">
              <a:lnSpc>
                <a:spcPts val="2370"/>
              </a:lnSpc>
              <a:buNone/>
            </a:pPr>
            <a:r>
              <a:rPr lang="en-US" sz="1580" b="1" dirty="0">
                <a:solidFill>
                  <a:srgbClr val="00829B"/>
                </a:solidFill>
                <a:latin typeface="Constantia" pitchFamily="34" charset="0"/>
                <a:ea typeface="Constantia" pitchFamily="34" charset="-122"/>
                <a:cs typeface="Constantia" pitchFamily="34" charset="-120"/>
              </a:rPr>
              <a:t>r = 0.639</a:t>
            </a:r>
            <a:endParaRPr lang="en-US" sz="1580" dirty="0"/>
          </a:p>
        </p:txBody>
      </p:sp>
      <p:sp>
        <p:nvSpPr>
          <p:cNvPr id="27" name="Text 22"/>
          <p:cNvSpPr/>
          <p:nvPr/>
        </p:nvSpPr>
        <p:spPr>
          <a:xfrm>
            <a:off x="1076920" y="6319391"/>
            <a:ext cx="826085" cy="139005"/>
          </a:xfrm>
          <a:prstGeom prst="rect">
            <a:avLst/>
          </a:prstGeom>
          <a:noFill/>
          <a:ln/>
        </p:spPr>
        <p:txBody>
          <a:bodyPr wrap="none" lIns="0" tIns="0" rIns="0" bIns="0" rtlCol="0" anchor="t"/>
          <a:lstStyle/>
          <a:p>
            <a:pPr marL="0" indent="0" algn="l">
              <a:lnSpc>
                <a:spcPts val="1095"/>
              </a:lnSpc>
              <a:buNone/>
            </a:pPr>
            <a:r>
              <a:rPr lang="en-US" sz="730" dirty="0">
                <a:solidFill>
                  <a:srgbClr val="4A5568"/>
                </a:solidFill>
                <a:latin typeface="Calibri" pitchFamily="34" charset="0"/>
                <a:ea typeface="Calibri" pitchFamily="34" charset="-122"/>
                <a:cs typeface="Calibri" pitchFamily="34" charset="-120"/>
              </a:rPr>
              <a:t>price–bedrooms</a:t>
            </a:r>
            <a:endParaRPr lang="en-US" sz="730" dirty="0"/>
          </a:p>
        </p:txBody>
      </p:sp>
      <p:pic>
        <p:nvPicPr>
          <p:cNvPr id="29" name="Picture 28">
            <a:extLst>
              <a:ext uri="{FF2B5EF4-FFF2-40B4-BE49-F238E27FC236}">
                <a16:creationId xmlns:a16="http://schemas.microsoft.com/office/drawing/2014/main" id="{7C64B0D2-94EC-ACB4-3064-ABE078DAA02E}"/>
              </a:ext>
            </a:extLst>
          </p:cNvPr>
          <p:cNvPicPr>
            <a:picLocks noChangeAspect="1"/>
          </p:cNvPicPr>
          <p:nvPr/>
        </p:nvPicPr>
        <p:blipFill>
          <a:blip r:embed="rId5"/>
          <a:stretch>
            <a:fillRect/>
          </a:stretch>
        </p:blipFill>
        <p:spPr>
          <a:xfrm>
            <a:off x="721965" y="1090502"/>
            <a:ext cx="4577837" cy="3742638"/>
          </a:xfrm>
          <a:prstGeom prst="rect">
            <a:avLst/>
          </a:prstGeom>
        </p:spPr>
      </p:pic>
      <p:sp>
        <p:nvSpPr>
          <p:cNvPr id="30" name="Text 18">
            <a:extLst>
              <a:ext uri="{FF2B5EF4-FFF2-40B4-BE49-F238E27FC236}">
                <a16:creationId xmlns:a16="http://schemas.microsoft.com/office/drawing/2014/main" id="{5DEFC01C-10F0-EA2E-02D8-1DA6E58A1108}"/>
              </a:ext>
            </a:extLst>
          </p:cNvPr>
          <p:cNvSpPr/>
          <p:nvPr/>
        </p:nvSpPr>
        <p:spPr>
          <a:xfrm>
            <a:off x="7200085" y="1383883"/>
            <a:ext cx="1401906" cy="2512939"/>
          </a:xfrm>
          <a:prstGeom prst="rect">
            <a:avLst/>
          </a:prstGeom>
          <a:solidFill>
            <a:srgbClr val="0B2545">
              <a:alpha val="5000"/>
            </a:srgbClr>
          </a:solidFill>
          <a:ln/>
        </p:spPr>
        <p:txBody>
          <a:bodyPr wrap="square" lIns="171450" tIns="143510" rIns="171450" bIns="143510" rtlCol="0" anchor="t"/>
          <a:lstStyle/>
          <a:p>
            <a:pPr marL="0" indent="0" algn="l">
              <a:buNone/>
            </a:pPr>
            <a:r>
              <a:rPr lang="en-US" sz="840" b="1" kern="0" spc="70" dirty="0">
                <a:solidFill>
                  <a:srgbClr val="0B2545"/>
                </a:solidFill>
                <a:latin typeface="Calibri" pitchFamily="34" charset="0"/>
                <a:ea typeface="Calibri" pitchFamily="34" charset="-122"/>
                <a:cs typeface="Calibri" pitchFamily="34" charset="-120"/>
              </a:rPr>
              <a:t>  INTERPRETATION</a:t>
            </a:r>
            <a:endParaRPr lang="en-US" sz="840" dirty="0"/>
          </a:p>
          <a:p>
            <a:pPr marL="0" indent="0" algn="l">
              <a:buNone/>
            </a:pPr>
            <a:r>
              <a:rPr lang="en-US" sz="900" dirty="0">
                <a:solidFill>
                  <a:srgbClr val="0B2545"/>
                </a:solidFill>
                <a:latin typeface="Calibri" pitchFamily="34" charset="0"/>
                <a:ea typeface="Calibri" pitchFamily="34" charset="-122"/>
                <a:cs typeface="Calibri" pitchFamily="34" charset="-120"/>
              </a:rPr>
              <a:t> </a:t>
            </a:r>
            <a:r>
              <a:rPr lang="en-US" sz="900" b="1" dirty="0">
                <a:solidFill>
                  <a:srgbClr val="0B2545"/>
                </a:solidFill>
                <a:latin typeface="Calibri" pitchFamily="34" charset="0"/>
                <a:ea typeface="Calibri" pitchFamily="34" charset="-122"/>
                <a:cs typeface="Calibri" pitchFamily="34" charset="-120"/>
              </a:rPr>
              <a:t>Positive relationship</a:t>
            </a:r>
            <a:r>
              <a:rPr lang="en-US" sz="900" dirty="0">
                <a:solidFill>
                  <a:srgbClr val="0B2545"/>
                </a:solidFill>
                <a:latin typeface="Calibri" pitchFamily="34" charset="0"/>
                <a:ea typeface="Calibri" pitchFamily="34" charset="-122"/>
                <a:cs typeface="Calibri" pitchFamily="34" charset="-120"/>
              </a:rPr>
              <a:t> — listings with more bedrooms tend to charge higher nightly rates. The fitted regression line reinforces this upward trend, indicating </a:t>
            </a:r>
            <a:r>
              <a:rPr lang="en-US" sz="900" i="1" dirty="0">
                <a:solidFill>
                  <a:srgbClr val="00829B"/>
                </a:solidFill>
                <a:latin typeface="Calibri" pitchFamily="34" charset="0"/>
                <a:ea typeface="Calibri" pitchFamily="34" charset="-122"/>
                <a:cs typeface="Calibri" pitchFamily="34" charset="-120"/>
              </a:rPr>
              <a:t>property size is an important driver of price</a:t>
            </a:r>
            <a:r>
              <a:rPr lang="en-US" sz="900" dirty="0">
                <a:solidFill>
                  <a:srgbClr val="0B2545"/>
                </a:solidFill>
                <a:latin typeface="Calibri" pitchFamily="34" charset="0"/>
                <a:ea typeface="Calibri" pitchFamily="34" charset="-122"/>
                <a:cs typeface="Calibri" pitchFamily="34" charset="-120"/>
              </a:rPr>
              <a:t>.</a:t>
            </a:r>
            <a:endParaRPr lang="en-US" sz="8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400050" y="447824"/>
            <a:ext cx="314920" cy="314920"/>
          </a:xfrm>
          <a:prstGeom prst="roundRect">
            <a:avLst>
              <a:gd name="adj" fmla="val 27423"/>
            </a:avLst>
          </a:prstGeom>
          <a:solidFill>
            <a:srgbClr val="228B22">
              <a:alpha val="8000"/>
            </a:srgbClr>
          </a:solidFill>
          <a:ln w="9525">
            <a:solidFill>
              <a:srgbClr val="228B22">
                <a:alpha val="15000"/>
              </a:srgbClr>
            </a:soli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142" y="538916"/>
            <a:ext cx="132588" cy="132588"/>
          </a:xfrm>
          <a:prstGeom prst="rect">
            <a:avLst/>
          </a:prstGeom>
        </p:spPr>
      </p:pic>
      <p:sp>
        <p:nvSpPr>
          <p:cNvPr id="4" name="Text 1"/>
          <p:cNvSpPr/>
          <p:nvPr/>
        </p:nvSpPr>
        <p:spPr>
          <a:xfrm>
            <a:off x="829270" y="438150"/>
            <a:ext cx="1727314" cy="85725"/>
          </a:xfrm>
          <a:prstGeom prst="rect">
            <a:avLst/>
          </a:prstGeom>
          <a:noFill/>
          <a:ln/>
        </p:spPr>
        <p:txBody>
          <a:bodyPr wrap="none" lIns="0" tIns="0" rIns="0" bIns="0" rtlCol="0" anchor="ctr"/>
          <a:lstStyle/>
          <a:p>
            <a:pPr marL="0" indent="0" algn="l">
              <a:lnSpc>
                <a:spcPts val="930"/>
              </a:lnSpc>
              <a:buNone/>
            </a:pPr>
            <a:r>
              <a:rPr lang="en-US" sz="620" b="1" dirty="0">
                <a:solidFill>
                  <a:srgbClr val="228B22"/>
                </a:solidFill>
                <a:latin typeface="Calibri" pitchFamily="34" charset="0"/>
                <a:ea typeface="Calibri" pitchFamily="34" charset="-122"/>
                <a:cs typeface="Calibri" pitchFamily="34" charset="-120"/>
              </a:rPr>
              <a:t>EXPLORATORY DATA ANALYSIS</a:t>
            </a:r>
            <a:endParaRPr lang="en-US" sz="620" dirty="0"/>
          </a:p>
        </p:txBody>
      </p:sp>
      <p:sp>
        <p:nvSpPr>
          <p:cNvPr id="5" name="Text 2"/>
          <p:cNvSpPr/>
          <p:nvPr/>
        </p:nvSpPr>
        <p:spPr>
          <a:xfrm>
            <a:off x="829270" y="571500"/>
            <a:ext cx="1795181" cy="296317"/>
          </a:xfrm>
          <a:prstGeom prst="rect">
            <a:avLst/>
          </a:prstGeom>
          <a:noFill/>
          <a:ln/>
        </p:spPr>
        <p:txBody>
          <a:bodyPr wrap="none" lIns="0" tIns="0" rIns="0" bIns="0" rtlCol="0" anchor="ctr"/>
          <a:lstStyle/>
          <a:p>
            <a:pPr marL="0" indent="0" algn="l">
              <a:lnSpc>
                <a:spcPts val="2335"/>
              </a:lnSpc>
              <a:buNone/>
            </a:pPr>
            <a:r>
              <a:rPr lang="en-US" sz="2030" b="1" kern="0" spc="-30" dirty="0">
                <a:solidFill>
                  <a:srgbClr val="1A2332"/>
                </a:solidFill>
                <a:latin typeface="Constantia" pitchFamily="34" charset="0"/>
                <a:ea typeface="Constantia" pitchFamily="34" charset="-122"/>
                <a:cs typeface="Constantia" pitchFamily="34" charset="-120"/>
              </a:rPr>
              <a:t>Price vs. Guests</a:t>
            </a:r>
            <a:endParaRPr lang="en-US" sz="2030" dirty="0"/>
          </a:p>
        </p:txBody>
      </p:sp>
      <p:sp>
        <p:nvSpPr>
          <p:cNvPr id="6" name="Text 3"/>
          <p:cNvSpPr/>
          <p:nvPr/>
        </p:nvSpPr>
        <p:spPr>
          <a:xfrm>
            <a:off x="7929711" y="545604"/>
            <a:ext cx="814239" cy="189905"/>
          </a:xfrm>
          <a:prstGeom prst="roundRect">
            <a:avLst>
              <a:gd name="adj" fmla="val 75570"/>
            </a:avLst>
          </a:prstGeom>
          <a:solidFill>
            <a:srgbClr val="228B22">
              <a:alpha val="15000"/>
            </a:srgbClr>
          </a:solidFill>
          <a:ln/>
        </p:spPr>
        <p:txBody>
          <a:bodyPr wrap="none" lIns="0" tIns="0" rIns="0" bIns="0" rtlCol="0" anchor="ctr"/>
          <a:lstStyle/>
          <a:p>
            <a:pPr marL="0" indent="0" algn="ctr">
              <a:buNone/>
            </a:pPr>
            <a:r>
              <a:rPr lang="en-US" sz="680" b="1" dirty="0">
                <a:solidFill>
                  <a:srgbClr val="228B22"/>
                </a:solidFill>
                <a:latin typeface="Calibri" pitchFamily="34" charset="0"/>
                <a:ea typeface="Calibri" pitchFamily="34" charset="-122"/>
                <a:cs typeface="Calibri" pitchFamily="34" charset="-120"/>
              </a:rPr>
              <a:t>SCATTERPLOT</a:t>
            </a:r>
            <a:endParaRPr lang="en-US" sz="680" dirty="0"/>
          </a:p>
        </p:txBody>
      </p:sp>
      <p:sp>
        <p:nvSpPr>
          <p:cNvPr id="82" name="Text 78"/>
          <p:cNvSpPr/>
          <p:nvPr/>
        </p:nvSpPr>
        <p:spPr>
          <a:xfrm>
            <a:off x="713780" y="4356199"/>
            <a:ext cx="52879" cy="129480"/>
          </a:xfrm>
          <a:prstGeom prst="rect">
            <a:avLst/>
          </a:prstGeom>
          <a:noFill/>
          <a:ln/>
        </p:spPr>
        <p:txBody>
          <a:bodyPr wrap="none" lIns="0" tIns="0" rIns="0" bIns="0" rtlCol="0" anchor="ctr"/>
          <a:lstStyle/>
          <a:p>
            <a:pPr marL="0" indent="0" algn="l">
              <a:lnSpc>
                <a:spcPts val="1020"/>
              </a:lnSpc>
              <a:buNone/>
            </a:pPr>
            <a:endParaRPr lang="en-US" sz="680" dirty="0"/>
          </a:p>
        </p:txBody>
      </p:sp>
      <p:sp>
        <p:nvSpPr>
          <p:cNvPr id="92" name="Text 87"/>
          <p:cNvSpPr/>
          <p:nvPr/>
        </p:nvSpPr>
        <p:spPr>
          <a:xfrm>
            <a:off x="5913090" y="1068437"/>
            <a:ext cx="2830860" cy="1183928"/>
          </a:xfrm>
          <a:prstGeom prst="rect">
            <a:avLst/>
          </a:prstGeom>
          <a:solidFill>
            <a:srgbClr val="FFFFFF"/>
          </a:solidFill>
          <a:ln/>
          <a:effectLst>
            <a:outerShdw blurRad="86360" dist="13970" dir="5400000" algn="bl" rotWithShape="0">
              <a:srgbClr val="000000">
                <a:alpha val="6000"/>
              </a:srgbClr>
            </a:outerShdw>
          </a:effectLst>
        </p:spPr>
        <p:txBody>
          <a:bodyPr wrap="square" rtlCol="0" anchor="t"/>
          <a:lstStyle/>
          <a:p>
            <a:pPr marL="0" indent="0">
              <a:buNone/>
            </a:pPr>
            <a:endParaRPr lang="en-US" dirty="0"/>
          </a:p>
        </p:txBody>
      </p:sp>
      <p:sp>
        <p:nvSpPr>
          <p:cNvPr id="93" name="Text 88"/>
          <p:cNvSpPr/>
          <p:nvPr/>
        </p:nvSpPr>
        <p:spPr>
          <a:xfrm>
            <a:off x="5913090" y="1068437"/>
            <a:ext cx="28575" cy="1183928"/>
          </a:xfrm>
          <a:prstGeom prst="rect">
            <a:avLst/>
          </a:prstGeom>
          <a:solidFill>
            <a:srgbClr val="228B22"/>
          </a:solidFill>
          <a:ln/>
        </p:spPr>
        <p:txBody>
          <a:bodyPr wrap="square" rtlCol="0" anchor="t"/>
          <a:lstStyle/>
          <a:p>
            <a:pPr marL="0" indent="0">
              <a:buNone/>
            </a:pPr>
            <a:endParaRPr lang="en-US" dirty="0"/>
          </a:p>
        </p:txBody>
      </p:sp>
      <p:sp>
        <p:nvSpPr>
          <p:cNvPr id="94" name="Text 89"/>
          <p:cNvSpPr/>
          <p:nvPr/>
        </p:nvSpPr>
        <p:spPr>
          <a:xfrm>
            <a:off x="6113115" y="1239887"/>
            <a:ext cx="228600" cy="228600"/>
          </a:xfrm>
          <a:prstGeom prst="roundRect">
            <a:avLst>
              <a:gd name="adj" fmla="val 25000"/>
            </a:avLst>
          </a:prstGeom>
          <a:solidFill>
            <a:srgbClr val="228B22">
              <a:alpha val="8000"/>
            </a:srgbClr>
          </a:solidFill>
          <a:ln/>
        </p:spPr>
        <p:txBody>
          <a:bodyPr wrap="none" rtlCol="0" anchor="t"/>
          <a:lstStyle/>
          <a:p>
            <a:pPr marL="0" indent="0">
              <a:buNone/>
            </a:pPr>
            <a:endParaRPr lang="en-US" dirty="0"/>
          </a:p>
        </p:txBody>
      </p:sp>
      <p:pic>
        <p:nvPicPr>
          <p:cNvPr id="95"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1121" y="1287893"/>
            <a:ext cx="132588" cy="132588"/>
          </a:xfrm>
          <a:prstGeom prst="rect">
            <a:avLst/>
          </a:prstGeom>
        </p:spPr>
      </p:pic>
      <p:sp>
        <p:nvSpPr>
          <p:cNvPr id="96" name="Text 90"/>
          <p:cNvSpPr/>
          <p:nvPr/>
        </p:nvSpPr>
        <p:spPr>
          <a:xfrm>
            <a:off x="6412706" y="1268462"/>
            <a:ext cx="625376" cy="171450"/>
          </a:xfrm>
          <a:prstGeom prst="rect">
            <a:avLst/>
          </a:prstGeom>
          <a:noFill/>
          <a:ln/>
        </p:spPr>
        <p:txBody>
          <a:bodyPr wrap="none" lIns="0" tIns="0" rIns="0" bIns="0" rtlCol="0" anchor="ctr"/>
          <a:lstStyle/>
          <a:p>
            <a:pPr marL="0" indent="0" algn="l">
              <a:lnSpc>
                <a:spcPts val="1350"/>
              </a:lnSpc>
              <a:buNone/>
            </a:pPr>
            <a:r>
              <a:rPr lang="en-US" sz="900" b="1" dirty="0">
                <a:solidFill>
                  <a:srgbClr val="1A2332"/>
                </a:solidFill>
                <a:latin typeface="Constantia" pitchFamily="34" charset="0"/>
                <a:ea typeface="Constantia" pitchFamily="34" charset="-122"/>
                <a:cs typeface="Constantia" pitchFamily="34" charset="-120"/>
              </a:rPr>
              <a:t>Key Insight</a:t>
            </a:r>
            <a:endParaRPr lang="en-US" sz="900" dirty="0"/>
          </a:p>
        </p:txBody>
      </p:sp>
      <p:sp>
        <p:nvSpPr>
          <p:cNvPr id="97" name="Text 91"/>
          <p:cNvSpPr/>
          <p:nvPr/>
        </p:nvSpPr>
        <p:spPr>
          <a:xfrm>
            <a:off x="6113115" y="1568797"/>
            <a:ext cx="2508572" cy="537723"/>
          </a:xfrm>
          <a:prstGeom prst="rect">
            <a:avLst/>
          </a:prstGeom>
          <a:noFill/>
          <a:ln/>
        </p:spPr>
        <p:txBody>
          <a:bodyPr wrap="square" lIns="0" tIns="0" rIns="0" bIns="0" rtlCol="0" anchor="t"/>
          <a:lstStyle/>
          <a:p>
            <a:pPr marL="0" indent="0" algn="l">
              <a:lnSpc>
                <a:spcPts val="1344"/>
              </a:lnSpc>
              <a:buNone/>
            </a:pPr>
            <a:r>
              <a:rPr lang="en-US" sz="840" dirty="0">
                <a:solidFill>
                  <a:srgbClr val="1A2332"/>
                </a:solidFill>
                <a:latin typeface="Calibri" pitchFamily="34" charset="0"/>
                <a:ea typeface="Calibri" pitchFamily="34" charset="-122"/>
                <a:cs typeface="Calibri" pitchFamily="34" charset="-120"/>
              </a:rPr>
              <a:t>Listings accommodating more guests generally have </a:t>
            </a:r>
            <a:r>
              <a:rPr lang="en-US" sz="840" b="1" dirty="0">
                <a:solidFill>
                  <a:srgbClr val="228B22"/>
                </a:solidFill>
                <a:latin typeface="Calibri" pitchFamily="34" charset="0"/>
                <a:ea typeface="Calibri" pitchFamily="34" charset="-122"/>
                <a:cs typeface="Calibri" pitchFamily="34" charset="-120"/>
              </a:rPr>
              <a:t>higher nightly prices</a:t>
            </a:r>
            <a:r>
              <a:rPr lang="en-US" sz="840" dirty="0">
                <a:solidFill>
                  <a:srgbClr val="1A2332"/>
                </a:solidFill>
                <a:latin typeface="Calibri" pitchFamily="34" charset="0"/>
                <a:ea typeface="Calibri" pitchFamily="34" charset="-122"/>
                <a:cs typeface="Calibri" pitchFamily="34" charset="-120"/>
              </a:rPr>
              <a:t>. The fitted line shows a clear upward trend.</a:t>
            </a:r>
            <a:endParaRPr lang="en-US" sz="840" dirty="0"/>
          </a:p>
        </p:txBody>
      </p:sp>
      <p:sp>
        <p:nvSpPr>
          <p:cNvPr id="98" name="Text 92"/>
          <p:cNvSpPr/>
          <p:nvPr/>
        </p:nvSpPr>
        <p:spPr>
          <a:xfrm>
            <a:off x="5913090" y="2395835"/>
            <a:ext cx="2830860" cy="2005905"/>
          </a:xfrm>
          <a:prstGeom prst="roundRect">
            <a:avLst>
              <a:gd name="adj" fmla="val 4305"/>
            </a:avLst>
          </a:prstGeom>
          <a:solidFill>
            <a:srgbClr val="FFFFFF"/>
          </a:solidFill>
          <a:ln/>
          <a:effectLst>
            <a:outerShdw blurRad="86360" dist="13970" dir="5400000" algn="bl" rotWithShape="0">
              <a:srgbClr val="000000">
                <a:alpha val="6000"/>
              </a:srgbClr>
            </a:outerShdw>
          </a:effectLst>
        </p:spPr>
        <p:txBody>
          <a:bodyPr wrap="square" rtlCol="0" anchor="t"/>
          <a:lstStyle/>
          <a:p>
            <a:pPr marL="0" indent="0">
              <a:buNone/>
            </a:pPr>
            <a:endParaRPr lang="en-US" dirty="0"/>
          </a:p>
        </p:txBody>
      </p:sp>
      <p:sp>
        <p:nvSpPr>
          <p:cNvPr id="99" name="Text 93"/>
          <p:cNvSpPr/>
          <p:nvPr/>
        </p:nvSpPr>
        <p:spPr>
          <a:xfrm>
            <a:off x="6084540" y="2553295"/>
            <a:ext cx="2736756" cy="159990"/>
          </a:xfrm>
          <a:prstGeom prst="rect">
            <a:avLst/>
          </a:prstGeom>
          <a:noFill/>
          <a:ln/>
        </p:spPr>
        <p:txBody>
          <a:bodyPr wrap="none" lIns="0" tIns="0" rIns="0" bIns="0" rtlCol="0" anchor="t"/>
          <a:lstStyle/>
          <a:p>
            <a:pPr marL="0" indent="0" algn="l">
              <a:lnSpc>
                <a:spcPts val="1260"/>
              </a:lnSpc>
              <a:spcAft>
                <a:spcPts val="900"/>
              </a:spcAft>
              <a:buNone/>
            </a:pPr>
            <a:r>
              <a:rPr lang="en-US" sz="840" b="1" dirty="0">
                <a:solidFill>
                  <a:srgbClr val="1A2332"/>
                </a:solidFill>
                <a:latin typeface="Constantia" pitchFamily="34" charset="0"/>
                <a:ea typeface="Constantia" pitchFamily="34" charset="-122"/>
                <a:cs typeface="Constantia" pitchFamily="34" charset="-120"/>
              </a:rPr>
              <a:t>Why This Matters</a:t>
            </a:r>
            <a:endParaRPr lang="en-US" sz="840" dirty="0"/>
          </a:p>
        </p:txBody>
      </p:sp>
      <p:sp>
        <p:nvSpPr>
          <p:cNvPr id="100" name="Text 94"/>
          <p:cNvSpPr/>
          <p:nvPr/>
        </p:nvSpPr>
        <p:spPr>
          <a:xfrm>
            <a:off x="6084540" y="2835176"/>
            <a:ext cx="200620" cy="200620"/>
          </a:xfrm>
          <a:prstGeom prst="ellipse">
            <a:avLst/>
          </a:prstGeom>
          <a:solidFill>
            <a:srgbClr val="228B22">
              <a:alpha val="15000"/>
            </a:srgbClr>
          </a:solidFill>
          <a:ln/>
        </p:spPr>
        <p:txBody>
          <a:bodyPr wrap="none" rtlCol="0" anchor="t"/>
          <a:lstStyle/>
          <a:p>
            <a:pPr marL="0" indent="0">
              <a:buNone/>
            </a:pPr>
            <a:endParaRPr lang="en-US" dirty="0"/>
          </a:p>
        </p:txBody>
      </p:sp>
      <p:pic>
        <p:nvPicPr>
          <p:cNvPr id="101"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18482" y="2869118"/>
            <a:ext cx="132588" cy="132588"/>
          </a:xfrm>
          <a:prstGeom prst="rect">
            <a:avLst/>
          </a:prstGeom>
        </p:spPr>
      </p:pic>
      <p:sp>
        <p:nvSpPr>
          <p:cNvPr id="102" name="Text 95"/>
          <p:cNvSpPr/>
          <p:nvPr/>
        </p:nvSpPr>
        <p:spPr>
          <a:xfrm>
            <a:off x="6371481" y="2827586"/>
            <a:ext cx="2245040" cy="326291"/>
          </a:xfrm>
          <a:prstGeom prst="rect">
            <a:avLst/>
          </a:prstGeom>
          <a:noFill/>
          <a:ln/>
        </p:spPr>
        <p:txBody>
          <a:bodyPr wrap="square" lIns="0" tIns="0" rIns="0" bIns="0" rtlCol="0" anchor="t"/>
          <a:lstStyle/>
          <a:p>
            <a:pPr marL="0" indent="0" algn="l">
              <a:lnSpc>
                <a:spcPts val="1225"/>
              </a:lnSpc>
              <a:buNone/>
            </a:pPr>
            <a:r>
              <a:rPr lang="en-US" sz="790" dirty="0">
                <a:solidFill>
                  <a:srgbClr val="5A6677"/>
                </a:solidFill>
                <a:latin typeface="Calibri" pitchFamily="34" charset="0"/>
                <a:ea typeface="Calibri" pitchFamily="34" charset="-122"/>
                <a:cs typeface="Calibri" pitchFamily="34" charset="-120"/>
              </a:rPr>
              <a:t>Higher guest capacity usually corresponds to </a:t>
            </a:r>
            <a:r>
              <a:rPr lang="en-US" sz="790" b="1" dirty="0">
                <a:solidFill>
                  <a:srgbClr val="1A2332"/>
                </a:solidFill>
                <a:latin typeface="Calibri" pitchFamily="34" charset="0"/>
                <a:ea typeface="Calibri" pitchFamily="34" charset="-122"/>
                <a:cs typeface="Calibri" pitchFamily="34" charset="-120"/>
              </a:rPr>
              <a:t>larger or more desirable</a:t>
            </a:r>
            <a:r>
              <a:rPr lang="en-US" sz="790" dirty="0">
                <a:solidFill>
                  <a:srgbClr val="5A6677"/>
                </a:solidFill>
                <a:latin typeface="Calibri" pitchFamily="34" charset="0"/>
                <a:ea typeface="Calibri" pitchFamily="34" charset="-122"/>
                <a:cs typeface="Calibri" pitchFamily="34" charset="-120"/>
              </a:rPr>
              <a:t> properties.</a:t>
            </a:r>
            <a:endParaRPr lang="en-US" sz="790" dirty="0"/>
          </a:p>
        </p:txBody>
      </p:sp>
      <p:sp>
        <p:nvSpPr>
          <p:cNvPr id="103" name="Text 96"/>
          <p:cNvSpPr/>
          <p:nvPr/>
        </p:nvSpPr>
        <p:spPr>
          <a:xfrm>
            <a:off x="6084540" y="3246239"/>
            <a:ext cx="200620" cy="200620"/>
          </a:xfrm>
          <a:prstGeom prst="ellipse">
            <a:avLst/>
          </a:prstGeom>
          <a:solidFill>
            <a:srgbClr val="228B22">
              <a:alpha val="15000"/>
            </a:srgbClr>
          </a:solidFill>
          <a:ln/>
        </p:spPr>
        <p:txBody>
          <a:bodyPr wrap="none" rtlCol="0" anchor="t"/>
          <a:lstStyle/>
          <a:p>
            <a:pPr marL="0" indent="0">
              <a:buNone/>
            </a:pPr>
            <a:endParaRPr lang="en-US" dirty="0"/>
          </a:p>
        </p:txBody>
      </p:sp>
      <p:pic>
        <p:nvPicPr>
          <p:cNvPr id="104"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18482" y="3280181"/>
            <a:ext cx="132588" cy="132588"/>
          </a:xfrm>
          <a:prstGeom prst="rect">
            <a:avLst/>
          </a:prstGeom>
        </p:spPr>
      </p:pic>
      <p:sp>
        <p:nvSpPr>
          <p:cNvPr id="105" name="Text 97"/>
          <p:cNvSpPr/>
          <p:nvPr/>
        </p:nvSpPr>
        <p:spPr>
          <a:xfrm>
            <a:off x="6371481" y="3238649"/>
            <a:ext cx="2245040" cy="326291"/>
          </a:xfrm>
          <a:prstGeom prst="rect">
            <a:avLst/>
          </a:prstGeom>
          <a:noFill/>
          <a:ln/>
        </p:spPr>
        <p:txBody>
          <a:bodyPr wrap="square" lIns="0" tIns="0" rIns="0" bIns="0" rtlCol="0" anchor="t"/>
          <a:lstStyle/>
          <a:p>
            <a:pPr marL="0" indent="0" algn="l">
              <a:lnSpc>
                <a:spcPts val="1225"/>
              </a:lnSpc>
              <a:buNone/>
            </a:pPr>
            <a:r>
              <a:rPr lang="en-US" sz="790" dirty="0">
                <a:solidFill>
                  <a:srgbClr val="5A6677"/>
                </a:solidFill>
                <a:latin typeface="Calibri" pitchFamily="34" charset="0"/>
                <a:ea typeface="Calibri" pitchFamily="34" charset="-122"/>
                <a:cs typeface="Calibri" pitchFamily="34" charset="-120"/>
              </a:rPr>
              <a:t>Guest capacity is a </a:t>
            </a:r>
            <a:r>
              <a:rPr lang="en-US" sz="790" b="1" dirty="0">
                <a:solidFill>
                  <a:srgbClr val="1A2332"/>
                </a:solidFill>
                <a:latin typeface="Calibri" pitchFamily="34" charset="0"/>
                <a:ea typeface="Calibri" pitchFamily="34" charset="-122"/>
                <a:cs typeface="Calibri" pitchFamily="34" charset="-120"/>
              </a:rPr>
              <a:t>key predictor</a:t>
            </a:r>
            <a:r>
              <a:rPr lang="en-US" sz="790" dirty="0">
                <a:solidFill>
                  <a:srgbClr val="5A6677"/>
                </a:solidFill>
                <a:latin typeface="Calibri" pitchFamily="34" charset="0"/>
                <a:ea typeface="Calibri" pitchFamily="34" charset="-122"/>
                <a:cs typeface="Calibri" pitchFamily="34" charset="-120"/>
              </a:rPr>
              <a:t> of nightly rate, with correlation </a:t>
            </a:r>
            <a:r>
              <a:rPr lang="en-US" sz="790" b="1" dirty="0">
                <a:solidFill>
                  <a:srgbClr val="1A2332"/>
                </a:solidFill>
                <a:latin typeface="Calibri" pitchFamily="34" charset="0"/>
                <a:ea typeface="Calibri" pitchFamily="34" charset="-122"/>
                <a:cs typeface="Calibri" pitchFamily="34" charset="-120"/>
              </a:rPr>
              <a:t>r = 0.639</a:t>
            </a:r>
            <a:r>
              <a:rPr lang="en-US" sz="790" dirty="0">
                <a:solidFill>
                  <a:srgbClr val="5A6677"/>
                </a:solidFill>
                <a:latin typeface="Calibri" pitchFamily="34" charset="0"/>
                <a:ea typeface="Calibri" pitchFamily="34" charset="-122"/>
                <a:cs typeface="Calibri" pitchFamily="34" charset="-120"/>
              </a:rPr>
              <a:t>.</a:t>
            </a:r>
            <a:endParaRPr lang="en-US" sz="790" dirty="0"/>
          </a:p>
        </p:txBody>
      </p:sp>
      <p:sp>
        <p:nvSpPr>
          <p:cNvPr id="106" name="Text 98"/>
          <p:cNvSpPr/>
          <p:nvPr/>
        </p:nvSpPr>
        <p:spPr>
          <a:xfrm>
            <a:off x="6084540" y="3657302"/>
            <a:ext cx="200620" cy="200620"/>
          </a:xfrm>
          <a:prstGeom prst="ellipse">
            <a:avLst/>
          </a:prstGeom>
          <a:solidFill>
            <a:srgbClr val="228B22">
              <a:alpha val="15000"/>
            </a:srgbClr>
          </a:solidFill>
          <a:ln/>
        </p:spPr>
        <p:txBody>
          <a:bodyPr wrap="none" rtlCol="0" anchor="t"/>
          <a:lstStyle/>
          <a:p>
            <a:pPr marL="0" indent="0">
              <a:buNone/>
            </a:pPr>
            <a:endParaRPr lang="en-US" dirty="0"/>
          </a:p>
        </p:txBody>
      </p:sp>
      <p:pic>
        <p:nvPicPr>
          <p:cNvPr id="107"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18482" y="3691244"/>
            <a:ext cx="132588" cy="132588"/>
          </a:xfrm>
          <a:prstGeom prst="rect">
            <a:avLst/>
          </a:prstGeom>
        </p:spPr>
      </p:pic>
      <p:sp>
        <p:nvSpPr>
          <p:cNvPr id="108" name="Text 99"/>
          <p:cNvSpPr/>
          <p:nvPr/>
        </p:nvSpPr>
        <p:spPr>
          <a:xfrm>
            <a:off x="6371481" y="3649712"/>
            <a:ext cx="2245040" cy="326291"/>
          </a:xfrm>
          <a:prstGeom prst="rect">
            <a:avLst/>
          </a:prstGeom>
          <a:noFill/>
          <a:ln/>
        </p:spPr>
        <p:txBody>
          <a:bodyPr wrap="square" lIns="0" tIns="0" rIns="0" bIns="0" rtlCol="0" anchor="t"/>
          <a:lstStyle/>
          <a:p>
            <a:pPr marL="0" indent="0" algn="l">
              <a:lnSpc>
                <a:spcPts val="1225"/>
              </a:lnSpc>
              <a:buNone/>
            </a:pPr>
            <a:r>
              <a:rPr lang="en-US" sz="790" dirty="0">
                <a:solidFill>
                  <a:srgbClr val="5A6677"/>
                </a:solidFill>
                <a:latin typeface="Calibri" pitchFamily="34" charset="0"/>
                <a:ea typeface="Calibri" pitchFamily="34" charset="-122"/>
                <a:cs typeface="Calibri" pitchFamily="34" charset="-120"/>
              </a:rPr>
              <a:t>Variance increases at higher guest counts — luxury outliers widen the spread.</a:t>
            </a:r>
            <a:endParaRPr lang="en-US" sz="790" dirty="0"/>
          </a:p>
        </p:txBody>
      </p:sp>
      <p:pic>
        <p:nvPicPr>
          <p:cNvPr id="165" name="Picture 164">
            <a:extLst>
              <a:ext uri="{FF2B5EF4-FFF2-40B4-BE49-F238E27FC236}">
                <a16:creationId xmlns:a16="http://schemas.microsoft.com/office/drawing/2014/main" id="{CDB99A56-880F-9939-0DD6-2B11691C6972}"/>
              </a:ext>
            </a:extLst>
          </p:cNvPr>
          <p:cNvPicPr>
            <a:picLocks noChangeAspect="1"/>
          </p:cNvPicPr>
          <p:nvPr/>
        </p:nvPicPr>
        <p:blipFill>
          <a:blip r:embed="rId8"/>
          <a:stretch>
            <a:fillRect/>
          </a:stretch>
        </p:blipFill>
        <p:spPr>
          <a:xfrm>
            <a:off x="432623" y="1033070"/>
            <a:ext cx="4337076" cy="33686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807" b="807"/>
          <a:stretch/>
        </p:blipFill>
        <p:spPr>
          <a:xfrm>
            <a:off x="0" y="0"/>
            <a:ext cx="9144000" cy="5143500"/>
          </a:xfrm>
          <a:prstGeom prst="rect">
            <a:avLst/>
          </a:prstGeom>
        </p:spPr>
      </p:pic>
      <p:sp>
        <p:nvSpPr>
          <p:cNvPr id="3" name="Text 0"/>
          <p:cNvSpPr/>
          <p:nvPr/>
        </p:nvSpPr>
        <p:spPr>
          <a:xfrm>
            <a:off x="0" y="0"/>
            <a:ext cx="9144000" cy="5143500"/>
          </a:xfrm>
          <a:prstGeom prst="rect">
            <a:avLst/>
          </a:prstGeom>
          <a:gradFill rotWithShape="1">
            <a:gsLst>
              <a:gs pos="0">
                <a:srgbClr val="F5F0E8">
                  <a:alpha val="96000"/>
                </a:srgbClr>
              </a:gs>
              <a:gs pos="60000">
                <a:srgbClr val="F5F0E8">
                  <a:alpha val="94000"/>
                </a:srgbClr>
              </a:gs>
              <a:gs pos="100000">
                <a:srgbClr val="F5F0E8">
                  <a:alpha val="90000"/>
                </a:srgbClr>
              </a:gs>
            </a:gsLst>
            <a:lin ang="2700000" scaled="1"/>
          </a:gradFill>
          <a:ln/>
        </p:spPr>
        <p:txBody>
          <a:bodyPr wrap="square" rtlCol="0" anchor="t"/>
          <a:lstStyle/>
          <a:p>
            <a:pPr marL="0" indent="0">
              <a:buNone/>
            </a:pPr>
            <a:endParaRPr lang="en-US" dirty="0"/>
          </a:p>
        </p:txBody>
      </p:sp>
      <p:sp>
        <p:nvSpPr>
          <p:cNvPr id="4" name="Text 1"/>
          <p:cNvSpPr/>
          <p:nvPr/>
        </p:nvSpPr>
        <p:spPr>
          <a:xfrm>
            <a:off x="457200" y="342900"/>
            <a:ext cx="29170" cy="257770"/>
          </a:xfrm>
          <a:prstGeom prst="roundRect">
            <a:avLst>
              <a:gd name="adj" fmla="val 47892"/>
            </a:avLst>
          </a:prstGeom>
          <a:solidFill>
            <a:srgbClr val="00839E"/>
          </a:solidFill>
          <a:ln/>
        </p:spPr>
        <p:txBody>
          <a:bodyPr wrap="none" rtlCol="0" anchor="t"/>
          <a:lstStyle/>
          <a:p>
            <a:pPr marL="0" indent="0">
              <a:buNone/>
            </a:pPr>
            <a:endParaRPr lang="en-US" dirty="0"/>
          </a:p>
        </p:txBody>
      </p:sp>
      <p:sp>
        <p:nvSpPr>
          <p:cNvPr id="5" name="Text 2"/>
          <p:cNvSpPr/>
          <p:nvPr/>
        </p:nvSpPr>
        <p:spPr>
          <a:xfrm>
            <a:off x="572691" y="396478"/>
            <a:ext cx="2305869" cy="150465"/>
          </a:xfrm>
          <a:prstGeom prst="rect">
            <a:avLst/>
          </a:prstGeom>
          <a:noFill/>
          <a:ln/>
        </p:spPr>
        <p:txBody>
          <a:bodyPr wrap="none" lIns="0" tIns="0" rIns="0" bIns="0" rtlCol="0" anchor="ctr"/>
          <a:lstStyle/>
          <a:p>
            <a:pPr marL="0" indent="0" algn="l">
              <a:lnSpc>
                <a:spcPts val="1185"/>
              </a:lnSpc>
              <a:buNone/>
            </a:pPr>
            <a:r>
              <a:rPr lang="en-US" sz="790" b="1" dirty="0">
                <a:solidFill>
                  <a:srgbClr val="00839E"/>
                </a:solidFill>
                <a:latin typeface="Calibri" pitchFamily="34" charset="0"/>
                <a:ea typeface="Calibri" pitchFamily="34" charset="-122"/>
                <a:cs typeface="Calibri" pitchFamily="34" charset="-120"/>
              </a:rPr>
              <a:t>EXPLORATORY DATA ANALYSIS</a:t>
            </a:r>
            <a:endParaRPr lang="en-US" sz="790" dirty="0"/>
          </a:p>
        </p:txBody>
      </p:sp>
      <p:sp>
        <p:nvSpPr>
          <p:cNvPr id="6" name="Text 3"/>
          <p:cNvSpPr/>
          <p:nvPr/>
        </p:nvSpPr>
        <p:spPr>
          <a:xfrm>
            <a:off x="457200" y="643830"/>
            <a:ext cx="8805672" cy="344686"/>
          </a:xfrm>
          <a:prstGeom prst="rect">
            <a:avLst/>
          </a:prstGeom>
          <a:noFill/>
          <a:ln/>
        </p:spPr>
        <p:txBody>
          <a:bodyPr wrap="none" lIns="0" tIns="0" rIns="0" bIns="0" rtlCol="0" anchor="t"/>
          <a:lstStyle/>
          <a:p>
            <a:pPr marL="0" indent="0" algn="l">
              <a:lnSpc>
                <a:spcPts val="2714"/>
              </a:lnSpc>
              <a:buNone/>
            </a:pPr>
            <a:r>
              <a:rPr lang="en-US" sz="2360" b="1" kern="0" spc="-30" dirty="0">
                <a:solidFill>
                  <a:srgbClr val="0B2545"/>
                </a:solidFill>
                <a:latin typeface="Constantia" pitchFamily="34" charset="0"/>
                <a:ea typeface="Constantia" pitchFamily="34" charset="-122"/>
                <a:cs typeface="Constantia" pitchFamily="34" charset="-120"/>
              </a:rPr>
              <a:t>Nightly Rate vs. Bathrooms</a:t>
            </a:r>
            <a:endParaRPr lang="en-US" sz="2360" dirty="0"/>
          </a:p>
        </p:txBody>
      </p:sp>
      <p:sp>
        <p:nvSpPr>
          <p:cNvPr id="17" name="Text 12"/>
          <p:cNvSpPr/>
          <p:nvPr/>
        </p:nvSpPr>
        <p:spPr>
          <a:xfrm>
            <a:off x="5677346" y="1409998"/>
            <a:ext cx="372070" cy="372070"/>
          </a:xfrm>
          <a:prstGeom prst="roundRect">
            <a:avLst>
              <a:gd name="adj" fmla="val 26965"/>
            </a:avLst>
          </a:prstGeom>
          <a:solidFill>
            <a:srgbClr val="00839E">
              <a:alpha val="10000"/>
            </a:srgbClr>
          </a:solidFill>
          <a:ln w="9525">
            <a:solidFill>
              <a:srgbClr val="00839E">
                <a:alpha val="20000"/>
              </a:srgbClr>
            </a:solidFill>
          </a:ln>
        </p:spPr>
        <p:txBody>
          <a:bodyPr wrap="square" rtlCol="0" anchor="t"/>
          <a:lstStyle/>
          <a:p>
            <a:pPr marL="0" indent="0">
              <a:buNone/>
            </a:pPr>
            <a:endParaRPr lang="en-US"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8075" y="1520726"/>
            <a:ext cx="150465" cy="150465"/>
          </a:xfrm>
          <a:prstGeom prst="rect">
            <a:avLst/>
          </a:prstGeom>
        </p:spPr>
      </p:pic>
      <p:sp>
        <p:nvSpPr>
          <p:cNvPr id="19" name="Text 13"/>
          <p:cNvSpPr/>
          <p:nvPr/>
        </p:nvSpPr>
        <p:spPr>
          <a:xfrm>
            <a:off x="6149727" y="1433513"/>
            <a:ext cx="1424613" cy="172045"/>
          </a:xfrm>
          <a:prstGeom prst="rect">
            <a:avLst/>
          </a:prstGeom>
          <a:noFill/>
          <a:ln/>
        </p:spPr>
        <p:txBody>
          <a:bodyPr wrap="none" lIns="0" tIns="0" rIns="0" bIns="0" rtlCol="0" anchor="ctr"/>
          <a:lstStyle/>
          <a:p>
            <a:pPr marL="0" indent="0" algn="l">
              <a:lnSpc>
                <a:spcPts val="1356"/>
              </a:lnSpc>
              <a:buNone/>
            </a:pPr>
            <a:r>
              <a:rPr lang="en-US" sz="1130" b="1" dirty="0">
                <a:solidFill>
                  <a:srgbClr val="0B2545"/>
                </a:solidFill>
                <a:latin typeface="Constantia" pitchFamily="34" charset="0"/>
                <a:ea typeface="Constantia" pitchFamily="34" charset="-122"/>
                <a:cs typeface="Constantia" pitchFamily="34" charset="-120"/>
              </a:rPr>
              <a:t>Key Insight</a:t>
            </a:r>
            <a:endParaRPr lang="en-US" sz="1130" dirty="0"/>
          </a:p>
        </p:txBody>
      </p:sp>
      <p:sp>
        <p:nvSpPr>
          <p:cNvPr id="20" name="Text 14"/>
          <p:cNvSpPr/>
          <p:nvPr/>
        </p:nvSpPr>
        <p:spPr>
          <a:xfrm>
            <a:off x="6149727" y="1619399"/>
            <a:ext cx="1424613" cy="139005"/>
          </a:xfrm>
          <a:prstGeom prst="rect">
            <a:avLst/>
          </a:prstGeom>
          <a:noFill/>
          <a:ln/>
        </p:spPr>
        <p:txBody>
          <a:bodyPr wrap="none" lIns="0" tIns="0" rIns="0" bIns="0" rtlCol="0" anchor="ctr"/>
          <a:lstStyle/>
          <a:p>
            <a:pPr marL="0" indent="0" algn="l">
              <a:lnSpc>
                <a:spcPts val="1095"/>
              </a:lnSpc>
              <a:spcBef>
                <a:spcPts val="110"/>
              </a:spcBef>
              <a:buNone/>
            </a:pPr>
            <a:r>
              <a:rPr lang="en-US" sz="730" b="1" kern="0" spc="60" dirty="0">
                <a:solidFill>
                  <a:srgbClr val="00839E"/>
                </a:solidFill>
                <a:latin typeface="Calibri" pitchFamily="34" charset="0"/>
                <a:ea typeface="Calibri" pitchFamily="34" charset="-122"/>
                <a:cs typeface="Calibri" pitchFamily="34" charset="-120"/>
              </a:rPr>
              <a:t>POSITIVE RELATIONSHIP</a:t>
            </a:r>
            <a:endParaRPr lang="en-US" sz="730" dirty="0"/>
          </a:p>
        </p:txBody>
      </p:sp>
      <p:sp>
        <p:nvSpPr>
          <p:cNvPr id="21" name="Text 15"/>
          <p:cNvSpPr/>
          <p:nvPr/>
        </p:nvSpPr>
        <p:spPr>
          <a:xfrm>
            <a:off x="5677346" y="1953518"/>
            <a:ext cx="3069643" cy="633360"/>
          </a:xfrm>
          <a:prstGeom prst="rect">
            <a:avLst/>
          </a:prstGeom>
          <a:noFill/>
          <a:ln/>
        </p:spPr>
        <p:txBody>
          <a:bodyPr wrap="square" lIns="0" tIns="0" rIns="0" bIns="0" rtlCol="0" anchor="ctr"/>
          <a:lstStyle/>
          <a:p>
            <a:pPr marL="0" indent="0" algn="l">
              <a:lnSpc>
                <a:spcPts val="1584"/>
              </a:lnSpc>
              <a:buNone/>
            </a:pPr>
            <a:r>
              <a:rPr lang="en-US" sz="960" dirty="0">
                <a:solidFill>
                  <a:srgbClr val="0B2545">
                    <a:alpha val="82000"/>
                  </a:srgbClr>
                </a:solidFill>
                <a:latin typeface="Calibri" pitchFamily="34" charset="0"/>
                <a:ea typeface="Calibri" pitchFamily="34" charset="-122"/>
                <a:cs typeface="Calibri" pitchFamily="34" charset="-120"/>
              </a:rPr>
              <a:t>Additional bathrooms increase convenience and are often associated with </a:t>
            </a:r>
            <a:r>
              <a:rPr lang="en-US" sz="960" b="1" dirty="0">
                <a:solidFill>
                  <a:srgbClr val="00839E">
                    <a:alpha val="82000"/>
                  </a:srgbClr>
                </a:solidFill>
                <a:latin typeface="Calibri" pitchFamily="34" charset="0"/>
                <a:ea typeface="Calibri" pitchFamily="34" charset="-122"/>
                <a:cs typeface="Calibri" pitchFamily="34" charset="-120"/>
              </a:rPr>
              <a:t>higher-end or larger properties</a:t>
            </a:r>
            <a:r>
              <a:rPr lang="en-US" sz="960" dirty="0">
                <a:solidFill>
                  <a:srgbClr val="0B2545">
                    <a:alpha val="82000"/>
                  </a:srgbClr>
                </a:solidFill>
                <a:latin typeface="Calibri" pitchFamily="34" charset="0"/>
                <a:ea typeface="Calibri" pitchFamily="34" charset="-122"/>
                <a:cs typeface="Calibri" pitchFamily="34" charset="-120"/>
              </a:rPr>
              <a:t>, helping explain the upward trend in price.</a:t>
            </a:r>
            <a:endParaRPr lang="en-US" sz="960" dirty="0"/>
          </a:p>
        </p:txBody>
      </p:sp>
      <p:sp>
        <p:nvSpPr>
          <p:cNvPr id="22" name="Text 16"/>
          <p:cNvSpPr/>
          <p:nvPr/>
        </p:nvSpPr>
        <p:spPr>
          <a:xfrm>
            <a:off x="5677346" y="2728168"/>
            <a:ext cx="3009454" cy="608707"/>
          </a:xfrm>
          <a:prstGeom prst="roundRect">
            <a:avLst>
              <a:gd name="adj" fmla="val 11684"/>
            </a:avLst>
          </a:prstGeom>
          <a:solidFill>
            <a:srgbClr val="0B2545">
              <a:alpha val="4000"/>
            </a:srgbClr>
          </a:solidFill>
          <a:ln w="9525">
            <a:solidFill>
              <a:srgbClr val="0B2545">
                <a:alpha val="10000"/>
              </a:srgbClr>
            </a:solidFill>
          </a:ln>
        </p:spPr>
        <p:txBody>
          <a:bodyPr wrap="square" rtlCol="0" anchor="t"/>
          <a:lstStyle/>
          <a:p>
            <a:pPr marL="0" indent="0">
              <a:buNone/>
            </a:pPr>
            <a:endParaRPr lang="en-US" dirty="0"/>
          </a:p>
        </p:txBody>
      </p:sp>
      <p:sp>
        <p:nvSpPr>
          <p:cNvPr id="23" name="Text 17"/>
          <p:cNvSpPr/>
          <p:nvPr/>
        </p:nvSpPr>
        <p:spPr>
          <a:xfrm>
            <a:off x="5815013" y="2903637"/>
            <a:ext cx="43160" cy="257770"/>
          </a:xfrm>
          <a:prstGeom prst="roundRect">
            <a:avLst>
              <a:gd name="adj" fmla="val 50023"/>
            </a:avLst>
          </a:prstGeom>
          <a:solidFill>
            <a:srgbClr val="00839E"/>
          </a:solidFill>
          <a:ln/>
        </p:spPr>
        <p:txBody>
          <a:bodyPr wrap="none" rtlCol="0" anchor="t"/>
          <a:lstStyle/>
          <a:p>
            <a:pPr marL="0" indent="0">
              <a:buNone/>
            </a:pPr>
            <a:endParaRPr lang="en-US" dirty="0"/>
          </a:p>
        </p:txBody>
      </p:sp>
      <p:sp>
        <p:nvSpPr>
          <p:cNvPr id="24" name="Text 18"/>
          <p:cNvSpPr/>
          <p:nvPr/>
        </p:nvSpPr>
        <p:spPr>
          <a:xfrm>
            <a:off x="5958483" y="2838004"/>
            <a:ext cx="820192" cy="139005"/>
          </a:xfrm>
          <a:prstGeom prst="rect">
            <a:avLst/>
          </a:prstGeom>
          <a:noFill/>
          <a:ln/>
        </p:spPr>
        <p:txBody>
          <a:bodyPr wrap="none" lIns="0" tIns="0" rIns="0" bIns="0" rtlCol="0" anchor="t"/>
          <a:lstStyle/>
          <a:p>
            <a:pPr marL="0" indent="0" algn="l">
              <a:lnSpc>
                <a:spcPts val="1095"/>
              </a:lnSpc>
              <a:buNone/>
            </a:pPr>
            <a:r>
              <a:rPr lang="en-US" sz="730" kern="0" spc="60" dirty="0">
                <a:solidFill>
                  <a:srgbClr val="4A5568"/>
                </a:solidFill>
                <a:latin typeface="Calibri" pitchFamily="34" charset="0"/>
                <a:ea typeface="Calibri" pitchFamily="34" charset="-122"/>
                <a:cs typeface="Calibri" pitchFamily="34" charset="-120"/>
              </a:rPr>
              <a:t>CORRELATION</a:t>
            </a:r>
            <a:endParaRPr lang="en-US" sz="730" dirty="0"/>
          </a:p>
        </p:txBody>
      </p:sp>
      <p:sp>
        <p:nvSpPr>
          <p:cNvPr id="25" name="Text 19"/>
          <p:cNvSpPr/>
          <p:nvPr/>
        </p:nvSpPr>
        <p:spPr>
          <a:xfrm>
            <a:off x="5958483" y="2990850"/>
            <a:ext cx="820192" cy="236190"/>
          </a:xfrm>
          <a:prstGeom prst="rect">
            <a:avLst/>
          </a:prstGeom>
          <a:noFill/>
          <a:ln/>
        </p:spPr>
        <p:txBody>
          <a:bodyPr wrap="none" lIns="0" tIns="0" rIns="0" bIns="0" rtlCol="0" anchor="t"/>
          <a:lstStyle/>
          <a:p>
            <a:pPr marL="0" indent="0" algn="l">
              <a:lnSpc>
                <a:spcPts val="1860"/>
              </a:lnSpc>
              <a:buNone/>
            </a:pPr>
            <a:r>
              <a:rPr lang="en-US" sz="1240" b="1" dirty="0">
                <a:solidFill>
                  <a:srgbClr val="00839E"/>
                </a:solidFill>
                <a:latin typeface="Constantia" pitchFamily="34" charset="0"/>
                <a:ea typeface="Constantia" pitchFamily="34" charset="-122"/>
                <a:cs typeface="Constantia" pitchFamily="34" charset="-120"/>
              </a:rPr>
              <a:t>r = 0.677</a:t>
            </a:r>
            <a:endParaRPr lang="en-US" sz="1240" dirty="0"/>
          </a:p>
        </p:txBody>
      </p:sp>
      <p:sp>
        <p:nvSpPr>
          <p:cNvPr id="26" name="Text 20"/>
          <p:cNvSpPr/>
          <p:nvPr/>
        </p:nvSpPr>
        <p:spPr>
          <a:xfrm>
            <a:off x="5677346" y="3423196"/>
            <a:ext cx="3009454" cy="543967"/>
          </a:xfrm>
          <a:prstGeom prst="roundRect">
            <a:avLst>
              <a:gd name="adj" fmla="val 13074"/>
            </a:avLst>
          </a:prstGeom>
          <a:solidFill>
            <a:srgbClr val="0B2545">
              <a:alpha val="4000"/>
            </a:srgbClr>
          </a:solidFill>
          <a:ln w="9525">
            <a:solidFill>
              <a:srgbClr val="0B2545">
                <a:alpha val="10000"/>
              </a:srgbClr>
            </a:solidFill>
          </a:ln>
        </p:spPr>
        <p:txBody>
          <a:bodyPr wrap="square" rtlCol="0" anchor="t"/>
          <a:lstStyle/>
          <a:p>
            <a:pPr marL="0" indent="0">
              <a:buNone/>
            </a:pPr>
            <a:endParaRPr lang="en-US" dirty="0"/>
          </a:p>
        </p:txBody>
      </p:sp>
      <p:sp>
        <p:nvSpPr>
          <p:cNvPr id="27" name="Text 21"/>
          <p:cNvSpPr/>
          <p:nvPr/>
        </p:nvSpPr>
        <p:spPr>
          <a:xfrm>
            <a:off x="5815013" y="3566220"/>
            <a:ext cx="43160" cy="257770"/>
          </a:xfrm>
          <a:prstGeom prst="roundRect">
            <a:avLst>
              <a:gd name="adj" fmla="val 50023"/>
            </a:avLst>
          </a:prstGeom>
          <a:solidFill>
            <a:srgbClr val="00839E">
              <a:alpha val="50000"/>
            </a:srgbClr>
          </a:solidFill>
          <a:ln/>
        </p:spPr>
        <p:txBody>
          <a:bodyPr wrap="none" rtlCol="0" anchor="t"/>
          <a:lstStyle/>
          <a:p>
            <a:pPr marL="0" indent="0">
              <a:buNone/>
            </a:pPr>
            <a:endParaRPr lang="en-US" dirty="0"/>
          </a:p>
        </p:txBody>
      </p:sp>
      <p:sp>
        <p:nvSpPr>
          <p:cNvPr id="28" name="Text 22"/>
          <p:cNvSpPr/>
          <p:nvPr/>
        </p:nvSpPr>
        <p:spPr>
          <a:xfrm>
            <a:off x="5958483" y="3533031"/>
            <a:ext cx="1594872" cy="139005"/>
          </a:xfrm>
          <a:prstGeom prst="rect">
            <a:avLst/>
          </a:prstGeom>
          <a:noFill/>
          <a:ln/>
        </p:spPr>
        <p:txBody>
          <a:bodyPr wrap="none" lIns="0" tIns="0" rIns="0" bIns="0" rtlCol="0" anchor="t"/>
          <a:lstStyle/>
          <a:p>
            <a:pPr marL="0" indent="0" algn="l">
              <a:lnSpc>
                <a:spcPts val="1095"/>
              </a:lnSpc>
              <a:buNone/>
            </a:pPr>
            <a:r>
              <a:rPr lang="en-US" sz="730" kern="0" spc="60" dirty="0">
                <a:solidFill>
                  <a:srgbClr val="4A5568"/>
                </a:solidFill>
                <a:latin typeface="Calibri" pitchFamily="34" charset="0"/>
                <a:ea typeface="Calibri" pitchFamily="34" charset="-122"/>
                <a:cs typeface="Calibri" pitchFamily="34" charset="-120"/>
              </a:rPr>
              <a:t>DIRECTION</a:t>
            </a:r>
            <a:endParaRPr lang="en-US" sz="730" dirty="0"/>
          </a:p>
        </p:txBody>
      </p:sp>
      <p:sp>
        <p:nvSpPr>
          <p:cNvPr id="29" name="Text 23"/>
          <p:cNvSpPr/>
          <p:nvPr/>
        </p:nvSpPr>
        <p:spPr>
          <a:xfrm>
            <a:off x="6087368" y="3685877"/>
            <a:ext cx="1453098" cy="171450"/>
          </a:xfrm>
          <a:prstGeom prst="rect">
            <a:avLst/>
          </a:prstGeom>
          <a:noFill/>
          <a:ln/>
        </p:spPr>
        <p:txBody>
          <a:bodyPr wrap="none" lIns="0" tIns="0" rIns="0" bIns="0" rtlCol="0" anchor="ctr"/>
          <a:lstStyle/>
          <a:p>
            <a:pPr marL="0" indent="0" algn="l">
              <a:lnSpc>
                <a:spcPts val="1350"/>
              </a:lnSpc>
              <a:buNone/>
            </a:pPr>
            <a:r>
              <a:rPr lang="en-US" sz="900" b="1" dirty="0">
                <a:solidFill>
                  <a:srgbClr val="0B2545"/>
                </a:solidFill>
                <a:latin typeface="Calibri" pitchFamily="34" charset="0"/>
                <a:ea typeface="Calibri" pitchFamily="34" charset="-122"/>
                <a:cs typeface="Calibri" pitchFamily="34" charset="-120"/>
              </a:rPr>
              <a:t>Upward trend confirmed</a:t>
            </a:r>
            <a:endParaRPr lang="en-US" sz="900" dirty="0"/>
          </a:p>
        </p:txBody>
      </p:sp>
      <p:pic>
        <p:nvPicPr>
          <p:cNvPr id="30"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35051" y="3705308"/>
            <a:ext cx="132588" cy="132588"/>
          </a:xfrm>
          <a:prstGeom prst="rect">
            <a:avLst/>
          </a:prstGeom>
        </p:spPr>
      </p:pic>
      <p:sp>
        <p:nvSpPr>
          <p:cNvPr id="31" name="Text 24"/>
          <p:cNvSpPr/>
          <p:nvPr/>
        </p:nvSpPr>
        <p:spPr>
          <a:xfrm>
            <a:off x="5677346" y="4138613"/>
            <a:ext cx="3009454" cy="390287"/>
          </a:xfrm>
          <a:prstGeom prst="rect">
            <a:avLst/>
          </a:prstGeom>
          <a:noFill/>
          <a:ln/>
        </p:spPr>
        <p:txBody>
          <a:bodyPr wrap="square" lIns="0" tIns="0" rIns="0" bIns="0" rtlCol="0" anchor="ctr"/>
          <a:lstStyle/>
          <a:p>
            <a:pPr marL="0" indent="0" algn="l">
              <a:buNone/>
            </a:pPr>
            <a:r>
              <a:rPr lang="en-US" sz="680" dirty="0">
                <a:solidFill>
                  <a:srgbClr val="4A5568"/>
                </a:solidFill>
                <a:latin typeface="Calibri" pitchFamily="34" charset="0"/>
                <a:ea typeface="Calibri" pitchFamily="34" charset="-122"/>
                <a:cs typeface="Calibri" pitchFamily="34" charset="-120"/>
              </a:rPr>
              <a:t>Strongest single predictor of nightly price among the three numeric variables in the model.</a:t>
            </a:r>
            <a:endParaRPr lang="en-US" sz="680" dirty="0"/>
          </a:p>
        </p:txBody>
      </p:sp>
      <p:sp>
        <p:nvSpPr>
          <p:cNvPr id="32" name="Text 25"/>
          <p:cNvSpPr/>
          <p:nvPr/>
        </p:nvSpPr>
        <p:spPr>
          <a:xfrm>
            <a:off x="5677346" y="4138613"/>
            <a:ext cx="3009454" cy="9525"/>
          </a:xfrm>
          <a:prstGeom prst="rect">
            <a:avLst/>
          </a:prstGeom>
          <a:solidFill>
            <a:srgbClr val="0B2545">
              <a:alpha val="12000"/>
            </a:srgbClr>
          </a:solidFill>
          <a:ln/>
        </p:spPr>
        <p:txBody>
          <a:bodyPr wrap="none" rtlCol="0" anchor="t"/>
          <a:lstStyle/>
          <a:p>
            <a:pPr marL="0" indent="0">
              <a:buNone/>
            </a:pPr>
            <a:endParaRPr lang="en-US" dirty="0"/>
          </a:p>
        </p:txBody>
      </p:sp>
      <p:pic>
        <p:nvPicPr>
          <p:cNvPr id="34" name="Picture 33">
            <a:extLst>
              <a:ext uri="{FF2B5EF4-FFF2-40B4-BE49-F238E27FC236}">
                <a16:creationId xmlns:a16="http://schemas.microsoft.com/office/drawing/2014/main" id="{183B4A09-C594-0EF9-B7B5-9F4702364CB5}"/>
              </a:ext>
            </a:extLst>
          </p:cNvPr>
          <p:cNvPicPr>
            <a:picLocks noChangeAspect="1"/>
          </p:cNvPicPr>
          <p:nvPr/>
        </p:nvPicPr>
        <p:blipFill>
          <a:blip r:embed="rId6"/>
          <a:stretch>
            <a:fillRect/>
          </a:stretch>
        </p:blipFill>
        <p:spPr>
          <a:xfrm>
            <a:off x="518491" y="1096237"/>
            <a:ext cx="4238883" cy="34034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0" y="0"/>
            <a:ext cx="43160" cy="5143500"/>
          </a:xfrm>
          <a:prstGeom prst="rect">
            <a:avLst/>
          </a:prstGeom>
          <a:gradFill rotWithShape="1">
            <a:gsLst>
              <a:gs pos="0">
                <a:srgbClr val="00B4D8"/>
              </a:gs>
              <a:gs pos="100000">
                <a:srgbClr val="0B2545"/>
              </a:gs>
            </a:gsLst>
            <a:lin ang="5400000" scaled="1"/>
          </a:gradFill>
          <a:ln/>
        </p:spPr>
        <p:txBody>
          <a:bodyPr wrap="square" rtlCol="0" anchor="t"/>
          <a:lstStyle/>
          <a:p>
            <a:pPr marL="0" indent="0">
              <a:buNone/>
            </a:pPr>
            <a:endParaRPr lang="en-US" dirty="0"/>
          </a:p>
        </p:txBody>
      </p:sp>
      <p:sp>
        <p:nvSpPr>
          <p:cNvPr id="3" name="Text 1"/>
          <p:cNvSpPr/>
          <p:nvPr/>
        </p:nvSpPr>
        <p:spPr>
          <a:xfrm>
            <a:off x="400050" y="342900"/>
            <a:ext cx="9178290"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00B4D8"/>
                </a:solidFill>
                <a:latin typeface="Calibri" pitchFamily="34" charset="0"/>
                <a:ea typeface="Calibri" pitchFamily="34" charset="-122"/>
                <a:cs typeface="Calibri" pitchFamily="34" charset="-120"/>
              </a:rPr>
              <a:t>STEP 6 · VARIABLE SELECTION</a:t>
            </a:r>
            <a:endParaRPr lang="en-US" sz="620" dirty="0"/>
          </a:p>
        </p:txBody>
      </p:sp>
      <p:sp>
        <p:nvSpPr>
          <p:cNvPr id="4" name="Text 2"/>
          <p:cNvSpPr/>
          <p:nvPr/>
        </p:nvSpPr>
        <p:spPr>
          <a:xfrm>
            <a:off x="400050" y="518071"/>
            <a:ext cx="8927973" cy="312390"/>
          </a:xfrm>
          <a:prstGeom prst="rect">
            <a:avLst/>
          </a:prstGeom>
          <a:noFill/>
          <a:ln/>
        </p:spPr>
        <p:txBody>
          <a:bodyPr wrap="none" lIns="0" tIns="0" rIns="0" bIns="0" rtlCol="0" anchor="t"/>
          <a:lstStyle/>
          <a:p>
            <a:pPr marL="0" indent="0" algn="l">
              <a:lnSpc>
                <a:spcPts val="2461"/>
              </a:lnSpc>
              <a:buNone/>
            </a:pPr>
            <a:r>
              <a:rPr lang="en-US" sz="2140" b="1" kern="0" spc="-30" dirty="0">
                <a:solidFill>
                  <a:srgbClr val="0B2545"/>
                </a:solidFill>
                <a:latin typeface="Constantia" pitchFamily="34" charset="0"/>
                <a:ea typeface="Constantia" pitchFamily="34" charset="-122"/>
                <a:cs typeface="Constantia" pitchFamily="34" charset="-120"/>
              </a:rPr>
              <a:t>Correlation Analysis &amp; Variable Selection</a:t>
            </a:r>
            <a:endParaRPr lang="en-US" sz="2140" dirty="0"/>
          </a:p>
        </p:txBody>
      </p:sp>
      <p:sp>
        <p:nvSpPr>
          <p:cNvPr id="5" name="Text 3"/>
          <p:cNvSpPr/>
          <p:nvPr/>
        </p:nvSpPr>
        <p:spPr>
          <a:xfrm>
            <a:off x="553343" y="1050131"/>
            <a:ext cx="964585" cy="114300"/>
          </a:xfrm>
          <a:prstGeom prst="rect">
            <a:avLst/>
          </a:prstGeom>
          <a:noFill/>
          <a:ln/>
        </p:spPr>
        <p:txBody>
          <a:bodyPr wrap="none" lIns="0" tIns="0" rIns="0" bIns="0" rtlCol="0" anchor="t"/>
          <a:lstStyle/>
          <a:p>
            <a:pPr marL="0" indent="0" algn="l">
              <a:lnSpc>
                <a:spcPts val="1260"/>
              </a:lnSpc>
              <a:spcAft>
                <a:spcPts val="680"/>
              </a:spcAft>
              <a:buNone/>
            </a:pPr>
            <a:r>
              <a:rPr lang="en-US" sz="840" b="1" dirty="0">
                <a:solidFill>
                  <a:srgbClr val="0B2545"/>
                </a:solidFill>
                <a:latin typeface="Constantia" pitchFamily="34" charset="0"/>
                <a:ea typeface="Constantia" pitchFamily="34" charset="-122"/>
                <a:cs typeface="Constantia" pitchFamily="34" charset="-120"/>
              </a:rPr>
              <a:t>Correlation Matrix</a:t>
            </a:r>
            <a:endParaRPr lang="en-US" sz="84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827" y="1044708"/>
            <a:ext cx="132588" cy="132588"/>
          </a:xfrm>
          <a:prstGeom prst="rect">
            <a:avLst/>
          </a:prstGeom>
        </p:spPr>
      </p:pic>
      <p:sp>
        <p:nvSpPr>
          <p:cNvPr id="7" name="Text 4"/>
          <p:cNvSpPr/>
          <p:nvPr/>
        </p:nvSpPr>
        <p:spPr>
          <a:xfrm>
            <a:off x="400050" y="1277392"/>
            <a:ext cx="4428083" cy="1587996"/>
          </a:xfrm>
          <a:prstGeom prst="roundRect">
            <a:avLst>
              <a:gd name="adj" fmla="val 5438"/>
            </a:avLst>
          </a:prstGeom>
          <a:solidFill>
            <a:srgbClr val="FFFFFF"/>
          </a:solidFill>
          <a:ln w="9525">
            <a:solidFill>
              <a:srgbClr val="0B2545">
                <a:alpha val="6000"/>
              </a:srgbClr>
            </a:solidFill>
          </a:ln>
          <a:effectLst>
            <a:outerShdw blurRad="114300" dist="13970" dir="5400000" algn="bl" rotWithShape="0">
              <a:srgbClr val="0B2545">
                <a:alpha val="7000"/>
              </a:srgbClr>
            </a:outerShdw>
          </a:effectLst>
        </p:spPr>
        <p:txBody>
          <a:bodyPr wrap="square" rtlCol="0" anchor="t"/>
          <a:lstStyle/>
          <a:p>
            <a:pPr marL="0" indent="0">
              <a:buNone/>
            </a:pPr>
            <a:endParaRPr lang="en-US" dirty="0"/>
          </a:p>
        </p:txBody>
      </p:sp>
      <p:sp>
        <p:nvSpPr>
          <p:cNvPr id="8" name="Text 5"/>
          <p:cNvSpPr/>
          <p:nvPr/>
        </p:nvSpPr>
        <p:spPr>
          <a:xfrm>
            <a:off x="414338" y="1291679"/>
            <a:ext cx="1068884" cy="290513"/>
          </a:xfrm>
          <a:prstGeom prst="rect">
            <a:avLst/>
          </a:prstGeom>
          <a:solidFill>
            <a:srgbClr val="0B2545"/>
          </a:solidFill>
          <a:ln w="9525">
            <a:solidFill>
              <a:srgbClr val="0B2545">
                <a:alpha val="15000"/>
              </a:srgbClr>
            </a:solidFill>
          </a:ln>
        </p:spPr>
        <p:txBody>
          <a:bodyPr wrap="square" rtlCol="0" anchor="t"/>
          <a:lstStyle/>
          <a:p>
            <a:pPr marL="0" indent="0">
              <a:buNone/>
            </a:pPr>
            <a:endParaRPr lang="en-US" dirty="0"/>
          </a:p>
        </p:txBody>
      </p:sp>
      <p:sp>
        <p:nvSpPr>
          <p:cNvPr id="9" name="Text 6"/>
          <p:cNvSpPr/>
          <p:nvPr/>
        </p:nvSpPr>
        <p:spPr>
          <a:xfrm>
            <a:off x="1483221" y="1291679"/>
            <a:ext cx="722287" cy="290513"/>
          </a:xfrm>
          <a:prstGeom prst="rect">
            <a:avLst/>
          </a:prstGeom>
          <a:solidFill>
            <a:srgbClr val="0B2545"/>
          </a:solidFill>
          <a:ln w="9525">
            <a:solidFill>
              <a:srgbClr val="0B2545">
                <a:alpha val="15000"/>
              </a:srgbClr>
            </a:solidFill>
          </a:ln>
        </p:spPr>
        <p:txBody>
          <a:bodyPr wrap="none" lIns="100330" tIns="71120" rIns="100330" bIns="71120" rtlCol="0" anchor="t"/>
          <a:lstStyle/>
          <a:p>
            <a:pPr marL="0" indent="0" algn="l">
              <a:buNone/>
            </a:pPr>
            <a:r>
              <a:rPr lang="en-US" sz="730" b="1" kern="0" spc="30" dirty="0">
                <a:solidFill>
                  <a:srgbClr val="F8FAFC"/>
                </a:solidFill>
                <a:latin typeface="Constantia" pitchFamily="34" charset="0"/>
                <a:ea typeface="Constantia" pitchFamily="34" charset="-122"/>
                <a:cs typeface="Constantia" pitchFamily="34" charset="-120"/>
              </a:rPr>
              <a:t>PRICE</a:t>
            </a:r>
            <a:endParaRPr lang="en-US" sz="730" dirty="0"/>
          </a:p>
        </p:txBody>
      </p:sp>
      <p:sp>
        <p:nvSpPr>
          <p:cNvPr id="10" name="Text 7"/>
          <p:cNvSpPr/>
          <p:nvPr/>
        </p:nvSpPr>
        <p:spPr>
          <a:xfrm>
            <a:off x="2191345" y="1291679"/>
            <a:ext cx="835685" cy="290513"/>
          </a:xfrm>
          <a:prstGeom prst="rect">
            <a:avLst/>
          </a:prstGeom>
          <a:solidFill>
            <a:srgbClr val="0B2545"/>
          </a:solidFill>
          <a:ln w="9525">
            <a:solidFill>
              <a:srgbClr val="0B2545">
                <a:alpha val="15000"/>
              </a:srgbClr>
            </a:solidFill>
          </a:ln>
        </p:spPr>
        <p:txBody>
          <a:bodyPr wrap="none" lIns="100330" tIns="71120" rIns="100330" bIns="71120" rtlCol="0" anchor="t"/>
          <a:lstStyle/>
          <a:p>
            <a:pPr marL="0" indent="0" algn="l">
              <a:buNone/>
            </a:pPr>
            <a:r>
              <a:rPr lang="en-US" sz="730" b="1" kern="0" spc="30" dirty="0">
                <a:solidFill>
                  <a:srgbClr val="F8FAFC"/>
                </a:solidFill>
                <a:latin typeface="Constantia" pitchFamily="34" charset="0"/>
                <a:ea typeface="Constantia" pitchFamily="34" charset="-122"/>
                <a:cs typeface="Constantia" pitchFamily="34" charset="-120"/>
              </a:rPr>
              <a:t>GUESTS</a:t>
            </a:r>
            <a:endParaRPr lang="en-US" sz="730" dirty="0"/>
          </a:p>
        </p:txBody>
      </p:sp>
      <p:sp>
        <p:nvSpPr>
          <p:cNvPr id="11" name="Text 8"/>
          <p:cNvSpPr/>
          <p:nvPr/>
        </p:nvSpPr>
        <p:spPr>
          <a:xfrm>
            <a:off x="3010644" y="1291679"/>
            <a:ext cx="1090261" cy="290513"/>
          </a:xfrm>
          <a:prstGeom prst="rect">
            <a:avLst/>
          </a:prstGeom>
          <a:solidFill>
            <a:srgbClr val="0B2545"/>
          </a:solidFill>
          <a:ln w="9525">
            <a:solidFill>
              <a:srgbClr val="0B2545">
                <a:alpha val="15000"/>
              </a:srgbClr>
            </a:solidFill>
          </a:ln>
        </p:spPr>
        <p:txBody>
          <a:bodyPr wrap="none" lIns="100330" tIns="71120" rIns="100330" bIns="71120" rtlCol="0" anchor="t"/>
          <a:lstStyle/>
          <a:p>
            <a:pPr marL="0" indent="0" algn="l">
              <a:buNone/>
            </a:pPr>
            <a:r>
              <a:rPr lang="en-US" sz="730" b="1" kern="0" spc="30" dirty="0">
                <a:solidFill>
                  <a:srgbClr val="F8FAFC"/>
                </a:solidFill>
                <a:latin typeface="Constantia" pitchFamily="34" charset="0"/>
                <a:ea typeface="Constantia" pitchFamily="34" charset="-122"/>
                <a:cs typeface="Constantia" pitchFamily="34" charset="-120"/>
              </a:rPr>
              <a:t>BEDROOMS</a:t>
            </a:r>
            <a:endParaRPr lang="en-US" sz="730" dirty="0"/>
          </a:p>
        </p:txBody>
      </p:sp>
      <p:sp>
        <p:nvSpPr>
          <p:cNvPr id="12" name="Text 9"/>
          <p:cNvSpPr/>
          <p:nvPr/>
        </p:nvSpPr>
        <p:spPr>
          <a:xfrm>
            <a:off x="4079528" y="1291679"/>
            <a:ext cx="749004" cy="290513"/>
          </a:xfrm>
          <a:prstGeom prst="rect">
            <a:avLst/>
          </a:prstGeom>
          <a:solidFill>
            <a:srgbClr val="0B2545"/>
          </a:solidFill>
          <a:ln w="9525">
            <a:solidFill>
              <a:srgbClr val="0B2545">
                <a:alpha val="15000"/>
              </a:srgbClr>
            </a:solidFill>
          </a:ln>
        </p:spPr>
        <p:txBody>
          <a:bodyPr wrap="none" lIns="100330" tIns="71120" rIns="100330" bIns="71120" rtlCol="0" anchor="t"/>
          <a:lstStyle/>
          <a:p>
            <a:pPr marL="0" indent="0" algn="l">
              <a:buNone/>
            </a:pPr>
            <a:r>
              <a:rPr lang="en-US" sz="730" b="1" kern="0" spc="30" dirty="0">
                <a:solidFill>
                  <a:srgbClr val="F8FAFC"/>
                </a:solidFill>
                <a:latin typeface="Constantia" pitchFamily="34" charset="0"/>
                <a:ea typeface="Constantia" pitchFamily="34" charset="-122"/>
                <a:cs typeface="Constantia" pitchFamily="34" charset="-120"/>
              </a:rPr>
              <a:t>BATHS</a:t>
            </a:r>
            <a:endParaRPr lang="en-US" sz="730" dirty="0"/>
          </a:p>
        </p:txBody>
      </p:sp>
      <p:sp>
        <p:nvSpPr>
          <p:cNvPr id="13" name="Text 10"/>
          <p:cNvSpPr/>
          <p:nvPr/>
        </p:nvSpPr>
        <p:spPr>
          <a:xfrm>
            <a:off x="414338" y="1582192"/>
            <a:ext cx="1068884" cy="332646"/>
          </a:xfrm>
          <a:prstGeom prst="rect">
            <a:avLst/>
          </a:prstGeom>
          <a:solidFill>
            <a:srgbClr val="0B2545"/>
          </a:solidFill>
          <a:ln w="9525">
            <a:solidFill>
              <a:srgbClr val="0B2545">
                <a:alpha val="15000"/>
              </a:srgbClr>
            </a:solidFill>
          </a:ln>
        </p:spPr>
        <p:txBody>
          <a:bodyPr wrap="none" lIns="100330" tIns="71120" rIns="100330" bIns="71120" rtlCol="0" anchor="t"/>
          <a:lstStyle/>
          <a:p>
            <a:pPr marL="0" indent="0" algn="l">
              <a:buNone/>
            </a:pPr>
            <a:r>
              <a:rPr lang="en-US" sz="730" b="1" kern="0" spc="30" dirty="0">
                <a:solidFill>
                  <a:srgbClr val="F8FAFC"/>
                </a:solidFill>
                <a:latin typeface="Constantia" pitchFamily="34" charset="0"/>
                <a:ea typeface="Constantia" pitchFamily="34" charset="-122"/>
                <a:cs typeface="Constantia" pitchFamily="34" charset="-120"/>
              </a:rPr>
              <a:t>PRICE</a:t>
            </a:r>
            <a:endParaRPr lang="en-US" sz="730" dirty="0"/>
          </a:p>
        </p:txBody>
      </p:sp>
      <p:sp>
        <p:nvSpPr>
          <p:cNvPr id="14" name="Text 11"/>
          <p:cNvSpPr/>
          <p:nvPr/>
        </p:nvSpPr>
        <p:spPr>
          <a:xfrm>
            <a:off x="1476140" y="1582192"/>
            <a:ext cx="722287" cy="322957"/>
          </a:xfrm>
          <a:prstGeom prst="rect">
            <a:avLst/>
          </a:prstGeom>
          <a:solidFill>
            <a:srgbClr val="0B2545">
              <a:alpha val="6000"/>
            </a:srgbClr>
          </a:solidFill>
          <a:ln w="9525">
            <a:solidFill>
              <a:srgbClr val="0B2545">
                <a:alpha val="8000"/>
              </a:srgbClr>
            </a:solidFill>
          </a:ln>
        </p:spPr>
        <p:txBody>
          <a:bodyPr wrap="none" lIns="100330" tIns="71120" rIns="100330" bIns="71120" rtlCol="0" anchor="t"/>
          <a:lstStyle/>
          <a:p>
            <a:pPr marL="0" indent="0" algn="ctr">
              <a:buNone/>
            </a:pPr>
            <a:r>
              <a:rPr lang="en-US" sz="840" dirty="0">
                <a:solidFill>
                  <a:srgbClr val="94A3B8"/>
                </a:solidFill>
                <a:latin typeface="Calibri" pitchFamily="34" charset="0"/>
                <a:ea typeface="Calibri" pitchFamily="34" charset="-122"/>
                <a:cs typeface="Calibri" pitchFamily="34" charset="-120"/>
              </a:rPr>
              <a:t>1.000</a:t>
            </a:r>
            <a:endParaRPr lang="en-US" sz="840" dirty="0"/>
          </a:p>
        </p:txBody>
      </p:sp>
      <p:sp>
        <p:nvSpPr>
          <p:cNvPr id="15" name="Text 12"/>
          <p:cNvSpPr/>
          <p:nvPr/>
        </p:nvSpPr>
        <p:spPr>
          <a:xfrm>
            <a:off x="2183152" y="1582192"/>
            <a:ext cx="835685" cy="322957"/>
          </a:xfrm>
          <a:prstGeom prst="rect">
            <a:avLst/>
          </a:prstGeom>
          <a:solidFill>
            <a:srgbClr val="00B4D8">
              <a:alpha val="10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0090AD"/>
                </a:solidFill>
                <a:latin typeface="Calibri" pitchFamily="34" charset="0"/>
                <a:ea typeface="Calibri" pitchFamily="34" charset="-122"/>
                <a:cs typeface="Calibri" pitchFamily="34" charset="-120"/>
              </a:rPr>
              <a:t>0.639</a:t>
            </a:r>
            <a:endParaRPr lang="en-US" sz="840" dirty="0"/>
          </a:p>
        </p:txBody>
      </p:sp>
      <p:sp>
        <p:nvSpPr>
          <p:cNvPr id="16" name="Text 13"/>
          <p:cNvSpPr/>
          <p:nvPr/>
        </p:nvSpPr>
        <p:spPr>
          <a:xfrm>
            <a:off x="2999955" y="1582192"/>
            <a:ext cx="1090261" cy="322957"/>
          </a:xfrm>
          <a:prstGeom prst="rect">
            <a:avLst/>
          </a:prstGeom>
          <a:solidFill>
            <a:srgbClr val="00B4D8">
              <a:alpha val="10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0090AD"/>
                </a:solidFill>
                <a:latin typeface="Calibri" pitchFamily="34" charset="0"/>
                <a:ea typeface="Calibri" pitchFamily="34" charset="-122"/>
                <a:cs typeface="Calibri" pitchFamily="34" charset="-120"/>
              </a:rPr>
              <a:t>0.639</a:t>
            </a:r>
            <a:endParaRPr lang="en-US" sz="840" dirty="0"/>
          </a:p>
        </p:txBody>
      </p:sp>
      <p:sp>
        <p:nvSpPr>
          <p:cNvPr id="17" name="Text 14"/>
          <p:cNvSpPr/>
          <p:nvPr/>
        </p:nvSpPr>
        <p:spPr>
          <a:xfrm>
            <a:off x="4072185" y="1582192"/>
            <a:ext cx="749004" cy="322957"/>
          </a:xfrm>
          <a:prstGeom prst="rect">
            <a:avLst/>
          </a:prstGeom>
          <a:solidFill>
            <a:srgbClr val="00B4D8">
              <a:alpha val="10000"/>
            </a:srgbClr>
          </a:solidFill>
          <a:ln w="9525">
            <a:solidFill>
              <a:srgbClr val="0B2545">
                <a:alpha val="8000"/>
              </a:srgbClr>
            </a:solidFill>
          </a:ln>
        </p:spPr>
        <p:txBody>
          <a:bodyPr wrap="none" lIns="100330" tIns="71120" rIns="100330" bIns="71120" rtlCol="0" anchor="t"/>
          <a:lstStyle/>
          <a:p>
            <a:pPr marL="0" indent="0" algn="ctr">
              <a:buNone/>
            </a:pPr>
            <a:r>
              <a:rPr lang="en-US" sz="900" b="1" dirty="0">
                <a:solidFill>
                  <a:srgbClr val="0090AD"/>
                </a:solidFill>
                <a:latin typeface="Calibri" pitchFamily="34" charset="0"/>
                <a:ea typeface="Calibri" pitchFamily="34" charset="-122"/>
                <a:cs typeface="Calibri" pitchFamily="34" charset="-120"/>
              </a:rPr>
              <a:t>0.677</a:t>
            </a:r>
            <a:endParaRPr lang="en-US" sz="900" dirty="0"/>
          </a:p>
        </p:txBody>
      </p:sp>
      <p:sp>
        <p:nvSpPr>
          <p:cNvPr id="18" name="Text 15"/>
          <p:cNvSpPr/>
          <p:nvPr/>
        </p:nvSpPr>
        <p:spPr>
          <a:xfrm>
            <a:off x="414338" y="1905149"/>
            <a:ext cx="1068884" cy="320842"/>
          </a:xfrm>
          <a:prstGeom prst="rect">
            <a:avLst/>
          </a:prstGeom>
          <a:solidFill>
            <a:srgbClr val="0B2545"/>
          </a:solidFill>
          <a:ln w="9525">
            <a:solidFill>
              <a:srgbClr val="0B2545">
                <a:alpha val="15000"/>
              </a:srgbClr>
            </a:solidFill>
          </a:ln>
        </p:spPr>
        <p:txBody>
          <a:bodyPr wrap="none" lIns="100330" tIns="71120" rIns="100330" bIns="71120" rtlCol="0" anchor="t"/>
          <a:lstStyle/>
          <a:p>
            <a:pPr marL="0" indent="0" algn="l">
              <a:buNone/>
            </a:pPr>
            <a:r>
              <a:rPr lang="en-US" sz="730" b="1" kern="0" spc="30" dirty="0">
                <a:solidFill>
                  <a:srgbClr val="F8FAFC"/>
                </a:solidFill>
                <a:latin typeface="Constantia" pitchFamily="34" charset="0"/>
                <a:ea typeface="Constantia" pitchFamily="34" charset="-122"/>
                <a:cs typeface="Constantia" pitchFamily="34" charset="-120"/>
              </a:rPr>
              <a:t>GUESTS</a:t>
            </a:r>
            <a:endParaRPr lang="en-US" sz="730" dirty="0"/>
          </a:p>
        </p:txBody>
      </p:sp>
      <p:sp>
        <p:nvSpPr>
          <p:cNvPr id="19" name="Text 16"/>
          <p:cNvSpPr/>
          <p:nvPr/>
        </p:nvSpPr>
        <p:spPr>
          <a:xfrm>
            <a:off x="1476140" y="1905149"/>
            <a:ext cx="722287" cy="311497"/>
          </a:xfrm>
          <a:prstGeom prst="rect">
            <a:avLst/>
          </a:prstGeom>
          <a:solidFill>
            <a:srgbClr val="00B4D8">
              <a:alpha val="10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0090AD"/>
                </a:solidFill>
                <a:latin typeface="Calibri" pitchFamily="34" charset="0"/>
                <a:ea typeface="Calibri" pitchFamily="34" charset="-122"/>
                <a:cs typeface="Calibri" pitchFamily="34" charset="-120"/>
              </a:rPr>
              <a:t>0.639</a:t>
            </a:r>
            <a:endParaRPr lang="en-US" sz="840" dirty="0"/>
          </a:p>
        </p:txBody>
      </p:sp>
      <p:sp>
        <p:nvSpPr>
          <p:cNvPr id="20" name="Text 17"/>
          <p:cNvSpPr/>
          <p:nvPr/>
        </p:nvSpPr>
        <p:spPr>
          <a:xfrm>
            <a:off x="2183152" y="1905149"/>
            <a:ext cx="835685" cy="311497"/>
          </a:xfrm>
          <a:prstGeom prst="rect">
            <a:avLst/>
          </a:prstGeom>
          <a:solidFill>
            <a:srgbClr val="0B2545">
              <a:alpha val="6000"/>
            </a:srgbClr>
          </a:solidFill>
          <a:ln w="9525">
            <a:solidFill>
              <a:srgbClr val="0B2545">
                <a:alpha val="8000"/>
              </a:srgbClr>
            </a:solidFill>
          </a:ln>
        </p:spPr>
        <p:txBody>
          <a:bodyPr wrap="none" lIns="100330" tIns="71120" rIns="100330" bIns="71120" rtlCol="0" anchor="t"/>
          <a:lstStyle/>
          <a:p>
            <a:pPr marL="0" indent="0" algn="ctr">
              <a:buNone/>
            </a:pPr>
            <a:r>
              <a:rPr lang="en-US" sz="840" dirty="0">
                <a:solidFill>
                  <a:srgbClr val="94A3B8"/>
                </a:solidFill>
                <a:latin typeface="Calibri" pitchFamily="34" charset="0"/>
                <a:ea typeface="Calibri" pitchFamily="34" charset="-122"/>
                <a:cs typeface="Calibri" pitchFamily="34" charset="-120"/>
              </a:rPr>
              <a:t>1.000</a:t>
            </a:r>
            <a:endParaRPr lang="en-US" sz="840" dirty="0"/>
          </a:p>
        </p:txBody>
      </p:sp>
      <p:sp>
        <p:nvSpPr>
          <p:cNvPr id="21" name="Text 18"/>
          <p:cNvSpPr/>
          <p:nvPr/>
        </p:nvSpPr>
        <p:spPr>
          <a:xfrm>
            <a:off x="2999955" y="1905149"/>
            <a:ext cx="1090261" cy="311497"/>
          </a:xfrm>
          <a:prstGeom prst="rect">
            <a:avLst/>
          </a:prstGeom>
          <a:solidFill>
            <a:srgbClr val="E63946">
              <a:alpha val="12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C0392B"/>
                </a:solidFill>
                <a:latin typeface="Calibri" pitchFamily="34" charset="0"/>
                <a:ea typeface="Calibri" pitchFamily="34" charset="-122"/>
                <a:cs typeface="Calibri" pitchFamily="34" charset="-120"/>
              </a:rPr>
              <a:t>0.928</a:t>
            </a:r>
            <a:endParaRPr lang="en-US" sz="840" dirty="0"/>
          </a:p>
        </p:txBody>
      </p:sp>
      <p:sp>
        <p:nvSpPr>
          <p:cNvPr id="22" name="Text 19"/>
          <p:cNvSpPr/>
          <p:nvPr/>
        </p:nvSpPr>
        <p:spPr>
          <a:xfrm>
            <a:off x="4072185" y="1905149"/>
            <a:ext cx="749004" cy="311497"/>
          </a:xfrm>
          <a:prstGeom prst="rect">
            <a:avLst/>
          </a:prstGeom>
          <a:solidFill>
            <a:srgbClr val="E63946">
              <a:alpha val="12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C0392B"/>
                </a:solidFill>
                <a:latin typeface="Calibri" pitchFamily="34" charset="0"/>
                <a:ea typeface="Calibri" pitchFamily="34" charset="-122"/>
                <a:cs typeface="Calibri" pitchFamily="34" charset="-120"/>
              </a:rPr>
              <a:t>0.877</a:t>
            </a:r>
            <a:endParaRPr lang="en-US" sz="840" dirty="0"/>
          </a:p>
        </p:txBody>
      </p:sp>
      <p:sp>
        <p:nvSpPr>
          <p:cNvPr id="23" name="Text 20"/>
          <p:cNvSpPr/>
          <p:nvPr/>
        </p:nvSpPr>
        <p:spPr>
          <a:xfrm>
            <a:off x="414338" y="2216646"/>
            <a:ext cx="1068884" cy="320842"/>
          </a:xfrm>
          <a:prstGeom prst="rect">
            <a:avLst/>
          </a:prstGeom>
          <a:solidFill>
            <a:srgbClr val="0B2545"/>
          </a:solidFill>
          <a:ln w="9525">
            <a:solidFill>
              <a:srgbClr val="0B2545">
                <a:alpha val="15000"/>
              </a:srgbClr>
            </a:solidFill>
          </a:ln>
        </p:spPr>
        <p:txBody>
          <a:bodyPr wrap="none" lIns="100330" tIns="71120" rIns="100330" bIns="71120" rtlCol="0" anchor="t"/>
          <a:lstStyle/>
          <a:p>
            <a:pPr marL="0" indent="0" algn="l">
              <a:buNone/>
            </a:pPr>
            <a:r>
              <a:rPr lang="en-US" sz="730" b="1" kern="0" spc="30" dirty="0">
                <a:solidFill>
                  <a:srgbClr val="F8FAFC"/>
                </a:solidFill>
                <a:latin typeface="Constantia" pitchFamily="34" charset="0"/>
                <a:ea typeface="Constantia" pitchFamily="34" charset="-122"/>
                <a:cs typeface="Constantia" pitchFamily="34" charset="-120"/>
              </a:rPr>
              <a:t>BEDROOMS</a:t>
            </a:r>
            <a:endParaRPr lang="en-US" sz="730" dirty="0"/>
          </a:p>
        </p:txBody>
      </p:sp>
      <p:sp>
        <p:nvSpPr>
          <p:cNvPr id="24" name="Text 21"/>
          <p:cNvSpPr/>
          <p:nvPr/>
        </p:nvSpPr>
        <p:spPr>
          <a:xfrm>
            <a:off x="1476140" y="2216646"/>
            <a:ext cx="722287" cy="311497"/>
          </a:xfrm>
          <a:prstGeom prst="rect">
            <a:avLst/>
          </a:prstGeom>
          <a:solidFill>
            <a:srgbClr val="00B4D8">
              <a:alpha val="10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0090AD"/>
                </a:solidFill>
                <a:latin typeface="Calibri" pitchFamily="34" charset="0"/>
                <a:ea typeface="Calibri" pitchFamily="34" charset="-122"/>
                <a:cs typeface="Calibri" pitchFamily="34" charset="-120"/>
              </a:rPr>
              <a:t>0.639</a:t>
            </a:r>
            <a:endParaRPr lang="en-US" sz="840" dirty="0"/>
          </a:p>
        </p:txBody>
      </p:sp>
      <p:sp>
        <p:nvSpPr>
          <p:cNvPr id="25" name="Text 22"/>
          <p:cNvSpPr/>
          <p:nvPr/>
        </p:nvSpPr>
        <p:spPr>
          <a:xfrm>
            <a:off x="2183152" y="2216646"/>
            <a:ext cx="835685" cy="311497"/>
          </a:xfrm>
          <a:prstGeom prst="rect">
            <a:avLst/>
          </a:prstGeom>
          <a:solidFill>
            <a:srgbClr val="E63946">
              <a:alpha val="12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C0392B"/>
                </a:solidFill>
                <a:latin typeface="Calibri" pitchFamily="34" charset="0"/>
                <a:ea typeface="Calibri" pitchFamily="34" charset="-122"/>
                <a:cs typeface="Calibri" pitchFamily="34" charset="-120"/>
              </a:rPr>
              <a:t>0.928</a:t>
            </a:r>
            <a:endParaRPr lang="en-US" sz="840" dirty="0"/>
          </a:p>
        </p:txBody>
      </p:sp>
      <p:sp>
        <p:nvSpPr>
          <p:cNvPr id="26" name="Text 23"/>
          <p:cNvSpPr/>
          <p:nvPr/>
        </p:nvSpPr>
        <p:spPr>
          <a:xfrm>
            <a:off x="2999955" y="2216646"/>
            <a:ext cx="1090261" cy="311497"/>
          </a:xfrm>
          <a:prstGeom prst="rect">
            <a:avLst/>
          </a:prstGeom>
          <a:solidFill>
            <a:srgbClr val="0B2545">
              <a:alpha val="6000"/>
            </a:srgbClr>
          </a:solidFill>
          <a:ln w="9525">
            <a:solidFill>
              <a:srgbClr val="0B2545">
                <a:alpha val="8000"/>
              </a:srgbClr>
            </a:solidFill>
          </a:ln>
        </p:spPr>
        <p:txBody>
          <a:bodyPr wrap="none" lIns="100330" tIns="71120" rIns="100330" bIns="71120" rtlCol="0" anchor="t"/>
          <a:lstStyle/>
          <a:p>
            <a:pPr marL="0" indent="0" algn="ctr">
              <a:buNone/>
            </a:pPr>
            <a:r>
              <a:rPr lang="en-US" sz="840" dirty="0">
                <a:solidFill>
                  <a:srgbClr val="94A3B8"/>
                </a:solidFill>
                <a:latin typeface="Calibri" pitchFamily="34" charset="0"/>
                <a:ea typeface="Calibri" pitchFamily="34" charset="-122"/>
                <a:cs typeface="Calibri" pitchFamily="34" charset="-120"/>
              </a:rPr>
              <a:t>1.000</a:t>
            </a:r>
            <a:endParaRPr lang="en-US" sz="840" dirty="0"/>
          </a:p>
        </p:txBody>
      </p:sp>
      <p:sp>
        <p:nvSpPr>
          <p:cNvPr id="27" name="Text 24"/>
          <p:cNvSpPr/>
          <p:nvPr/>
        </p:nvSpPr>
        <p:spPr>
          <a:xfrm>
            <a:off x="4072185" y="2216646"/>
            <a:ext cx="749004" cy="311497"/>
          </a:xfrm>
          <a:prstGeom prst="rect">
            <a:avLst/>
          </a:prstGeom>
          <a:solidFill>
            <a:srgbClr val="E63946">
              <a:alpha val="12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C0392B"/>
                </a:solidFill>
                <a:latin typeface="Calibri" pitchFamily="34" charset="0"/>
                <a:ea typeface="Calibri" pitchFamily="34" charset="-122"/>
                <a:cs typeface="Calibri" pitchFamily="34" charset="-120"/>
              </a:rPr>
              <a:t>0.933</a:t>
            </a:r>
            <a:endParaRPr lang="en-US" sz="840" dirty="0"/>
          </a:p>
        </p:txBody>
      </p:sp>
      <p:sp>
        <p:nvSpPr>
          <p:cNvPr id="28" name="Text 25"/>
          <p:cNvSpPr/>
          <p:nvPr/>
        </p:nvSpPr>
        <p:spPr>
          <a:xfrm>
            <a:off x="414338" y="2528143"/>
            <a:ext cx="1068884" cy="332646"/>
          </a:xfrm>
          <a:prstGeom prst="rect">
            <a:avLst/>
          </a:prstGeom>
          <a:solidFill>
            <a:srgbClr val="0B2545"/>
          </a:solidFill>
          <a:ln w="9525">
            <a:solidFill>
              <a:srgbClr val="0B2545">
                <a:alpha val="15000"/>
              </a:srgbClr>
            </a:solidFill>
          </a:ln>
        </p:spPr>
        <p:txBody>
          <a:bodyPr wrap="none" lIns="100330" tIns="71120" rIns="100330" bIns="71120" rtlCol="0" anchor="t"/>
          <a:lstStyle/>
          <a:p>
            <a:pPr marL="0" indent="0" algn="l">
              <a:buNone/>
            </a:pPr>
            <a:r>
              <a:rPr lang="en-US" sz="730" b="1" kern="0" spc="30" dirty="0">
                <a:solidFill>
                  <a:srgbClr val="F8FAFC"/>
                </a:solidFill>
                <a:latin typeface="Constantia" pitchFamily="34" charset="0"/>
                <a:ea typeface="Constantia" pitchFamily="34" charset="-122"/>
                <a:cs typeface="Constantia" pitchFamily="34" charset="-120"/>
              </a:rPr>
              <a:t>BATHS</a:t>
            </a:r>
            <a:endParaRPr lang="en-US" sz="730" dirty="0"/>
          </a:p>
        </p:txBody>
      </p:sp>
      <p:sp>
        <p:nvSpPr>
          <p:cNvPr id="29" name="Text 26"/>
          <p:cNvSpPr/>
          <p:nvPr/>
        </p:nvSpPr>
        <p:spPr>
          <a:xfrm>
            <a:off x="1476140" y="2528143"/>
            <a:ext cx="722287" cy="322957"/>
          </a:xfrm>
          <a:prstGeom prst="rect">
            <a:avLst/>
          </a:prstGeom>
          <a:solidFill>
            <a:srgbClr val="00B4D8">
              <a:alpha val="10000"/>
            </a:srgbClr>
          </a:solidFill>
          <a:ln w="9525">
            <a:solidFill>
              <a:srgbClr val="0B2545">
                <a:alpha val="8000"/>
              </a:srgbClr>
            </a:solidFill>
          </a:ln>
        </p:spPr>
        <p:txBody>
          <a:bodyPr wrap="none" lIns="100330" tIns="71120" rIns="100330" bIns="71120" rtlCol="0" anchor="t"/>
          <a:lstStyle/>
          <a:p>
            <a:pPr marL="0" indent="0" algn="ctr">
              <a:buNone/>
            </a:pPr>
            <a:r>
              <a:rPr lang="en-US" sz="900" b="1" dirty="0">
                <a:solidFill>
                  <a:srgbClr val="0090AD"/>
                </a:solidFill>
                <a:latin typeface="Calibri" pitchFamily="34" charset="0"/>
                <a:ea typeface="Calibri" pitchFamily="34" charset="-122"/>
                <a:cs typeface="Calibri" pitchFamily="34" charset="-120"/>
              </a:rPr>
              <a:t>0.677</a:t>
            </a:r>
            <a:endParaRPr lang="en-US" sz="900" dirty="0"/>
          </a:p>
        </p:txBody>
      </p:sp>
      <p:sp>
        <p:nvSpPr>
          <p:cNvPr id="30" name="Text 27"/>
          <p:cNvSpPr/>
          <p:nvPr/>
        </p:nvSpPr>
        <p:spPr>
          <a:xfrm>
            <a:off x="2183152" y="2528143"/>
            <a:ext cx="835685" cy="322957"/>
          </a:xfrm>
          <a:prstGeom prst="rect">
            <a:avLst/>
          </a:prstGeom>
          <a:solidFill>
            <a:srgbClr val="E63946">
              <a:alpha val="12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C0392B"/>
                </a:solidFill>
                <a:latin typeface="Calibri" pitchFamily="34" charset="0"/>
                <a:ea typeface="Calibri" pitchFamily="34" charset="-122"/>
                <a:cs typeface="Calibri" pitchFamily="34" charset="-120"/>
              </a:rPr>
              <a:t>0.877</a:t>
            </a:r>
            <a:endParaRPr lang="en-US" sz="840" dirty="0"/>
          </a:p>
        </p:txBody>
      </p:sp>
      <p:sp>
        <p:nvSpPr>
          <p:cNvPr id="31" name="Text 28"/>
          <p:cNvSpPr/>
          <p:nvPr/>
        </p:nvSpPr>
        <p:spPr>
          <a:xfrm>
            <a:off x="2999955" y="2528143"/>
            <a:ext cx="1090261" cy="322957"/>
          </a:xfrm>
          <a:prstGeom prst="rect">
            <a:avLst/>
          </a:prstGeom>
          <a:solidFill>
            <a:srgbClr val="E63946">
              <a:alpha val="12000"/>
            </a:srgbClr>
          </a:solidFill>
          <a:ln w="9525">
            <a:solidFill>
              <a:srgbClr val="0B2545">
                <a:alpha val="8000"/>
              </a:srgbClr>
            </a:solidFill>
          </a:ln>
        </p:spPr>
        <p:txBody>
          <a:bodyPr wrap="none" lIns="100330" tIns="71120" rIns="100330" bIns="71120" rtlCol="0" anchor="t"/>
          <a:lstStyle/>
          <a:p>
            <a:pPr marL="0" indent="0" algn="ctr">
              <a:buNone/>
            </a:pPr>
            <a:r>
              <a:rPr lang="en-US" sz="840" b="1" dirty="0">
                <a:solidFill>
                  <a:srgbClr val="C0392B"/>
                </a:solidFill>
                <a:latin typeface="Calibri" pitchFamily="34" charset="0"/>
                <a:ea typeface="Calibri" pitchFamily="34" charset="-122"/>
                <a:cs typeface="Calibri" pitchFamily="34" charset="-120"/>
              </a:rPr>
              <a:t>0.933</a:t>
            </a:r>
            <a:endParaRPr lang="en-US" sz="840" dirty="0"/>
          </a:p>
        </p:txBody>
      </p:sp>
      <p:sp>
        <p:nvSpPr>
          <p:cNvPr id="32" name="Text 29"/>
          <p:cNvSpPr/>
          <p:nvPr/>
        </p:nvSpPr>
        <p:spPr>
          <a:xfrm>
            <a:off x="4072185" y="2528143"/>
            <a:ext cx="749004" cy="322957"/>
          </a:xfrm>
          <a:prstGeom prst="rect">
            <a:avLst/>
          </a:prstGeom>
          <a:solidFill>
            <a:srgbClr val="0B2545">
              <a:alpha val="6000"/>
            </a:srgbClr>
          </a:solidFill>
          <a:ln w="9525">
            <a:solidFill>
              <a:srgbClr val="0B2545">
                <a:alpha val="8000"/>
              </a:srgbClr>
            </a:solidFill>
          </a:ln>
        </p:spPr>
        <p:txBody>
          <a:bodyPr wrap="none" lIns="100330" tIns="71120" rIns="100330" bIns="71120" rtlCol="0" anchor="t"/>
          <a:lstStyle/>
          <a:p>
            <a:pPr marL="0" indent="0" algn="ctr">
              <a:buNone/>
            </a:pPr>
            <a:r>
              <a:rPr lang="en-US" sz="840" dirty="0">
                <a:solidFill>
                  <a:srgbClr val="94A3B8"/>
                </a:solidFill>
                <a:latin typeface="Calibri" pitchFamily="34" charset="0"/>
                <a:ea typeface="Calibri" pitchFamily="34" charset="-122"/>
                <a:cs typeface="Calibri" pitchFamily="34" charset="-120"/>
              </a:rPr>
              <a:t>1.000</a:t>
            </a:r>
            <a:endParaRPr lang="en-US" sz="840" dirty="0"/>
          </a:p>
        </p:txBody>
      </p:sp>
      <p:sp>
        <p:nvSpPr>
          <p:cNvPr id="33" name="Text 30"/>
          <p:cNvSpPr/>
          <p:nvPr/>
        </p:nvSpPr>
        <p:spPr>
          <a:xfrm>
            <a:off x="400050" y="2980283"/>
            <a:ext cx="100310" cy="100310"/>
          </a:xfrm>
          <a:prstGeom prst="roundRect">
            <a:avLst>
              <a:gd name="adj" fmla="val 21523"/>
            </a:avLst>
          </a:prstGeom>
          <a:solidFill>
            <a:srgbClr val="00B4D8">
              <a:alpha val="15000"/>
            </a:srgbClr>
          </a:solidFill>
          <a:ln w="9525">
            <a:solidFill>
              <a:srgbClr val="0090AD"/>
            </a:solidFill>
          </a:ln>
        </p:spPr>
        <p:txBody>
          <a:bodyPr wrap="none" rtlCol="0" anchor="t"/>
          <a:lstStyle/>
          <a:p>
            <a:pPr marL="0" indent="0">
              <a:buNone/>
            </a:pPr>
            <a:endParaRPr lang="en-US" dirty="0"/>
          </a:p>
        </p:txBody>
      </p:sp>
      <p:sp>
        <p:nvSpPr>
          <p:cNvPr id="34" name="Text 31"/>
          <p:cNvSpPr/>
          <p:nvPr/>
        </p:nvSpPr>
        <p:spPr>
          <a:xfrm>
            <a:off x="543520" y="2965698"/>
            <a:ext cx="1196072" cy="129480"/>
          </a:xfrm>
          <a:prstGeom prst="rect">
            <a:avLst/>
          </a:prstGeom>
          <a:noFill/>
          <a:ln/>
        </p:spPr>
        <p:txBody>
          <a:bodyPr wrap="none" lIns="0" tIns="0" rIns="0" bIns="0" rtlCol="0" anchor="ctr"/>
          <a:lstStyle/>
          <a:p>
            <a:pPr marL="0" indent="0" algn="l">
              <a:lnSpc>
                <a:spcPts val="1020"/>
              </a:lnSpc>
              <a:buNone/>
            </a:pPr>
            <a:r>
              <a:rPr lang="en-US" sz="680" dirty="0">
                <a:solidFill>
                  <a:srgbClr val="4A5568"/>
                </a:solidFill>
                <a:latin typeface="Calibri" pitchFamily="34" charset="0"/>
                <a:ea typeface="Calibri" pitchFamily="34" charset="-122"/>
                <a:cs typeface="Calibri" pitchFamily="34" charset="-120"/>
              </a:rPr>
              <a:t>Price correlation (0.64–0.68)</a:t>
            </a:r>
            <a:endParaRPr lang="en-US" sz="680" dirty="0"/>
          </a:p>
        </p:txBody>
      </p:sp>
      <p:sp>
        <p:nvSpPr>
          <p:cNvPr id="35" name="Text 32"/>
          <p:cNvSpPr/>
          <p:nvPr/>
        </p:nvSpPr>
        <p:spPr>
          <a:xfrm>
            <a:off x="1802309" y="2980283"/>
            <a:ext cx="100310" cy="100310"/>
          </a:xfrm>
          <a:prstGeom prst="roundRect">
            <a:avLst>
              <a:gd name="adj" fmla="val 21523"/>
            </a:avLst>
          </a:prstGeom>
          <a:solidFill>
            <a:srgbClr val="E63946">
              <a:alpha val="15000"/>
            </a:srgbClr>
          </a:solidFill>
          <a:ln w="9525">
            <a:solidFill>
              <a:srgbClr val="C0392B"/>
            </a:solidFill>
          </a:ln>
        </p:spPr>
        <p:txBody>
          <a:bodyPr wrap="none" rtlCol="0" anchor="t"/>
          <a:lstStyle/>
          <a:p>
            <a:pPr marL="0" indent="0">
              <a:buNone/>
            </a:pPr>
            <a:endParaRPr lang="en-US" dirty="0"/>
          </a:p>
        </p:txBody>
      </p:sp>
      <p:sp>
        <p:nvSpPr>
          <p:cNvPr id="36" name="Text 33"/>
          <p:cNvSpPr/>
          <p:nvPr/>
        </p:nvSpPr>
        <p:spPr>
          <a:xfrm>
            <a:off x="1945779" y="2965698"/>
            <a:ext cx="1317218" cy="129480"/>
          </a:xfrm>
          <a:prstGeom prst="rect">
            <a:avLst/>
          </a:prstGeom>
          <a:noFill/>
          <a:ln/>
        </p:spPr>
        <p:txBody>
          <a:bodyPr wrap="none" lIns="0" tIns="0" rIns="0" bIns="0" rtlCol="0" anchor="ctr"/>
          <a:lstStyle/>
          <a:p>
            <a:pPr marL="0" indent="0" algn="l">
              <a:lnSpc>
                <a:spcPts val="1020"/>
              </a:lnSpc>
              <a:buNone/>
            </a:pPr>
            <a:r>
              <a:rPr lang="en-US" sz="680" dirty="0">
                <a:solidFill>
                  <a:srgbClr val="4A5568"/>
                </a:solidFill>
                <a:latin typeface="Calibri" pitchFamily="34" charset="0"/>
                <a:ea typeface="Calibri" pitchFamily="34" charset="-122"/>
                <a:cs typeface="Calibri" pitchFamily="34" charset="-120"/>
              </a:rPr>
              <a:t>High inter-predictor (0.88–0.93)</a:t>
            </a:r>
            <a:endParaRPr lang="en-US" sz="680" dirty="0"/>
          </a:p>
        </p:txBody>
      </p:sp>
      <p:sp>
        <p:nvSpPr>
          <p:cNvPr id="37" name="Text 34"/>
          <p:cNvSpPr/>
          <p:nvPr/>
        </p:nvSpPr>
        <p:spPr>
          <a:xfrm>
            <a:off x="400050" y="3238649"/>
            <a:ext cx="4870892" cy="150465"/>
          </a:xfrm>
          <a:prstGeom prst="rect">
            <a:avLst/>
          </a:prstGeom>
          <a:noFill/>
          <a:ln/>
        </p:spPr>
        <p:txBody>
          <a:bodyPr wrap="none" lIns="0" tIns="0" rIns="0" bIns="0" rtlCol="0" anchor="t"/>
          <a:lstStyle/>
          <a:p>
            <a:pPr marL="0" indent="0" algn="l">
              <a:lnSpc>
                <a:spcPts val="1185"/>
              </a:lnSpc>
              <a:spcAft>
                <a:spcPts val="560"/>
              </a:spcAft>
              <a:buNone/>
            </a:pPr>
            <a:r>
              <a:rPr lang="en-US" sz="790" b="1" dirty="0">
                <a:solidFill>
                  <a:srgbClr val="4A5568"/>
                </a:solidFill>
                <a:latin typeface="Constantia" pitchFamily="34" charset="0"/>
                <a:ea typeface="Constantia" pitchFamily="34" charset="-122"/>
                <a:cs typeface="Constantia" pitchFamily="34" charset="-120"/>
              </a:rPr>
              <a:t>Correlation with Price</a:t>
            </a:r>
            <a:endParaRPr lang="en-US" sz="790" dirty="0"/>
          </a:p>
        </p:txBody>
      </p:sp>
      <p:sp>
        <p:nvSpPr>
          <p:cNvPr id="38" name="Text 35"/>
          <p:cNvSpPr/>
          <p:nvPr/>
        </p:nvSpPr>
        <p:spPr>
          <a:xfrm>
            <a:off x="348615" y="3462338"/>
            <a:ext cx="565785" cy="139005"/>
          </a:xfrm>
          <a:prstGeom prst="rect">
            <a:avLst/>
          </a:prstGeom>
          <a:noFill/>
          <a:ln/>
        </p:spPr>
        <p:txBody>
          <a:bodyPr wrap="none" lIns="0" tIns="0" rIns="0" bIns="0" rtlCol="0" anchor="ctr"/>
          <a:lstStyle/>
          <a:p>
            <a:pPr marL="0" indent="0" algn="r">
              <a:lnSpc>
                <a:spcPts val="1095"/>
              </a:lnSpc>
              <a:buNone/>
            </a:pPr>
            <a:r>
              <a:rPr lang="en-US" sz="730" dirty="0">
                <a:solidFill>
                  <a:srgbClr val="4A5568"/>
                </a:solidFill>
                <a:latin typeface="Calibri" pitchFamily="34" charset="0"/>
                <a:ea typeface="Calibri" pitchFamily="34" charset="-122"/>
                <a:cs typeface="Calibri" pitchFamily="34" charset="-120"/>
              </a:rPr>
              <a:t>Baths</a:t>
            </a:r>
            <a:endParaRPr lang="en-US" sz="730" dirty="0"/>
          </a:p>
        </p:txBody>
      </p:sp>
      <p:sp>
        <p:nvSpPr>
          <p:cNvPr id="39" name="Text 36"/>
          <p:cNvSpPr/>
          <p:nvPr/>
        </p:nvSpPr>
        <p:spPr>
          <a:xfrm>
            <a:off x="985391" y="3460105"/>
            <a:ext cx="3842742" cy="143470"/>
          </a:xfrm>
          <a:prstGeom prst="roundRect">
            <a:avLst>
              <a:gd name="adj" fmla="val 49571"/>
            </a:avLst>
          </a:prstGeom>
          <a:solidFill>
            <a:srgbClr val="0B2545">
              <a:alpha val="6000"/>
            </a:srgbClr>
          </a:solidFill>
          <a:ln/>
        </p:spPr>
        <p:txBody>
          <a:bodyPr wrap="none" rtlCol="0" anchor="t"/>
          <a:lstStyle/>
          <a:p>
            <a:pPr marL="0" indent="0">
              <a:buNone/>
            </a:pPr>
            <a:endParaRPr lang="en-US" dirty="0"/>
          </a:p>
        </p:txBody>
      </p:sp>
      <p:sp>
        <p:nvSpPr>
          <p:cNvPr id="40" name="Text 37"/>
          <p:cNvSpPr/>
          <p:nvPr/>
        </p:nvSpPr>
        <p:spPr>
          <a:xfrm>
            <a:off x="933361" y="3460105"/>
            <a:ext cx="2653546" cy="143470"/>
          </a:xfrm>
          <a:prstGeom prst="roundRect">
            <a:avLst>
              <a:gd name="adj" fmla="val 49571"/>
            </a:avLst>
          </a:prstGeom>
          <a:gradFill rotWithShape="1">
            <a:gsLst>
              <a:gs pos="0">
                <a:srgbClr val="00B4D8"/>
              </a:gs>
              <a:gs pos="100000">
                <a:srgbClr val="0090AD"/>
              </a:gs>
            </a:gsLst>
            <a:lin ang="0" scaled="1"/>
          </a:gradFill>
          <a:ln/>
        </p:spPr>
        <p:txBody>
          <a:bodyPr wrap="none" lIns="0" tIns="0" rIns="57150" bIns="0" rtlCol="0" anchor="ctr"/>
          <a:lstStyle/>
          <a:p>
            <a:pPr marL="0" indent="0" algn="r">
              <a:buNone/>
            </a:pPr>
            <a:r>
              <a:rPr lang="en-US" sz="680" b="1" dirty="0">
                <a:solidFill>
                  <a:srgbClr val="FFFFFF"/>
                </a:solidFill>
                <a:latin typeface="Calibri" pitchFamily="34" charset="0"/>
                <a:ea typeface="Calibri" pitchFamily="34" charset="-122"/>
                <a:cs typeface="Calibri" pitchFamily="34" charset="-120"/>
              </a:rPr>
              <a:t>0.677</a:t>
            </a:r>
            <a:endParaRPr lang="en-US" sz="680" dirty="0"/>
          </a:p>
        </p:txBody>
      </p:sp>
      <p:sp>
        <p:nvSpPr>
          <p:cNvPr id="41" name="Text 38"/>
          <p:cNvSpPr/>
          <p:nvPr/>
        </p:nvSpPr>
        <p:spPr>
          <a:xfrm>
            <a:off x="348615" y="3662958"/>
            <a:ext cx="565785" cy="139005"/>
          </a:xfrm>
          <a:prstGeom prst="rect">
            <a:avLst/>
          </a:prstGeom>
          <a:noFill/>
          <a:ln/>
        </p:spPr>
        <p:txBody>
          <a:bodyPr wrap="none" lIns="0" tIns="0" rIns="0" bIns="0" rtlCol="0" anchor="ctr"/>
          <a:lstStyle/>
          <a:p>
            <a:pPr marL="0" indent="0" algn="r">
              <a:lnSpc>
                <a:spcPts val="1095"/>
              </a:lnSpc>
              <a:buNone/>
            </a:pPr>
            <a:r>
              <a:rPr lang="en-US" sz="730" dirty="0">
                <a:solidFill>
                  <a:srgbClr val="4A5568"/>
                </a:solidFill>
                <a:latin typeface="Calibri" pitchFamily="34" charset="0"/>
                <a:ea typeface="Calibri" pitchFamily="34" charset="-122"/>
                <a:cs typeface="Calibri" pitchFamily="34" charset="-120"/>
              </a:rPr>
              <a:t>Guests</a:t>
            </a:r>
            <a:endParaRPr lang="en-US" sz="730" dirty="0"/>
          </a:p>
        </p:txBody>
      </p:sp>
      <p:sp>
        <p:nvSpPr>
          <p:cNvPr id="42" name="Text 39"/>
          <p:cNvSpPr/>
          <p:nvPr/>
        </p:nvSpPr>
        <p:spPr>
          <a:xfrm>
            <a:off x="985391" y="3660725"/>
            <a:ext cx="3842742" cy="143470"/>
          </a:xfrm>
          <a:prstGeom prst="roundRect">
            <a:avLst>
              <a:gd name="adj" fmla="val 49571"/>
            </a:avLst>
          </a:prstGeom>
          <a:solidFill>
            <a:srgbClr val="0B2545">
              <a:alpha val="6000"/>
            </a:srgbClr>
          </a:solidFill>
          <a:ln/>
        </p:spPr>
        <p:txBody>
          <a:bodyPr wrap="none" rtlCol="0" anchor="t"/>
          <a:lstStyle/>
          <a:p>
            <a:pPr marL="0" indent="0">
              <a:buNone/>
            </a:pPr>
            <a:endParaRPr lang="en-US" dirty="0"/>
          </a:p>
        </p:txBody>
      </p:sp>
      <p:sp>
        <p:nvSpPr>
          <p:cNvPr id="43" name="Text 40"/>
          <p:cNvSpPr/>
          <p:nvPr/>
        </p:nvSpPr>
        <p:spPr>
          <a:xfrm>
            <a:off x="936284" y="3660725"/>
            <a:ext cx="2504474" cy="143470"/>
          </a:xfrm>
          <a:prstGeom prst="roundRect">
            <a:avLst>
              <a:gd name="adj" fmla="val 49571"/>
            </a:avLst>
          </a:prstGeom>
          <a:gradFill rotWithShape="1">
            <a:gsLst>
              <a:gs pos="0">
                <a:srgbClr val="00B4D8"/>
              </a:gs>
              <a:gs pos="100000">
                <a:srgbClr val="0090AD"/>
              </a:gs>
            </a:gsLst>
            <a:lin ang="0" scaled="1"/>
          </a:gradFill>
          <a:ln/>
        </p:spPr>
        <p:txBody>
          <a:bodyPr wrap="none" lIns="0" tIns="0" rIns="57150" bIns="0" rtlCol="0" anchor="ctr"/>
          <a:lstStyle/>
          <a:p>
            <a:pPr marL="0" indent="0" algn="r">
              <a:buNone/>
            </a:pPr>
            <a:r>
              <a:rPr lang="en-US" sz="680" b="1" dirty="0">
                <a:solidFill>
                  <a:srgbClr val="FFFFFF"/>
                </a:solidFill>
                <a:latin typeface="Calibri" pitchFamily="34" charset="0"/>
                <a:ea typeface="Calibri" pitchFamily="34" charset="-122"/>
                <a:cs typeface="Calibri" pitchFamily="34" charset="-120"/>
              </a:rPr>
              <a:t>0.639</a:t>
            </a:r>
            <a:endParaRPr lang="en-US" sz="680" dirty="0"/>
          </a:p>
        </p:txBody>
      </p:sp>
      <p:sp>
        <p:nvSpPr>
          <p:cNvPr id="44" name="Text 41"/>
          <p:cNvSpPr/>
          <p:nvPr/>
        </p:nvSpPr>
        <p:spPr>
          <a:xfrm>
            <a:off x="348615" y="3863578"/>
            <a:ext cx="565785" cy="139005"/>
          </a:xfrm>
          <a:prstGeom prst="rect">
            <a:avLst/>
          </a:prstGeom>
          <a:noFill/>
          <a:ln/>
        </p:spPr>
        <p:txBody>
          <a:bodyPr wrap="none" lIns="0" tIns="0" rIns="0" bIns="0" rtlCol="0" anchor="ctr"/>
          <a:lstStyle/>
          <a:p>
            <a:pPr marL="0" indent="0" algn="r">
              <a:lnSpc>
                <a:spcPts val="1095"/>
              </a:lnSpc>
              <a:buNone/>
            </a:pPr>
            <a:r>
              <a:rPr lang="en-US" sz="730" dirty="0">
                <a:solidFill>
                  <a:srgbClr val="4A5568"/>
                </a:solidFill>
                <a:latin typeface="Calibri" pitchFamily="34" charset="0"/>
                <a:ea typeface="Calibri" pitchFamily="34" charset="-122"/>
                <a:cs typeface="Calibri" pitchFamily="34" charset="-120"/>
              </a:rPr>
              <a:t>Bedrooms</a:t>
            </a:r>
            <a:endParaRPr lang="en-US" sz="730" dirty="0"/>
          </a:p>
        </p:txBody>
      </p:sp>
      <p:sp>
        <p:nvSpPr>
          <p:cNvPr id="45" name="Text 42"/>
          <p:cNvSpPr/>
          <p:nvPr/>
        </p:nvSpPr>
        <p:spPr>
          <a:xfrm>
            <a:off x="985391" y="3861346"/>
            <a:ext cx="3842742" cy="143470"/>
          </a:xfrm>
          <a:prstGeom prst="roundRect">
            <a:avLst>
              <a:gd name="adj" fmla="val 49571"/>
            </a:avLst>
          </a:prstGeom>
          <a:solidFill>
            <a:srgbClr val="0B2545">
              <a:alpha val="6000"/>
            </a:srgbClr>
          </a:solidFill>
          <a:ln/>
        </p:spPr>
        <p:txBody>
          <a:bodyPr wrap="none" rtlCol="0" anchor="t"/>
          <a:lstStyle/>
          <a:p>
            <a:pPr marL="0" indent="0">
              <a:buNone/>
            </a:pPr>
            <a:endParaRPr lang="en-US" dirty="0"/>
          </a:p>
        </p:txBody>
      </p:sp>
      <p:sp>
        <p:nvSpPr>
          <p:cNvPr id="46" name="Text 43"/>
          <p:cNvSpPr/>
          <p:nvPr/>
        </p:nvSpPr>
        <p:spPr>
          <a:xfrm>
            <a:off x="936284" y="3861346"/>
            <a:ext cx="2504474" cy="143470"/>
          </a:xfrm>
          <a:prstGeom prst="roundRect">
            <a:avLst>
              <a:gd name="adj" fmla="val 49571"/>
            </a:avLst>
          </a:prstGeom>
          <a:gradFill rotWithShape="1">
            <a:gsLst>
              <a:gs pos="0">
                <a:srgbClr val="00B4D8"/>
              </a:gs>
              <a:gs pos="100000">
                <a:srgbClr val="0090AD"/>
              </a:gs>
            </a:gsLst>
            <a:lin ang="0" scaled="1"/>
          </a:gradFill>
          <a:ln/>
        </p:spPr>
        <p:txBody>
          <a:bodyPr wrap="none" lIns="0" tIns="0" rIns="57150" bIns="0" rtlCol="0" anchor="ctr"/>
          <a:lstStyle/>
          <a:p>
            <a:pPr marL="0" indent="0" algn="r">
              <a:buNone/>
            </a:pPr>
            <a:r>
              <a:rPr lang="en-US" sz="680" b="1" dirty="0">
                <a:solidFill>
                  <a:srgbClr val="FFFFFF"/>
                </a:solidFill>
                <a:latin typeface="Calibri" pitchFamily="34" charset="0"/>
                <a:ea typeface="Calibri" pitchFamily="34" charset="-122"/>
                <a:cs typeface="Calibri" pitchFamily="34" charset="-120"/>
              </a:rPr>
              <a:t>0.639</a:t>
            </a:r>
            <a:endParaRPr lang="en-US" sz="680" dirty="0"/>
          </a:p>
        </p:txBody>
      </p:sp>
      <p:sp>
        <p:nvSpPr>
          <p:cNvPr id="47" name="Text 44"/>
          <p:cNvSpPr/>
          <p:nvPr/>
        </p:nvSpPr>
        <p:spPr>
          <a:xfrm>
            <a:off x="5239196" y="1050131"/>
            <a:ext cx="778446" cy="114300"/>
          </a:xfrm>
          <a:prstGeom prst="rect">
            <a:avLst/>
          </a:prstGeom>
          <a:noFill/>
          <a:ln/>
        </p:spPr>
        <p:txBody>
          <a:bodyPr wrap="none" lIns="0" tIns="0" rIns="0" bIns="0" rtlCol="0" anchor="t"/>
          <a:lstStyle/>
          <a:p>
            <a:pPr marL="0" indent="0" algn="l">
              <a:lnSpc>
                <a:spcPts val="1260"/>
              </a:lnSpc>
              <a:buNone/>
            </a:pPr>
            <a:r>
              <a:rPr lang="en-US" sz="840" b="1" dirty="0">
                <a:solidFill>
                  <a:srgbClr val="0B2545"/>
                </a:solidFill>
                <a:latin typeface="Constantia" pitchFamily="34" charset="0"/>
                <a:ea typeface="Constantia" pitchFamily="34" charset="-122"/>
                <a:cs typeface="Constantia" pitchFamily="34" charset="-120"/>
              </a:rPr>
              <a:t>Key Takeaways</a:t>
            </a:r>
            <a:endParaRPr lang="en-US" sz="840" dirty="0"/>
          </a:p>
        </p:txBody>
      </p:sp>
      <p:pic>
        <p:nvPicPr>
          <p:cNvPr id="4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67681" y="1044708"/>
            <a:ext cx="132588" cy="132588"/>
          </a:xfrm>
          <a:prstGeom prst="rect">
            <a:avLst/>
          </a:prstGeom>
        </p:spPr>
      </p:pic>
      <p:sp>
        <p:nvSpPr>
          <p:cNvPr id="49" name="Text 45"/>
          <p:cNvSpPr/>
          <p:nvPr/>
        </p:nvSpPr>
        <p:spPr>
          <a:xfrm>
            <a:off x="5085904" y="1305371"/>
            <a:ext cx="3658046" cy="695623"/>
          </a:xfrm>
          <a:prstGeom prst="roundRect">
            <a:avLst>
              <a:gd name="adj" fmla="val 10224"/>
            </a:avLst>
          </a:prstGeom>
          <a:solidFill>
            <a:srgbClr val="FFFFFF"/>
          </a:solidFill>
          <a:ln w="9525">
            <a:solidFill>
              <a:srgbClr val="0B2545">
                <a:alpha val="6000"/>
              </a:srgbClr>
            </a:solidFill>
          </a:ln>
          <a:effectLst>
            <a:outerShdw blurRad="71120" dist="13970" dir="5400000" algn="bl" rotWithShape="0">
              <a:srgbClr val="0B2545">
                <a:alpha val="5000"/>
              </a:srgbClr>
            </a:outerShdw>
          </a:effectLst>
        </p:spPr>
        <p:txBody>
          <a:bodyPr wrap="square" rtlCol="0" anchor="t"/>
          <a:lstStyle/>
          <a:p>
            <a:pPr marL="0" indent="0">
              <a:buNone/>
            </a:pPr>
            <a:endParaRPr lang="en-US" dirty="0"/>
          </a:p>
        </p:txBody>
      </p:sp>
      <p:sp>
        <p:nvSpPr>
          <p:cNvPr id="50" name="Text 46"/>
          <p:cNvSpPr/>
          <p:nvPr/>
        </p:nvSpPr>
        <p:spPr>
          <a:xfrm>
            <a:off x="5095429" y="1314896"/>
            <a:ext cx="35421" cy="676573"/>
          </a:xfrm>
          <a:prstGeom prst="roundRect">
            <a:avLst>
              <a:gd name="adj" fmla="val 60953"/>
            </a:avLst>
          </a:prstGeom>
          <a:solidFill>
            <a:srgbClr val="00B4D8"/>
          </a:solidFill>
          <a:ln/>
        </p:spPr>
        <p:txBody>
          <a:bodyPr wrap="square" rtlCol="0" anchor="t"/>
          <a:lstStyle/>
          <a:p>
            <a:pPr marL="0" indent="0">
              <a:buNone/>
            </a:pPr>
            <a:endParaRPr lang="en-US" dirty="0"/>
          </a:p>
        </p:txBody>
      </p:sp>
      <p:sp>
        <p:nvSpPr>
          <p:cNvPr id="51" name="Text 47"/>
          <p:cNvSpPr/>
          <p:nvPr/>
        </p:nvSpPr>
        <p:spPr>
          <a:xfrm>
            <a:off x="5266879" y="1450628"/>
            <a:ext cx="200620" cy="200620"/>
          </a:xfrm>
          <a:prstGeom prst="ellipse">
            <a:avLst/>
          </a:prstGeom>
          <a:solidFill>
            <a:srgbClr val="00B4D8">
              <a:alpha val="12000"/>
            </a:srgbClr>
          </a:solidFill>
          <a:ln/>
        </p:spPr>
        <p:txBody>
          <a:bodyPr wrap="none" rtlCol="0" anchor="t"/>
          <a:lstStyle/>
          <a:p>
            <a:pPr marL="0" indent="0">
              <a:buNone/>
            </a:pPr>
            <a:endParaRPr lang="en-US" dirty="0"/>
          </a:p>
        </p:txBody>
      </p:sp>
      <p:pic>
        <p:nvPicPr>
          <p:cNvPr id="5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00895" y="1484644"/>
            <a:ext cx="132588" cy="132588"/>
          </a:xfrm>
          <a:prstGeom prst="rect">
            <a:avLst/>
          </a:prstGeom>
        </p:spPr>
      </p:pic>
      <p:sp>
        <p:nvSpPr>
          <p:cNvPr id="53" name="Text 48"/>
          <p:cNvSpPr/>
          <p:nvPr/>
        </p:nvSpPr>
        <p:spPr>
          <a:xfrm>
            <a:off x="5553819" y="1443038"/>
            <a:ext cx="3113514" cy="335979"/>
          </a:xfrm>
          <a:prstGeom prst="rect">
            <a:avLst/>
          </a:prstGeom>
          <a:noFill/>
          <a:ln/>
        </p:spPr>
        <p:txBody>
          <a:bodyPr wrap="square" lIns="0" tIns="0" rIns="0" bIns="0" rtlCol="0" anchor="t"/>
          <a:lstStyle/>
          <a:p>
            <a:pPr marL="0" indent="0" algn="l">
              <a:lnSpc>
                <a:spcPts val="1260"/>
              </a:lnSpc>
              <a:buNone/>
            </a:pPr>
            <a:r>
              <a:rPr lang="en-US" sz="840" dirty="0">
                <a:solidFill>
                  <a:srgbClr val="0B2545"/>
                </a:solidFill>
                <a:latin typeface="Calibri" pitchFamily="34" charset="0"/>
                <a:ea typeface="Calibri" pitchFamily="34" charset="-122"/>
                <a:cs typeface="Calibri" pitchFamily="34" charset="-120"/>
              </a:rPr>
              <a:t>All three predictors show </a:t>
            </a:r>
            <a:r>
              <a:rPr lang="en-US" sz="840" b="1" dirty="0">
                <a:solidFill>
                  <a:srgbClr val="0090AD"/>
                </a:solidFill>
                <a:latin typeface="Calibri" pitchFamily="34" charset="0"/>
                <a:ea typeface="Calibri" pitchFamily="34" charset="-122"/>
                <a:cs typeface="Calibri" pitchFamily="34" charset="-120"/>
              </a:rPr>
              <a:t>positive correlations</a:t>
            </a:r>
            <a:r>
              <a:rPr lang="en-US" sz="840" dirty="0">
                <a:solidFill>
                  <a:srgbClr val="0B2545"/>
                </a:solidFill>
                <a:latin typeface="Calibri" pitchFamily="34" charset="0"/>
                <a:ea typeface="Calibri" pitchFamily="34" charset="-122"/>
                <a:cs typeface="Calibri" pitchFamily="34" charset="-120"/>
              </a:rPr>
              <a:t> with price (~0.64–0.68)</a:t>
            </a:r>
            <a:endParaRPr lang="en-US" sz="840" dirty="0"/>
          </a:p>
        </p:txBody>
      </p:sp>
      <p:sp>
        <p:nvSpPr>
          <p:cNvPr id="54" name="Text 49"/>
          <p:cNvSpPr/>
          <p:nvPr/>
        </p:nvSpPr>
        <p:spPr>
          <a:xfrm>
            <a:off x="5085904" y="2115294"/>
            <a:ext cx="3658046" cy="695623"/>
          </a:xfrm>
          <a:prstGeom prst="roundRect">
            <a:avLst>
              <a:gd name="adj" fmla="val 10224"/>
            </a:avLst>
          </a:prstGeom>
          <a:solidFill>
            <a:srgbClr val="FFFFFF"/>
          </a:solidFill>
          <a:ln w="9525">
            <a:solidFill>
              <a:srgbClr val="0B2545">
                <a:alpha val="6000"/>
              </a:srgbClr>
            </a:solidFill>
          </a:ln>
          <a:effectLst>
            <a:outerShdw blurRad="71120" dist="13970" dir="5400000" algn="bl" rotWithShape="0">
              <a:srgbClr val="0B2545">
                <a:alpha val="5000"/>
              </a:srgbClr>
            </a:outerShdw>
          </a:effectLst>
        </p:spPr>
        <p:txBody>
          <a:bodyPr wrap="square" rtlCol="0" anchor="t"/>
          <a:lstStyle/>
          <a:p>
            <a:pPr marL="0" indent="0">
              <a:buNone/>
            </a:pPr>
            <a:endParaRPr lang="en-US" dirty="0"/>
          </a:p>
        </p:txBody>
      </p:sp>
      <p:sp>
        <p:nvSpPr>
          <p:cNvPr id="55" name="Text 50"/>
          <p:cNvSpPr/>
          <p:nvPr/>
        </p:nvSpPr>
        <p:spPr>
          <a:xfrm>
            <a:off x="5095429" y="2124819"/>
            <a:ext cx="35421" cy="676573"/>
          </a:xfrm>
          <a:prstGeom prst="roundRect">
            <a:avLst>
              <a:gd name="adj" fmla="val 60953"/>
            </a:avLst>
          </a:prstGeom>
          <a:solidFill>
            <a:srgbClr val="D4A857"/>
          </a:solidFill>
          <a:ln/>
        </p:spPr>
        <p:txBody>
          <a:bodyPr wrap="square" rtlCol="0" anchor="t"/>
          <a:lstStyle/>
          <a:p>
            <a:pPr marL="0" indent="0">
              <a:buNone/>
            </a:pPr>
            <a:endParaRPr lang="en-US" dirty="0"/>
          </a:p>
        </p:txBody>
      </p:sp>
      <p:sp>
        <p:nvSpPr>
          <p:cNvPr id="56" name="Text 51"/>
          <p:cNvSpPr/>
          <p:nvPr/>
        </p:nvSpPr>
        <p:spPr>
          <a:xfrm>
            <a:off x="5266879" y="2260550"/>
            <a:ext cx="200620" cy="200620"/>
          </a:xfrm>
          <a:prstGeom prst="ellipse">
            <a:avLst/>
          </a:prstGeom>
          <a:solidFill>
            <a:srgbClr val="D4A857">
              <a:alpha val="15000"/>
            </a:srgbClr>
          </a:solidFill>
          <a:ln/>
        </p:spPr>
        <p:txBody>
          <a:bodyPr wrap="none" rtlCol="0" anchor="t"/>
          <a:lstStyle/>
          <a:p>
            <a:pPr marL="0" indent="0">
              <a:buNone/>
            </a:pPr>
            <a:endParaRPr lang="en-US" dirty="0"/>
          </a:p>
        </p:txBody>
      </p:sp>
      <p:pic>
        <p:nvPicPr>
          <p:cNvPr id="5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00895" y="2294567"/>
            <a:ext cx="132588" cy="132588"/>
          </a:xfrm>
          <a:prstGeom prst="rect">
            <a:avLst/>
          </a:prstGeom>
        </p:spPr>
      </p:pic>
      <p:sp>
        <p:nvSpPr>
          <p:cNvPr id="58" name="Text 52"/>
          <p:cNvSpPr/>
          <p:nvPr/>
        </p:nvSpPr>
        <p:spPr>
          <a:xfrm>
            <a:off x="5553819" y="2252960"/>
            <a:ext cx="3113514" cy="335979"/>
          </a:xfrm>
          <a:prstGeom prst="rect">
            <a:avLst/>
          </a:prstGeom>
          <a:noFill/>
          <a:ln/>
        </p:spPr>
        <p:txBody>
          <a:bodyPr wrap="square" lIns="0" tIns="0" rIns="0" bIns="0" rtlCol="0" anchor="t"/>
          <a:lstStyle/>
          <a:p>
            <a:pPr marL="0" indent="0" algn="l">
              <a:lnSpc>
                <a:spcPts val="1260"/>
              </a:lnSpc>
              <a:buNone/>
            </a:pPr>
            <a:r>
              <a:rPr lang="en-US" sz="840" dirty="0">
                <a:solidFill>
                  <a:srgbClr val="0B2545"/>
                </a:solidFill>
                <a:latin typeface="Calibri" pitchFamily="34" charset="0"/>
                <a:ea typeface="Calibri" pitchFamily="34" charset="-122"/>
                <a:cs typeface="Calibri" pitchFamily="34" charset="-120"/>
              </a:rPr>
              <a:t>Selected because they are </a:t>
            </a:r>
            <a:r>
              <a:rPr lang="en-US" sz="840" b="1" dirty="0">
                <a:solidFill>
                  <a:srgbClr val="B8860B"/>
                </a:solidFill>
                <a:latin typeface="Calibri" pitchFamily="34" charset="0"/>
                <a:ea typeface="Calibri" pitchFamily="34" charset="-122"/>
                <a:cs typeface="Calibri" pitchFamily="34" charset="-120"/>
              </a:rPr>
              <a:t>numeric, interpretable</a:t>
            </a:r>
            <a:r>
              <a:rPr lang="en-US" sz="840" dirty="0">
                <a:solidFill>
                  <a:srgbClr val="0B2545"/>
                </a:solidFill>
                <a:latin typeface="Calibri" pitchFamily="34" charset="0"/>
                <a:ea typeface="Calibri" pitchFamily="34" charset="-122"/>
                <a:cs typeface="Calibri" pitchFamily="34" charset="-120"/>
              </a:rPr>
              <a:t>, and logically related to property size</a:t>
            </a:r>
            <a:endParaRPr lang="en-US" sz="840" dirty="0"/>
          </a:p>
        </p:txBody>
      </p:sp>
      <p:sp>
        <p:nvSpPr>
          <p:cNvPr id="59" name="Text 53"/>
          <p:cNvSpPr/>
          <p:nvPr/>
        </p:nvSpPr>
        <p:spPr>
          <a:xfrm>
            <a:off x="5085904" y="2925217"/>
            <a:ext cx="3658046" cy="695623"/>
          </a:xfrm>
          <a:prstGeom prst="roundRect">
            <a:avLst>
              <a:gd name="adj" fmla="val 10224"/>
            </a:avLst>
          </a:prstGeom>
          <a:solidFill>
            <a:srgbClr val="FFFFFF"/>
          </a:solidFill>
          <a:ln w="9525">
            <a:solidFill>
              <a:srgbClr val="0B2545">
                <a:alpha val="6000"/>
              </a:srgbClr>
            </a:solidFill>
          </a:ln>
          <a:effectLst>
            <a:outerShdw blurRad="71120" dist="13970" dir="5400000" algn="bl" rotWithShape="0">
              <a:srgbClr val="0B2545">
                <a:alpha val="5000"/>
              </a:srgbClr>
            </a:outerShdw>
          </a:effectLst>
        </p:spPr>
        <p:txBody>
          <a:bodyPr wrap="square" rtlCol="0" anchor="t"/>
          <a:lstStyle/>
          <a:p>
            <a:pPr marL="0" indent="0">
              <a:buNone/>
            </a:pPr>
            <a:endParaRPr lang="en-US" dirty="0"/>
          </a:p>
        </p:txBody>
      </p:sp>
      <p:sp>
        <p:nvSpPr>
          <p:cNvPr id="60" name="Text 54"/>
          <p:cNvSpPr/>
          <p:nvPr/>
        </p:nvSpPr>
        <p:spPr>
          <a:xfrm>
            <a:off x="5095429" y="2934742"/>
            <a:ext cx="35421" cy="676573"/>
          </a:xfrm>
          <a:prstGeom prst="roundRect">
            <a:avLst>
              <a:gd name="adj" fmla="val 60953"/>
            </a:avLst>
          </a:prstGeom>
          <a:solidFill>
            <a:srgbClr val="E63946"/>
          </a:solidFill>
          <a:ln/>
        </p:spPr>
        <p:txBody>
          <a:bodyPr wrap="square" rtlCol="0" anchor="t"/>
          <a:lstStyle/>
          <a:p>
            <a:pPr marL="0" indent="0">
              <a:buNone/>
            </a:pPr>
            <a:endParaRPr lang="en-US" dirty="0"/>
          </a:p>
        </p:txBody>
      </p:sp>
      <p:sp>
        <p:nvSpPr>
          <p:cNvPr id="61" name="Text 55"/>
          <p:cNvSpPr/>
          <p:nvPr/>
        </p:nvSpPr>
        <p:spPr>
          <a:xfrm>
            <a:off x="5266879" y="3070473"/>
            <a:ext cx="200620" cy="200620"/>
          </a:xfrm>
          <a:prstGeom prst="ellipse">
            <a:avLst/>
          </a:prstGeom>
          <a:solidFill>
            <a:srgbClr val="E63946">
              <a:alpha val="12000"/>
            </a:srgbClr>
          </a:solidFill>
          <a:ln/>
        </p:spPr>
        <p:txBody>
          <a:bodyPr wrap="none" rtlCol="0" anchor="t"/>
          <a:lstStyle/>
          <a:p>
            <a:pPr marL="0" indent="0">
              <a:buNone/>
            </a:pPr>
            <a:endParaRPr lang="en-US" dirty="0"/>
          </a:p>
        </p:txBody>
      </p:sp>
      <p:pic>
        <p:nvPicPr>
          <p:cNvPr id="6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00895" y="3104489"/>
            <a:ext cx="132588" cy="132588"/>
          </a:xfrm>
          <a:prstGeom prst="rect">
            <a:avLst/>
          </a:prstGeom>
        </p:spPr>
      </p:pic>
      <p:sp>
        <p:nvSpPr>
          <p:cNvPr id="63" name="Text 56"/>
          <p:cNvSpPr/>
          <p:nvPr/>
        </p:nvSpPr>
        <p:spPr>
          <a:xfrm>
            <a:off x="5553819" y="3062883"/>
            <a:ext cx="3113514" cy="335979"/>
          </a:xfrm>
          <a:prstGeom prst="rect">
            <a:avLst/>
          </a:prstGeom>
          <a:noFill/>
          <a:ln/>
        </p:spPr>
        <p:txBody>
          <a:bodyPr wrap="square" lIns="0" tIns="0" rIns="0" bIns="0" rtlCol="0" anchor="t"/>
          <a:lstStyle/>
          <a:p>
            <a:pPr marL="0" indent="0" algn="l">
              <a:lnSpc>
                <a:spcPts val="1260"/>
              </a:lnSpc>
              <a:buNone/>
            </a:pPr>
            <a:r>
              <a:rPr lang="en-US" sz="840" dirty="0">
                <a:solidFill>
                  <a:srgbClr val="0B2545"/>
                </a:solidFill>
                <a:latin typeface="Calibri" pitchFamily="34" charset="0"/>
                <a:ea typeface="Calibri" pitchFamily="34" charset="-122"/>
                <a:cs typeface="Calibri" pitchFamily="34" charset="-120"/>
              </a:rPr>
              <a:t>High inter-predictor correlations (</a:t>
            </a:r>
            <a:r>
              <a:rPr lang="en-US" sz="840" b="1" dirty="0">
                <a:solidFill>
                  <a:srgbClr val="C0392B"/>
                </a:solidFill>
                <a:latin typeface="Calibri" pitchFamily="34" charset="0"/>
                <a:ea typeface="Calibri" pitchFamily="34" charset="-122"/>
                <a:cs typeface="Calibri" pitchFamily="34" charset="-120"/>
              </a:rPr>
              <a:t>0.88–0.93</a:t>
            </a:r>
            <a:r>
              <a:rPr lang="en-US" sz="840" dirty="0">
                <a:solidFill>
                  <a:srgbClr val="0B2545"/>
                </a:solidFill>
                <a:latin typeface="Calibri" pitchFamily="34" charset="0"/>
                <a:ea typeface="Calibri" pitchFamily="34" charset="-122"/>
                <a:cs typeface="Calibri" pitchFamily="34" charset="-120"/>
              </a:rPr>
              <a:t>) foreshadow </a:t>
            </a:r>
            <a:r>
              <a:rPr lang="en-US" sz="840" b="1" dirty="0">
                <a:solidFill>
                  <a:srgbClr val="C0392B"/>
                </a:solidFill>
                <a:latin typeface="Calibri" pitchFamily="34" charset="0"/>
                <a:ea typeface="Calibri" pitchFamily="34" charset="-122"/>
                <a:cs typeface="Calibri" pitchFamily="34" charset="-120"/>
              </a:rPr>
              <a:t>multicollinearity</a:t>
            </a:r>
            <a:endParaRPr lang="en-US" sz="840" dirty="0"/>
          </a:p>
        </p:txBody>
      </p:sp>
      <p:sp>
        <p:nvSpPr>
          <p:cNvPr id="64" name="Text 57"/>
          <p:cNvSpPr/>
          <p:nvPr/>
        </p:nvSpPr>
        <p:spPr>
          <a:xfrm>
            <a:off x="5085904" y="4104680"/>
            <a:ext cx="3658046" cy="753070"/>
          </a:xfrm>
          <a:prstGeom prst="roundRect">
            <a:avLst>
              <a:gd name="adj" fmla="val 9444"/>
            </a:avLst>
          </a:prstGeom>
          <a:gradFill rotWithShape="1">
            <a:gsLst>
              <a:gs pos="0">
                <a:srgbClr val="0B2545"/>
              </a:gs>
              <a:gs pos="100000">
                <a:srgbClr val="134074"/>
              </a:gs>
            </a:gsLst>
            <a:lin ang="2700000" scaled="1"/>
          </a:gradFill>
          <a:ln/>
        </p:spPr>
        <p:txBody>
          <a:bodyPr wrap="square" rtlCol="0" anchor="t"/>
          <a:lstStyle/>
          <a:p>
            <a:pPr marL="0" indent="0">
              <a:buNone/>
            </a:pPr>
            <a:endParaRPr lang="en-US" dirty="0"/>
          </a:p>
        </p:txBody>
      </p:sp>
      <p:pic>
        <p:nvPicPr>
          <p:cNvPr id="6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30871" y="4249498"/>
            <a:ext cx="132588" cy="132588"/>
          </a:xfrm>
          <a:prstGeom prst="rect">
            <a:avLst/>
          </a:prstGeom>
        </p:spPr>
      </p:pic>
      <p:sp>
        <p:nvSpPr>
          <p:cNvPr id="66" name="Text 58"/>
          <p:cNvSpPr/>
          <p:nvPr/>
        </p:nvSpPr>
        <p:spPr>
          <a:xfrm>
            <a:off x="5437287" y="4248150"/>
            <a:ext cx="3212187" cy="489436"/>
          </a:xfrm>
          <a:prstGeom prst="rect">
            <a:avLst/>
          </a:prstGeom>
          <a:noFill/>
          <a:ln/>
        </p:spPr>
        <p:txBody>
          <a:bodyPr wrap="square" lIns="0" tIns="0" rIns="0" bIns="0" rtlCol="0" anchor="t"/>
          <a:lstStyle/>
          <a:p>
            <a:pPr marL="0" indent="0" algn="l">
              <a:lnSpc>
                <a:spcPts val="1225"/>
              </a:lnSpc>
              <a:buNone/>
            </a:pPr>
            <a:r>
              <a:rPr lang="en-US" sz="790" dirty="0">
                <a:solidFill>
                  <a:srgbClr val="F8FAFC"/>
                </a:solidFill>
                <a:latin typeface="Calibri" pitchFamily="34" charset="0"/>
                <a:ea typeface="Calibri" pitchFamily="34" charset="-122"/>
                <a:cs typeface="Calibri" pitchFamily="34" charset="-120"/>
              </a:rPr>
              <a:t>While all three variables are good price predictors individually, their </a:t>
            </a:r>
            <a:r>
              <a:rPr lang="en-US" sz="790" b="1" dirty="0">
                <a:solidFill>
                  <a:srgbClr val="00B4D8"/>
                </a:solidFill>
                <a:latin typeface="Calibri" pitchFamily="34" charset="0"/>
                <a:ea typeface="Calibri" pitchFamily="34" charset="-122"/>
                <a:cs typeface="Calibri" pitchFamily="34" charset="-120"/>
              </a:rPr>
              <a:t>strong overlap</a:t>
            </a:r>
            <a:r>
              <a:rPr lang="en-US" sz="790" dirty="0">
                <a:solidFill>
                  <a:srgbClr val="F8FAFC"/>
                </a:solidFill>
                <a:latin typeface="Calibri" pitchFamily="34" charset="0"/>
                <a:ea typeface="Calibri" pitchFamily="34" charset="-122"/>
                <a:cs typeface="Calibri" pitchFamily="34" charset="-120"/>
              </a:rPr>
              <a:t> with each other will make it difficult to isolate each predictor's unique contribution in a regression model.</a:t>
            </a:r>
            <a:endParaRPr lang="en-US" sz="790" dirty="0"/>
          </a:p>
        </p:txBody>
      </p:sp>
      <p:sp>
        <p:nvSpPr>
          <p:cNvPr id="67" name="Text 59"/>
          <p:cNvSpPr/>
          <p:nvPr/>
        </p:nvSpPr>
        <p:spPr>
          <a:xfrm>
            <a:off x="0" y="5114330"/>
            <a:ext cx="9144000" cy="29170"/>
          </a:xfrm>
          <a:prstGeom prst="rect">
            <a:avLst/>
          </a:prstGeom>
          <a:gradFill rotWithShape="1">
            <a:gsLst>
              <a:gs pos="0">
                <a:srgbClr val="00B4D8"/>
              </a:gs>
              <a:gs pos="60000">
                <a:srgbClr val="0B2545"/>
              </a:gs>
              <a:gs pos="100000">
                <a:srgbClr val="D4A857"/>
              </a:gs>
            </a:gsLst>
            <a:lin ang="0" scaled="1"/>
          </a:gradFill>
          <a:ln/>
        </p:spPr>
        <p:txBody>
          <a:bodyPr wrap="none" rtlCol="0" anchor="t"/>
          <a:lstStyle/>
          <a:p>
            <a:pPr marL="0" indent="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0B2545"/>
              </a:gs>
              <a:gs pos="40000">
                <a:srgbClr val="0D3060"/>
              </a:gs>
              <a:gs pos="100000">
                <a:srgbClr val="0B2545"/>
              </a:gs>
            </a:gsLst>
            <a:lin ang="4200000" scaled="1"/>
          </a:gradFill>
          <a:ln/>
        </p:spPr>
        <p:txBody>
          <a:bodyPr wrap="square" rtlCol="0" anchor="t"/>
          <a:lstStyle/>
          <a:p>
            <a:pPr marL="0" indent="0">
              <a:buNone/>
            </a:pPr>
            <a:endParaRPr lang="en-US" dirty="0"/>
          </a:p>
        </p:txBody>
      </p:sp>
      <p:pic>
        <p:nvPicPr>
          <p:cNvPr id="3" name="Image 0" descr="preencoded.png"/>
          <p:cNvPicPr>
            <a:picLocks noChangeAspect="1"/>
          </p:cNvPicPr>
          <p:nvPr/>
        </p:nvPicPr>
        <p:blipFill>
          <a:blip r:embed="rId3"/>
          <a:stretch>
            <a:fillRect/>
          </a:stretch>
        </p:blipFill>
        <p:spPr>
          <a:xfrm>
            <a:off x="4570809" y="0"/>
            <a:ext cx="4573191" cy="3572470"/>
          </a:xfrm>
          <a:prstGeom prst="rect">
            <a:avLst/>
          </a:prstGeom>
        </p:spPr>
      </p:pic>
      <p:pic>
        <p:nvPicPr>
          <p:cNvPr id="4" name="Image 1" descr="preencoded.png"/>
          <p:cNvPicPr>
            <a:picLocks noChangeAspect="1"/>
          </p:cNvPicPr>
          <p:nvPr/>
        </p:nvPicPr>
        <p:blipFill>
          <a:blip r:embed="rId4"/>
          <a:stretch>
            <a:fillRect/>
          </a:stretch>
        </p:blipFill>
        <p:spPr>
          <a:xfrm>
            <a:off x="0" y="2000250"/>
            <a:ext cx="3286720" cy="3143250"/>
          </a:xfrm>
          <a:prstGeom prst="rect">
            <a:avLst/>
          </a:prstGeom>
        </p:spPr>
      </p:pic>
      <p:pic>
        <p:nvPicPr>
          <p:cNvPr id="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5200" y="340900"/>
            <a:ext cx="132588" cy="132588"/>
          </a:xfrm>
          <a:prstGeom prst="rect">
            <a:avLst/>
          </a:prstGeom>
        </p:spPr>
      </p:pic>
      <p:sp>
        <p:nvSpPr>
          <p:cNvPr id="6" name="Text 1"/>
          <p:cNvSpPr/>
          <p:nvPr/>
        </p:nvSpPr>
        <p:spPr>
          <a:xfrm>
            <a:off x="672108" y="348109"/>
            <a:ext cx="1278091" cy="118021"/>
          </a:xfrm>
          <a:prstGeom prst="rect">
            <a:avLst/>
          </a:prstGeom>
          <a:noFill/>
          <a:ln/>
        </p:spPr>
        <p:txBody>
          <a:bodyPr wrap="none" lIns="0" tIns="0" rIns="0" bIns="0" rtlCol="0" anchor="ctr"/>
          <a:lstStyle/>
          <a:p>
            <a:pPr marL="0" indent="0" algn="l">
              <a:lnSpc>
                <a:spcPts val="930"/>
              </a:lnSpc>
              <a:buNone/>
            </a:pPr>
            <a:r>
              <a:rPr lang="en-US" sz="620" b="1" dirty="0">
                <a:solidFill>
                  <a:srgbClr val="94A3B8"/>
                </a:solidFill>
                <a:latin typeface="Calibri" pitchFamily="34" charset="0"/>
                <a:ea typeface="Calibri" pitchFamily="34" charset="-122"/>
                <a:cs typeface="Calibri" pitchFamily="34" charset="-120"/>
              </a:rPr>
              <a:t>REGRESSION RESULTS</a:t>
            </a:r>
            <a:endParaRPr lang="en-US" sz="620" dirty="0"/>
          </a:p>
        </p:txBody>
      </p:sp>
      <p:sp>
        <p:nvSpPr>
          <p:cNvPr id="7" name="Text 2"/>
          <p:cNvSpPr/>
          <p:nvPr/>
        </p:nvSpPr>
        <p:spPr>
          <a:xfrm>
            <a:off x="457200" y="528638"/>
            <a:ext cx="8805672" cy="296317"/>
          </a:xfrm>
          <a:prstGeom prst="rect">
            <a:avLst/>
          </a:prstGeom>
          <a:noFill/>
          <a:ln/>
        </p:spPr>
        <p:txBody>
          <a:bodyPr wrap="none" lIns="0" tIns="0" rIns="0" bIns="0" rtlCol="0" anchor="t"/>
          <a:lstStyle/>
          <a:p>
            <a:pPr marL="0" indent="0" algn="l">
              <a:lnSpc>
                <a:spcPts val="2335"/>
              </a:lnSpc>
              <a:buNone/>
            </a:pPr>
            <a:r>
              <a:rPr lang="en-US" sz="2030" b="1" dirty="0">
                <a:solidFill>
                  <a:srgbClr val="F8FAFC"/>
                </a:solidFill>
                <a:latin typeface="Constantia" pitchFamily="34" charset="0"/>
                <a:ea typeface="Constantia" pitchFamily="34" charset="-122"/>
                <a:cs typeface="Constantia" pitchFamily="34" charset="-120"/>
              </a:rPr>
              <a:t>Multiple Regression Model &amp; R²</a:t>
            </a:r>
            <a:endParaRPr lang="en-US" sz="2030" dirty="0"/>
          </a:p>
        </p:txBody>
      </p:sp>
      <p:sp>
        <p:nvSpPr>
          <p:cNvPr id="8" name="Text 3"/>
          <p:cNvSpPr/>
          <p:nvPr/>
        </p:nvSpPr>
        <p:spPr>
          <a:xfrm>
            <a:off x="457200" y="895945"/>
            <a:ext cx="429220" cy="29170"/>
          </a:xfrm>
          <a:prstGeom prst="roundRect">
            <a:avLst>
              <a:gd name="adj" fmla="val 47892"/>
            </a:avLst>
          </a:prstGeom>
          <a:gradFill rotWithShape="1">
            <a:gsLst>
              <a:gs pos="0">
                <a:srgbClr val="00B4D8"/>
              </a:gs>
              <a:gs pos="100000">
                <a:srgbClr val="00B4D8">
                  <a:alpha val="30000"/>
                </a:srgbClr>
              </a:gs>
            </a:gsLst>
            <a:lin ang="0" scaled="1"/>
          </a:gradFill>
          <a:ln/>
        </p:spPr>
        <p:txBody>
          <a:bodyPr wrap="none" rtlCol="0" anchor="t"/>
          <a:lstStyle/>
          <a:p>
            <a:pPr marL="0" indent="0">
              <a:buNone/>
            </a:pPr>
            <a:endParaRPr lang="en-US" dirty="0"/>
          </a:p>
        </p:txBody>
      </p:sp>
      <p:sp>
        <p:nvSpPr>
          <p:cNvPr id="9" name="Text 4"/>
          <p:cNvSpPr/>
          <p:nvPr/>
        </p:nvSpPr>
        <p:spPr>
          <a:xfrm>
            <a:off x="457200" y="1068586"/>
            <a:ext cx="3857625" cy="455861"/>
          </a:xfrm>
          <a:prstGeom prst="roundRect">
            <a:avLst>
              <a:gd name="adj" fmla="val 18944"/>
            </a:avLst>
          </a:prstGeom>
          <a:solidFill>
            <a:srgbClr val="00B4D8">
              <a:alpha val="12000"/>
            </a:srgbClr>
          </a:solidFill>
          <a:ln w="9525">
            <a:solidFill>
              <a:srgbClr val="00B4D8">
                <a:alpha val="30000"/>
              </a:srgbClr>
            </a:solidFill>
          </a:ln>
        </p:spPr>
        <p:txBody>
          <a:bodyPr wrap="square" rtlCol="0" anchor="t"/>
          <a:lstStyle/>
          <a:p>
            <a:pPr marL="0" indent="0">
              <a:buNone/>
            </a:pPr>
            <a:endParaRPr lang="en-US"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4853" y="1230222"/>
            <a:ext cx="132588" cy="132588"/>
          </a:xfrm>
          <a:prstGeom prst="rect">
            <a:avLst/>
          </a:prstGeom>
        </p:spPr>
      </p:pic>
      <p:sp>
        <p:nvSpPr>
          <p:cNvPr id="11" name="Text 5"/>
          <p:cNvSpPr/>
          <p:nvPr/>
        </p:nvSpPr>
        <p:spPr>
          <a:xfrm>
            <a:off x="875258" y="1178421"/>
            <a:ext cx="3552364" cy="236190"/>
          </a:xfrm>
          <a:prstGeom prst="rect">
            <a:avLst/>
          </a:prstGeom>
          <a:noFill/>
          <a:ln/>
        </p:spPr>
        <p:txBody>
          <a:bodyPr wrap="none" lIns="0" tIns="0" rIns="0" bIns="0" rtlCol="0" anchor="ctr"/>
          <a:lstStyle/>
          <a:p>
            <a:pPr marL="0" indent="0" algn="l">
              <a:lnSpc>
                <a:spcPts val="1860"/>
              </a:lnSpc>
              <a:buNone/>
            </a:pPr>
            <a:r>
              <a:rPr lang="en-US" sz="1240" dirty="0">
                <a:solidFill>
                  <a:srgbClr val="00B4D8"/>
                </a:solidFill>
                <a:latin typeface="Consolas" pitchFamily="34" charset="0"/>
                <a:ea typeface="Consolas" pitchFamily="34" charset="-122"/>
                <a:cs typeface="Consolas" pitchFamily="34" charset="-120"/>
              </a:rPr>
              <a:t>price ~ guests + bedrooms + baths</a:t>
            </a:r>
            <a:endParaRPr lang="en-US" sz="1240" dirty="0"/>
          </a:p>
        </p:txBody>
      </p:sp>
      <p:sp>
        <p:nvSpPr>
          <p:cNvPr id="12" name="Text 6"/>
          <p:cNvSpPr/>
          <p:nvPr/>
        </p:nvSpPr>
        <p:spPr>
          <a:xfrm>
            <a:off x="457200" y="1681907"/>
            <a:ext cx="1353642" cy="280988"/>
          </a:xfrm>
          <a:prstGeom prst="roundRect">
            <a:avLst>
              <a:gd name="adj" fmla="val 20339"/>
            </a:avLst>
          </a:prstGeom>
          <a:solidFill>
            <a:srgbClr val="FFFFFF">
              <a:alpha val="8000"/>
            </a:srgbClr>
          </a:solidFill>
          <a:ln/>
        </p:spPr>
        <p:txBody>
          <a:bodyPr wrap="none" lIns="114300" tIns="71120" rIns="114300" bIns="71120" rtlCol="0" anchor="t"/>
          <a:lstStyle/>
          <a:p>
            <a:pPr marL="0" indent="0" algn="l">
              <a:buNone/>
            </a:pPr>
            <a:r>
              <a:rPr lang="en-US" sz="680" b="1" kern="0" spc="68" dirty="0">
                <a:solidFill>
                  <a:srgbClr val="94A3B8"/>
                </a:solidFill>
                <a:latin typeface="Calibri" pitchFamily="34" charset="0"/>
                <a:ea typeface="Calibri" pitchFamily="34" charset="-122"/>
                <a:cs typeface="Calibri" pitchFamily="34" charset="-120"/>
              </a:rPr>
              <a:t>PREDICTOR</a:t>
            </a:r>
            <a:endParaRPr lang="en-US" sz="680" dirty="0"/>
          </a:p>
        </p:txBody>
      </p:sp>
      <p:sp>
        <p:nvSpPr>
          <p:cNvPr id="13" name="Text 7"/>
          <p:cNvSpPr/>
          <p:nvPr/>
        </p:nvSpPr>
        <p:spPr>
          <a:xfrm>
            <a:off x="457200" y="1953369"/>
            <a:ext cx="1327100" cy="9525"/>
          </a:xfrm>
          <a:custGeom>
            <a:avLst/>
            <a:gdLst/>
            <a:ahLst/>
            <a:cxnLst/>
            <a:rect l="l" t="t" r="r" b="b"/>
            <a:pathLst>
              <a:path w="1327100" h="9525">
                <a:moveTo>
                  <a:pt x="25559" y="0"/>
                </a:moveTo>
                <a:lnTo>
                  <a:pt x="27432" y="1191"/>
                </a:lnTo>
                <a:lnTo>
                  <a:pt x="29482" y="2381"/>
                </a:lnTo>
                <a:lnTo>
                  <a:pt x="31753" y="3572"/>
                </a:lnTo>
                <a:lnTo>
                  <a:pt x="34310" y="4763"/>
                </a:lnTo>
                <a:lnTo>
                  <a:pt x="37263" y="5953"/>
                </a:lnTo>
                <a:lnTo>
                  <a:pt x="40825" y="7144"/>
                </a:lnTo>
                <a:lnTo>
                  <a:pt x="45545" y="8334"/>
                </a:lnTo>
                <a:lnTo>
                  <a:pt x="57150" y="9525"/>
                </a:lnTo>
                <a:lnTo>
                  <a:pt x="1269950" y="9525"/>
                </a:lnTo>
                <a:lnTo>
                  <a:pt x="1281555" y="8334"/>
                </a:lnTo>
                <a:lnTo>
                  <a:pt x="1286275" y="7144"/>
                </a:lnTo>
                <a:lnTo>
                  <a:pt x="1289838" y="5953"/>
                </a:lnTo>
                <a:lnTo>
                  <a:pt x="1292791" y="4763"/>
                </a:lnTo>
                <a:lnTo>
                  <a:pt x="1295347" y="3572"/>
                </a:lnTo>
                <a:lnTo>
                  <a:pt x="1297618" y="2381"/>
                </a:lnTo>
                <a:lnTo>
                  <a:pt x="1299668" y="1191"/>
                </a:lnTo>
                <a:lnTo>
                  <a:pt x="1301541" y="0"/>
                </a:lnTo>
                <a:close/>
              </a:path>
            </a:pathLst>
          </a:custGeom>
          <a:solidFill>
            <a:srgbClr val="FFFFFF">
              <a:alpha val="10000"/>
            </a:srgbClr>
          </a:solidFill>
          <a:ln/>
        </p:spPr>
        <p:txBody>
          <a:bodyPr wrap="none" rtlCol="0" anchor="t"/>
          <a:lstStyle/>
          <a:p>
            <a:pPr marL="0" indent="0">
              <a:buNone/>
            </a:pPr>
            <a:endParaRPr lang="en-US" dirty="0"/>
          </a:p>
        </p:txBody>
      </p:sp>
      <p:sp>
        <p:nvSpPr>
          <p:cNvPr id="14" name="Text 8"/>
          <p:cNvSpPr/>
          <p:nvPr/>
        </p:nvSpPr>
        <p:spPr>
          <a:xfrm>
            <a:off x="1784300" y="1681907"/>
            <a:ext cx="1496794" cy="280988"/>
          </a:xfrm>
          <a:prstGeom prst="rect">
            <a:avLst/>
          </a:prstGeom>
          <a:solidFill>
            <a:srgbClr val="FFFFFF">
              <a:alpha val="8000"/>
            </a:srgbClr>
          </a:solidFill>
          <a:ln/>
        </p:spPr>
        <p:txBody>
          <a:bodyPr wrap="none" lIns="114300" tIns="71120" rIns="114300" bIns="71120" rtlCol="0" anchor="t"/>
          <a:lstStyle/>
          <a:p>
            <a:pPr marL="0" indent="0" algn="l">
              <a:buNone/>
            </a:pPr>
            <a:r>
              <a:rPr lang="en-US" sz="680" b="1" kern="0" spc="68" dirty="0">
                <a:solidFill>
                  <a:srgbClr val="94A3B8"/>
                </a:solidFill>
                <a:latin typeface="Calibri" pitchFamily="34" charset="0"/>
                <a:ea typeface="Calibri" pitchFamily="34" charset="-122"/>
                <a:cs typeface="Calibri" pitchFamily="34" charset="-120"/>
              </a:rPr>
              <a:t>COEFFICIENT</a:t>
            </a:r>
            <a:endParaRPr lang="en-US" sz="680" dirty="0"/>
          </a:p>
        </p:txBody>
      </p:sp>
      <p:sp>
        <p:nvSpPr>
          <p:cNvPr id="15" name="Text 9"/>
          <p:cNvSpPr/>
          <p:nvPr/>
        </p:nvSpPr>
        <p:spPr>
          <a:xfrm>
            <a:off x="1784300" y="1953369"/>
            <a:ext cx="1467445" cy="9525"/>
          </a:xfrm>
          <a:prstGeom prst="rect">
            <a:avLst/>
          </a:prstGeom>
          <a:solidFill>
            <a:srgbClr val="FFFFFF">
              <a:alpha val="10000"/>
            </a:srgbClr>
          </a:solidFill>
          <a:ln/>
        </p:spPr>
        <p:txBody>
          <a:bodyPr wrap="none" rtlCol="0" anchor="t"/>
          <a:lstStyle/>
          <a:p>
            <a:pPr marL="0" indent="0">
              <a:buNone/>
            </a:pPr>
            <a:endParaRPr lang="en-US" dirty="0"/>
          </a:p>
        </p:txBody>
      </p:sp>
      <p:sp>
        <p:nvSpPr>
          <p:cNvPr id="16" name="Text 10"/>
          <p:cNvSpPr/>
          <p:nvPr/>
        </p:nvSpPr>
        <p:spPr>
          <a:xfrm>
            <a:off x="3251746" y="1681907"/>
            <a:ext cx="1183773" cy="280988"/>
          </a:xfrm>
          <a:prstGeom prst="rect">
            <a:avLst/>
          </a:prstGeom>
          <a:solidFill>
            <a:srgbClr val="FFFFFF">
              <a:alpha val="8000"/>
            </a:srgbClr>
          </a:solidFill>
          <a:ln/>
        </p:spPr>
        <p:txBody>
          <a:bodyPr wrap="none" lIns="114300" tIns="71120" rIns="114300" bIns="71120" rtlCol="0" anchor="t"/>
          <a:lstStyle/>
          <a:p>
            <a:pPr marL="0" indent="0" algn="l">
              <a:buNone/>
            </a:pPr>
            <a:r>
              <a:rPr lang="en-US" sz="680" b="1" kern="0" spc="68" dirty="0">
                <a:solidFill>
                  <a:srgbClr val="94A3B8"/>
                </a:solidFill>
                <a:latin typeface="Calibri" pitchFamily="34" charset="0"/>
                <a:ea typeface="Calibri" pitchFamily="34" charset="-122"/>
                <a:cs typeface="Calibri" pitchFamily="34" charset="-120"/>
              </a:rPr>
              <a:t>P-VALUE</a:t>
            </a:r>
            <a:endParaRPr lang="en-US" sz="680" dirty="0"/>
          </a:p>
        </p:txBody>
      </p:sp>
      <p:sp>
        <p:nvSpPr>
          <p:cNvPr id="17" name="Text 11"/>
          <p:cNvSpPr/>
          <p:nvPr/>
        </p:nvSpPr>
        <p:spPr>
          <a:xfrm>
            <a:off x="3251746" y="1953369"/>
            <a:ext cx="1160562" cy="9525"/>
          </a:xfrm>
          <a:prstGeom prst="rect">
            <a:avLst/>
          </a:prstGeom>
          <a:solidFill>
            <a:srgbClr val="FFFFFF">
              <a:alpha val="10000"/>
            </a:srgbClr>
          </a:solidFill>
          <a:ln/>
        </p:spPr>
        <p:txBody>
          <a:bodyPr wrap="none" rtlCol="0" anchor="t"/>
          <a:lstStyle/>
          <a:p>
            <a:pPr marL="0" indent="0">
              <a:buNone/>
            </a:pPr>
            <a:endParaRPr lang="en-US" dirty="0"/>
          </a:p>
        </p:txBody>
      </p:sp>
      <p:sp>
        <p:nvSpPr>
          <p:cNvPr id="18" name="Text 12"/>
          <p:cNvSpPr/>
          <p:nvPr/>
        </p:nvSpPr>
        <p:spPr>
          <a:xfrm>
            <a:off x="4412307" y="1681907"/>
            <a:ext cx="726385" cy="280988"/>
          </a:xfrm>
          <a:prstGeom prst="rect">
            <a:avLst/>
          </a:prstGeom>
          <a:solidFill>
            <a:srgbClr val="FFFFFF">
              <a:alpha val="8000"/>
            </a:srgbClr>
          </a:solidFill>
          <a:ln/>
        </p:spPr>
        <p:txBody>
          <a:bodyPr wrap="none" lIns="114300" tIns="71120" rIns="114300" bIns="71120" rtlCol="0" anchor="t"/>
          <a:lstStyle/>
          <a:p>
            <a:pPr marL="0" indent="0" algn="l">
              <a:buNone/>
            </a:pPr>
            <a:r>
              <a:rPr lang="en-US" sz="680" b="1" kern="0" spc="68" dirty="0">
                <a:solidFill>
                  <a:srgbClr val="94A3B8"/>
                </a:solidFill>
                <a:latin typeface="Calibri" pitchFamily="34" charset="0"/>
                <a:ea typeface="Calibri" pitchFamily="34" charset="-122"/>
                <a:cs typeface="Calibri" pitchFamily="34" charset="-120"/>
              </a:rPr>
              <a:t>SIG.</a:t>
            </a:r>
            <a:endParaRPr lang="en-US" sz="680" dirty="0"/>
          </a:p>
        </p:txBody>
      </p:sp>
      <p:sp>
        <p:nvSpPr>
          <p:cNvPr id="19" name="Text 13"/>
          <p:cNvSpPr/>
          <p:nvPr/>
        </p:nvSpPr>
        <p:spPr>
          <a:xfrm>
            <a:off x="4412307" y="1953369"/>
            <a:ext cx="712143" cy="9525"/>
          </a:xfrm>
          <a:prstGeom prst="rect">
            <a:avLst/>
          </a:prstGeom>
          <a:solidFill>
            <a:srgbClr val="FFFFFF">
              <a:alpha val="10000"/>
            </a:srgbClr>
          </a:solidFill>
          <a:ln/>
        </p:spPr>
        <p:txBody>
          <a:bodyPr wrap="none" rtlCol="0" anchor="t"/>
          <a:lstStyle/>
          <a:p>
            <a:pPr marL="0" indent="0">
              <a:buNone/>
            </a:pPr>
            <a:endParaRPr lang="en-US" dirty="0"/>
          </a:p>
        </p:txBody>
      </p:sp>
      <p:sp>
        <p:nvSpPr>
          <p:cNvPr id="20" name="Text 14"/>
          <p:cNvSpPr/>
          <p:nvPr/>
        </p:nvSpPr>
        <p:spPr>
          <a:xfrm>
            <a:off x="457200" y="1962894"/>
            <a:ext cx="1353642" cy="338435"/>
          </a:xfrm>
          <a:prstGeom prst="rect">
            <a:avLst/>
          </a:prstGeom>
          <a:noFill/>
          <a:ln/>
        </p:spPr>
        <p:txBody>
          <a:bodyPr wrap="none" lIns="114300" tIns="78740" rIns="114300" bIns="78740" rtlCol="0" anchor="t"/>
          <a:lstStyle/>
          <a:p>
            <a:pPr marL="0" indent="0" algn="l">
              <a:buNone/>
            </a:pPr>
            <a:r>
              <a:rPr lang="en-US" sz="900" b="1" dirty="0">
                <a:solidFill>
                  <a:srgbClr val="F8FAFC"/>
                </a:solidFill>
                <a:latin typeface="Calibri" pitchFamily="34" charset="0"/>
                <a:ea typeface="Calibri" pitchFamily="34" charset="-122"/>
                <a:cs typeface="Calibri" pitchFamily="34" charset="-120"/>
              </a:rPr>
              <a:t>Intercept</a:t>
            </a:r>
            <a:endParaRPr lang="en-US" sz="900" dirty="0"/>
          </a:p>
        </p:txBody>
      </p:sp>
      <p:sp>
        <p:nvSpPr>
          <p:cNvPr id="21" name="Text 15"/>
          <p:cNvSpPr/>
          <p:nvPr/>
        </p:nvSpPr>
        <p:spPr>
          <a:xfrm>
            <a:off x="457200" y="2291804"/>
            <a:ext cx="1327100" cy="9525"/>
          </a:xfrm>
          <a:prstGeom prst="rect">
            <a:avLst/>
          </a:prstGeom>
          <a:solidFill>
            <a:srgbClr val="FFFFFF">
              <a:alpha val="5000"/>
            </a:srgbClr>
          </a:solidFill>
          <a:ln/>
        </p:spPr>
        <p:txBody>
          <a:bodyPr wrap="none" rtlCol="0" anchor="t"/>
          <a:lstStyle/>
          <a:p>
            <a:pPr marL="0" indent="0">
              <a:buNone/>
            </a:pPr>
            <a:endParaRPr lang="en-US" dirty="0"/>
          </a:p>
        </p:txBody>
      </p:sp>
      <p:sp>
        <p:nvSpPr>
          <p:cNvPr id="22" name="Text 16"/>
          <p:cNvSpPr/>
          <p:nvPr/>
        </p:nvSpPr>
        <p:spPr>
          <a:xfrm>
            <a:off x="1784300" y="1962894"/>
            <a:ext cx="1496794" cy="338435"/>
          </a:xfrm>
          <a:prstGeom prst="rect">
            <a:avLst/>
          </a:prstGeom>
          <a:noFill/>
          <a:ln/>
        </p:spPr>
        <p:txBody>
          <a:bodyPr wrap="none" lIns="114300" tIns="78740" rIns="114300" bIns="78740" rtlCol="0" anchor="t"/>
          <a:lstStyle/>
          <a:p>
            <a:pPr marL="0" indent="0" algn="l">
              <a:buNone/>
            </a:pPr>
            <a:r>
              <a:rPr lang="en-US" sz="900" dirty="0">
                <a:solidFill>
                  <a:srgbClr val="F8FAFC"/>
                </a:solidFill>
                <a:latin typeface="Consolas" pitchFamily="34" charset="0"/>
                <a:ea typeface="Consolas" pitchFamily="34" charset="-122"/>
                <a:cs typeface="Consolas" pitchFamily="34" charset="-120"/>
              </a:rPr>
              <a:t>−255.52</a:t>
            </a:r>
            <a:endParaRPr lang="en-US" sz="900" dirty="0"/>
          </a:p>
        </p:txBody>
      </p:sp>
      <p:sp>
        <p:nvSpPr>
          <p:cNvPr id="23" name="Text 17"/>
          <p:cNvSpPr/>
          <p:nvPr/>
        </p:nvSpPr>
        <p:spPr>
          <a:xfrm>
            <a:off x="1784300" y="2291804"/>
            <a:ext cx="1467445" cy="9525"/>
          </a:xfrm>
          <a:prstGeom prst="rect">
            <a:avLst/>
          </a:prstGeom>
          <a:solidFill>
            <a:srgbClr val="FFFFFF">
              <a:alpha val="5000"/>
            </a:srgbClr>
          </a:solidFill>
          <a:ln/>
        </p:spPr>
        <p:txBody>
          <a:bodyPr wrap="none" rtlCol="0" anchor="t"/>
          <a:lstStyle/>
          <a:p>
            <a:pPr marL="0" indent="0">
              <a:buNone/>
            </a:pPr>
            <a:endParaRPr lang="en-US" dirty="0"/>
          </a:p>
        </p:txBody>
      </p:sp>
      <p:sp>
        <p:nvSpPr>
          <p:cNvPr id="24" name="Text 18"/>
          <p:cNvSpPr/>
          <p:nvPr/>
        </p:nvSpPr>
        <p:spPr>
          <a:xfrm>
            <a:off x="3251746" y="1962894"/>
            <a:ext cx="1183773" cy="338435"/>
          </a:xfrm>
          <a:prstGeom prst="rect">
            <a:avLst/>
          </a:prstGeom>
          <a:noFill/>
          <a:ln/>
        </p:spPr>
        <p:txBody>
          <a:bodyPr wrap="none" lIns="114300" tIns="78740" rIns="114300" bIns="78740" rtlCol="0" anchor="t"/>
          <a:lstStyle/>
          <a:p>
            <a:pPr marL="0" indent="0" algn="l">
              <a:buNone/>
            </a:pPr>
            <a:r>
              <a:rPr lang="en-US" sz="900" dirty="0">
                <a:solidFill>
                  <a:srgbClr val="F8FAFC"/>
                </a:solidFill>
                <a:latin typeface="Consolas" pitchFamily="34" charset="0"/>
                <a:ea typeface="Consolas" pitchFamily="34" charset="-122"/>
                <a:cs typeface="Consolas" pitchFamily="34" charset="-120"/>
              </a:rPr>
              <a:t>&lt; 0.001</a:t>
            </a:r>
            <a:endParaRPr lang="en-US" sz="900" dirty="0"/>
          </a:p>
        </p:txBody>
      </p:sp>
      <p:sp>
        <p:nvSpPr>
          <p:cNvPr id="25" name="Text 19"/>
          <p:cNvSpPr/>
          <p:nvPr/>
        </p:nvSpPr>
        <p:spPr>
          <a:xfrm>
            <a:off x="3251746" y="2291804"/>
            <a:ext cx="1160562" cy="9525"/>
          </a:xfrm>
          <a:prstGeom prst="rect">
            <a:avLst/>
          </a:prstGeom>
          <a:solidFill>
            <a:srgbClr val="FFFFFF">
              <a:alpha val="5000"/>
            </a:srgbClr>
          </a:solidFill>
          <a:ln/>
        </p:spPr>
        <p:txBody>
          <a:bodyPr wrap="none" rtlCol="0" anchor="t"/>
          <a:lstStyle/>
          <a:p>
            <a:pPr marL="0" indent="0">
              <a:buNone/>
            </a:pPr>
            <a:endParaRPr lang="en-US" dirty="0"/>
          </a:p>
        </p:txBody>
      </p:sp>
      <p:sp>
        <p:nvSpPr>
          <p:cNvPr id="26" name="Text 20"/>
          <p:cNvSpPr/>
          <p:nvPr/>
        </p:nvSpPr>
        <p:spPr>
          <a:xfrm>
            <a:off x="4412307" y="1962894"/>
            <a:ext cx="726385" cy="338435"/>
          </a:xfrm>
          <a:prstGeom prst="rect">
            <a:avLst/>
          </a:prstGeom>
          <a:noFill/>
          <a:ln/>
        </p:spPr>
        <p:txBody>
          <a:bodyPr wrap="none" lIns="114300" tIns="78740" rIns="114300" bIns="78740" rtlCol="0" anchor="t"/>
          <a:lstStyle/>
          <a:p>
            <a:pPr marL="0" indent="0" algn="l">
              <a:buNone/>
            </a:pPr>
            <a:r>
              <a:rPr lang="en-US" sz="900" b="1" dirty="0">
                <a:solidFill>
                  <a:srgbClr val="FBBF24"/>
                </a:solidFill>
                <a:latin typeface="Calibri" pitchFamily="34" charset="0"/>
                <a:ea typeface="Calibri" pitchFamily="34" charset="-122"/>
                <a:cs typeface="Calibri" pitchFamily="34" charset="-120"/>
              </a:rPr>
              <a:t>***</a:t>
            </a:r>
            <a:endParaRPr lang="en-US" sz="900" dirty="0"/>
          </a:p>
        </p:txBody>
      </p:sp>
      <p:sp>
        <p:nvSpPr>
          <p:cNvPr id="27" name="Text 21"/>
          <p:cNvSpPr/>
          <p:nvPr/>
        </p:nvSpPr>
        <p:spPr>
          <a:xfrm>
            <a:off x="4412307" y="2291804"/>
            <a:ext cx="712143" cy="9525"/>
          </a:xfrm>
          <a:prstGeom prst="rect">
            <a:avLst/>
          </a:prstGeom>
          <a:solidFill>
            <a:srgbClr val="FFFFFF">
              <a:alpha val="5000"/>
            </a:srgbClr>
          </a:solidFill>
          <a:ln/>
        </p:spPr>
        <p:txBody>
          <a:bodyPr wrap="none" rtlCol="0" anchor="t"/>
          <a:lstStyle/>
          <a:p>
            <a:pPr marL="0" indent="0">
              <a:buNone/>
            </a:pPr>
            <a:endParaRPr lang="en-US" dirty="0"/>
          </a:p>
        </p:txBody>
      </p:sp>
      <p:sp>
        <p:nvSpPr>
          <p:cNvPr id="28" name="Text 22"/>
          <p:cNvSpPr/>
          <p:nvPr/>
        </p:nvSpPr>
        <p:spPr>
          <a:xfrm>
            <a:off x="457200" y="2301329"/>
            <a:ext cx="1353642" cy="338435"/>
          </a:xfrm>
          <a:prstGeom prst="rect">
            <a:avLst/>
          </a:prstGeom>
          <a:noFill/>
          <a:ln/>
        </p:spPr>
        <p:txBody>
          <a:bodyPr wrap="none" lIns="114300" tIns="78740" rIns="114300" bIns="78740" rtlCol="0" anchor="t"/>
          <a:lstStyle/>
          <a:p>
            <a:pPr marL="0" indent="0" algn="l">
              <a:buNone/>
            </a:pPr>
            <a:r>
              <a:rPr lang="en-US" sz="900" b="1" dirty="0">
                <a:solidFill>
                  <a:srgbClr val="F8FAFC"/>
                </a:solidFill>
                <a:latin typeface="Calibri" pitchFamily="34" charset="0"/>
                <a:ea typeface="Calibri" pitchFamily="34" charset="-122"/>
                <a:cs typeface="Calibri" pitchFamily="34" charset="-120"/>
              </a:rPr>
              <a:t>Guests</a:t>
            </a:r>
            <a:endParaRPr lang="en-US" sz="900" dirty="0"/>
          </a:p>
        </p:txBody>
      </p:sp>
      <p:sp>
        <p:nvSpPr>
          <p:cNvPr id="29" name="Text 23"/>
          <p:cNvSpPr/>
          <p:nvPr/>
        </p:nvSpPr>
        <p:spPr>
          <a:xfrm>
            <a:off x="457200" y="2630239"/>
            <a:ext cx="1327100" cy="9525"/>
          </a:xfrm>
          <a:prstGeom prst="rect">
            <a:avLst/>
          </a:prstGeom>
          <a:solidFill>
            <a:srgbClr val="FFFFFF">
              <a:alpha val="5000"/>
            </a:srgbClr>
          </a:solidFill>
          <a:ln/>
        </p:spPr>
        <p:txBody>
          <a:bodyPr wrap="none" rtlCol="0" anchor="t"/>
          <a:lstStyle/>
          <a:p>
            <a:pPr marL="0" indent="0">
              <a:buNone/>
            </a:pPr>
            <a:endParaRPr lang="en-US" dirty="0"/>
          </a:p>
        </p:txBody>
      </p:sp>
      <p:sp>
        <p:nvSpPr>
          <p:cNvPr id="30" name="Text 24"/>
          <p:cNvSpPr/>
          <p:nvPr/>
        </p:nvSpPr>
        <p:spPr>
          <a:xfrm>
            <a:off x="1784300" y="2301329"/>
            <a:ext cx="1496794" cy="338435"/>
          </a:xfrm>
          <a:prstGeom prst="rect">
            <a:avLst/>
          </a:prstGeom>
          <a:noFill/>
          <a:ln/>
        </p:spPr>
        <p:txBody>
          <a:bodyPr wrap="none" lIns="114300" tIns="78740" rIns="114300" bIns="78740" rtlCol="0" anchor="t"/>
          <a:lstStyle/>
          <a:p>
            <a:pPr marL="0" indent="0" algn="l">
              <a:buNone/>
            </a:pPr>
            <a:r>
              <a:rPr lang="en-US" sz="900" dirty="0">
                <a:solidFill>
                  <a:srgbClr val="6EE7B7"/>
                </a:solidFill>
                <a:latin typeface="Consolas" pitchFamily="34" charset="0"/>
                <a:ea typeface="Consolas" pitchFamily="34" charset="-122"/>
                <a:cs typeface="Consolas" pitchFamily="34" charset="-120"/>
              </a:rPr>
              <a:t>+38.09</a:t>
            </a:r>
            <a:endParaRPr lang="en-US" sz="900" dirty="0"/>
          </a:p>
        </p:txBody>
      </p:sp>
      <p:sp>
        <p:nvSpPr>
          <p:cNvPr id="31" name="Text 25"/>
          <p:cNvSpPr/>
          <p:nvPr/>
        </p:nvSpPr>
        <p:spPr>
          <a:xfrm>
            <a:off x="1784300" y="2630239"/>
            <a:ext cx="1467445" cy="9525"/>
          </a:xfrm>
          <a:prstGeom prst="rect">
            <a:avLst/>
          </a:prstGeom>
          <a:solidFill>
            <a:srgbClr val="FFFFFF">
              <a:alpha val="5000"/>
            </a:srgbClr>
          </a:solidFill>
          <a:ln/>
        </p:spPr>
        <p:txBody>
          <a:bodyPr wrap="none" rtlCol="0" anchor="t"/>
          <a:lstStyle/>
          <a:p>
            <a:pPr marL="0" indent="0">
              <a:buNone/>
            </a:pPr>
            <a:endParaRPr lang="en-US" dirty="0"/>
          </a:p>
        </p:txBody>
      </p:sp>
      <p:sp>
        <p:nvSpPr>
          <p:cNvPr id="32" name="Text 26"/>
          <p:cNvSpPr/>
          <p:nvPr/>
        </p:nvSpPr>
        <p:spPr>
          <a:xfrm>
            <a:off x="3251746" y="2301329"/>
            <a:ext cx="1183773" cy="338435"/>
          </a:xfrm>
          <a:prstGeom prst="rect">
            <a:avLst/>
          </a:prstGeom>
          <a:noFill/>
          <a:ln/>
        </p:spPr>
        <p:txBody>
          <a:bodyPr wrap="none" lIns="114300" tIns="78740" rIns="114300" bIns="78740" rtlCol="0" anchor="t"/>
          <a:lstStyle/>
          <a:p>
            <a:pPr marL="0" indent="0" algn="l">
              <a:buNone/>
            </a:pPr>
            <a:r>
              <a:rPr lang="en-US" sz="900" dirty="0">
                <a:solidFill>
                  <a:srgbClr val="F8FAFC"/>
                </a:solidFill>
                <a:latin typeface="Consolas" pitchFamily="34" charset="0"/>
                <a:ea typeface="Consolas" pitchFamily="34" charset="-122"/>
                <a:cs typeface="Consolas" pitchFamily="34" charset="-120"/>
              </a:rPr>
              <a:t>0.047</a:t>
            </a:r>
            <a:endParaRPr lang="en-US" sz="900" dirty="0"/>
          </a:p>
        </p:txBody>
      </p:sp>
      <p:sp>
        <p:nvSpPr>
          <p:cNvPr id="33" name="Text 27"/>
          <p:cNvSpPr/>
          <p:nvPr/>
        </p:nvSpPr>
        <p:spPr>
          <a:xfrm>
            <a:off x="3251746" y="2630239"/>
            <a:ext cx="1160562" cy="9525"/>
          </a:xfrm>
          <a:prstGeom prst="rect">
            <a:avLst/>
          </a:prstGeom>
          <a:solidFill>
            <a:srgbClr val="FFFFFF">
              <a:alpha val="5000"/>
            </a:srgbClr>
          </a:solidFill>
          <a:ln/>
        </p:spPr>
        <p:txBody>
          <a:bodyPr wrap="none" rtlCol="0" anchor="t"/>
          <a:lstStyle/>
          <a:p>
            <a:pPr marL="0" indent="0">
              <a:buNone/>
            </a:pPr>
            <a:endParaRPr lang="en-US" dirty="0"/>
          </a:p>
        </p:txBody>
      </p:sp>
      <p:sp>
        <p:nvSpPr>
          <p:cNvPr id="34" name="Text 28"/>
          <p:cNvSpPr/>
          <p:nvPr/>
        </p:nvSpPr>
        <p:spPr>
          <a:xfrm>
            <a:off x="4412307" y="2301329"/>
            <a:ext cx="726385" cy="338435"/>
          </a:xfrm>
          <a:prstGeom prst="rect">
            <a:avLst/>
          </a:prstGeom>
          <a:noFill/>
          <a:ln/>
        </p:spPr>
        <p:txBody>
          <a:bodyPr wrap="none" lIns="114300" tIns="78740" rIns="114300" bIns="78740" rtlCol="0" anchor="t"/>
          <a:lstStyle/>
          <a:p>
            <a:pPr marL="0" indent="0" algn="l">
              <a:buNone/>
            </a:pPr>
            <a:r>
              <a:rPr lang="en-US" sz="900" b="1" dirty="0">
                <a:solidFill>
                  <a:srgbClr val="FBBF24"/>
                </a:solidFill>
                <a:latin typeface="Calibri" pitchFamily="34" charset="0"/>
                <a:ea typeface="Calibri" pitchFamily="34" charset="-122"/>
                <a:cs typeface="Calibri" pitchFamily="34" charset="-120"/>
              </a:rPr>
              <a:t>*</a:t>
            </a:r>
            <a:endParaRPr lang="en-US" sz="900" dirty="0"/>
          </a:p>
        </p:txBody>
      </p:sp>
      <p:sp>
        <p:nvSpPr>
          <p:cNvPr id="35" name="Text 29"/>
          <p:cNvSpPr/>
          <p:nvPr/>
        </p:nvSpPr>
        <p:spPr>
          <a:xfrm>
            <a:off x="4412307" y="2630239"/>
            <a:ext cx="712143" cy="9525"/>
          </a:xfrm>
          <a:prstGeom prst="rect">
            <a:avLst/>
          </a:prstGeom>
          <a:solidFill>
            <a:srgbClr val="FFFFFF">
              <a:alpha val="5000"/>
            </a:srgbClr>
          </a:solidFill>
          <a:ln/>
        </p:spPr>
        <p:txBody>
          <a:bodyPr wrap="none" rtlCol="0" anchor="t"/>
          <a:lstStyle/>
          <a:p>
            <a:pPr marL="0" indent="0">
              <a:buNone/>
            </a:pPr>
            <a:endParaRPr lang="en-US" dirty="0"/>
          </a:p>
        </p:txBody>
      </p:sp>
      <p:sp>
        <p:nvSpPr>
          <p:cNvPr id="36" name="Text 30"/>
          <p:cNvSpPr/>
          <p:nvPr/>
        </p:nvSpPr>
        <p:spPr>
          <a:xfrm>
            <a:off x="457200" y="2639764"/>
            <a:ext cx="1353642" cy="338435"/>
          </a:xfrm>
          <a:prstGeom prst="rect">
            <a:avLst/>
          </a:prstGeom>
          <a:noFill/>
          <a:ln/>
        </p:spPr>
        <p:txBody>
          <a:bodyPr wrap="none" lIns="114300" tIns="78740" rIns="114300" bIns="78740" rtlCol="0" anchor="t"/>
          <a:lstStyle/>
          <a:p>
            <a:pPr marL="0" indent="0" algn="l">
              <a:buNone/>
            </a:pPr>
            <a:r>
              <a:rPr lang="en-US" sz="900" b="1" dirty="0">
                <a:solidFill>
                  <a:srgbClr val="F8FAFC"/>
                </a:solidFill>
                <a:latin typeface="Calibri" pitchFamily="34" charset="0"/>
                <a:ea typeface="Calibri" pitchFamily="34" charset="-122"/>
                <a:cs typeface="Calibri" pitchFamily="34" charset="-120"/>
              </a:rPr>
              <a:t>Bedrooms</a:t>
            </a:r>
            <a:endParaRPr lang="en-US" sz="900" dirty="0"/>
          </a:p>
        </p:txBody>
      </p:sp>
      <p:sp>
        <p:nvSpPr>
          <p:cNvPr id="37" name="Text 31"/>
          <p:cNvSpPr/>
          <p:nvPr/>
        </p:nvSpPr>
        <p:spPr>
          <a:xfrm>
            <a:off x="457200" y="2968675"/>
            <a:ext cx="1327100" cy="9525"/>
          </a:xfrm>
          <a:prstGeom prst="rect">
            <a:avLst/>
          </a:prstGeom>
          <a:solidFill>
            <a:srgbClr val="FFFFFF">
              <a:alpha val="5000"/>
            </a:srgbClr>
          </a:solidFill>
          <a:ln/>
        </p:spPr>
        <p:txBody>
          <a:bodyPr wrap="none" rtlCol="0" anchor="t"/>
          <a:lstStyle/>
          <a:p>
            <a:pPr marL="0" indent="0">
              <a:buNone/>
            </a:pPr>
            <a:endParaRPr lang="en-US" dirty="0"/>
          </a:p>
        </p:txBody>
      </p:sp>
      <p:sp>
        <p:nvSpPr>
          <p:cNvPr id="38" name="Text 32"/>
          <p:cNvSpPr/>
          <p:nvPr/>
        </p:nvSpPr>
        <p:spPr>
          <a:xfrm>
            <a:off x="1784300" y="2639764"/>
            <a:ext cx="1496794" cy="338435"/>
          </a:xfrm>
          <a:prstGeom prst="rect">
            <a:avLst/>
          </a:prstGeom>
          <a:noFill/>
          <a:ln/>
        </p:spPr>
        <p:txBody>
          <a:bodyPr wrap="none" lIns="114300" tIns="78740" rIns="114300" bIns="78740" rtlCol="0" anchor="t"/>
          <a:lstStyle/>
          <a:p>
            <a:pPr marL="0" indent="0" algn="l">
              <a:buNone/>
            </a:pPr>
            <a:r>
              <a:rPr lang="en-US" sz="900" dirty="0">
                <a:solidFill>
                  <a:srgbClr val="FCA5A5"/>
                </a:solidFill>
                <a:latin typeface="Consolas" pitchFamily="34" charset="0"/>
                <a:ea typeface="Consolas" pitchFamily="34" charset="-122"/>
                <a:cs typeface="Consolas" pitchFamily="34" charset="-120"/>
              </a:rPr>
              <a:t>−56.93</a:t>
            </a:r>
            <a:endParaRPr lang="en-US" sz="900" dirty="0"/>
          </a:p>
        </p:txBody>
      </p:sp>
      <p:sp>
        <p:nvSpPr>
          <p:cNvPr id="39" name="Text 33"/>
          <p:cNvSpPr/>
          <p:nvPr/>
        </p:nvSpPr>
        <p:spPr>
          <a:xfrm>
            <a:off x="1784300" y="2968675"/>
            <a:ext cx="1467445" cy="9525"/>
          </a:xfrm>
          <a:prstGeom prst="rect">
            <a:avLst/>
          </a:prstGeom>
          <a:solidFill>
            <a:srgbClr val="FFFFFF">
              <a:alpha val="5000"/>
            </a:srgbClr>
          </a:solidFill>
          <a:ln/>
        </p:spPr>
        <p:txBody>
          <a:bodyPr wrap="none" rtlCol="0" anchor="t"/>
          <a:lstStyle/>
          <a:p>
            <a:pPr marL="0" indent="0">
              <a:buNone/>
            </a:pPr>
            <a:endParaRPr lang="en-US" dirty="0"/>
          </a:p>
        </p:txBody>
      </p:sp>
      <p:sp>
        <p:nvSpPr>
          <p:cNvPr id="40" name="Text 34"/>
          <p:cNvSpPr/>
          <p:nvPr/>
        </p:nvSpPr>
        <p:spPr>
          <a:xfrm>
            <a:off x="3251746" y="2639764"/>
            <a:ext cx="1183773" cy="338435"/>
          </a:xfrm>
          <a:prstGeom prst="rect">
            <a:avLst/>
          </a:prstGeom>
          <a:noFill/>
          <a:ln/>
        </p:spPr>
        <p:txBody>
          <a:bodyPr wrap="none" lIns="114300" tIns="78740" rIns="114300" bIns="78740" rtlCol="0" anchor="t"/>
          <a:lstStyle/>
          <a:p>
            <a:pPr marL="0" indent="0" algn="l">
              <a:buNone/>
            </a:pPr>
            <a:r>
              <a:rPr lang="en-US" sz="900" dirty="0">
                <a:solidFill>
                  <a:srgbClr val="F8FAFC"/>
                </a:solidFill>
                <a:latin typeface="Consolas" pitchFamily="34" charset="0"/>
                <a:ea typeface="Consolas" pitchFamily="34" charset="-122"/>
                <a:cs typeface="Consolas" pitchFamily="34" charset="-120"/>
              </a:rPr>
              <a:t>0.322</a:t>
            </a:r>
            <a:endParaRPr lang="en-US" sz="900" dirty="0"/>
          </a:p>
        </p:txBody>
      </p:sp>
      <p:sp>
        <p:nvSpPr>
          <p:cNvPr id="41" name="Text 35"/>
          <p:cNvSpPr/>
          <p:nvPr/>
        </p:nvSpPr>
        <p:spPr>
          <a:xfrm>
            <a:off x="3251746" y="2968675"/>
            <a:ext cx="1160562" cy="9525"/>
          </a:xfrm>
          <a:prstGeom prst="rect">
            <a:avLst/>
          </a:prstGeom>
          <a:solidFill>
            <a:srgbClr val="FFFFFF">
              <a:alpha val="5000"/>
            </a:srgbClr>
          </a:solidFill>
          <a:ln/>
        </p:spPr>
        <p:txBody>
          <a:bodyPr wrap="none" rtlCol="0" anchor="t"/>
          <a:lstStyle/>
          <a:p>
            <a:pPr marL="0" indent="0">
              <a:buNone/>
            </a:pPr>
            <a:endParaRPr lang="en-US" dirty="0"/>
          </a:p>
        </p:txBody>
      </p:sp>
      <p:sp>
        <p:nvSpPr>
          <p:cNvPr id="42" name="Text 36"/>
          <p:cNvSpPr/>
          <p:nvPr/>
        </p:nvSpPr>
        <p:spPr>
          <a:xfrm>
            <a:off x="4412307" y="2639764"/>
            <a:ext cx="712143" cy="348588"/>
          </a:xfrm>
          <a:prstGeom prst="rect">
            <a:avLst/>
          </a:prstGeom>
          <a:noFill/>
          <a:ln/>
        </p:spPr>
        <p:txBody>
          <a:bodyPr wrap="none" lIns="114300" tIns="78740" rIns="114300" bIns="78740" rtlCol="0" anchor="t"/>
          <a:lstStyle/>
          <a:p>
            <a:pPr marL="0" indent="0" algn="l">
              <a:buNone/>
            </a:pPr>
            <a:r>
              <a:rPr lang="en-US" sz="730" dirty="0">
                <a:solidFill>
                  <a:srgbClr val="94A3B8"/>
                </a:solidFill>
                <a:latin typeface="Calibri" pitchFamily="34" charset="0"/>
                <a:ea typeface="Calibri" pitchFamily="34" charset="-122"/>
                <a:cs typeface="Calibri" pitchFamily="34" charset="-120"/>
              </a:rPr>
              <a:t>n.s.</a:t>
            </a:r>
            <a:endParaRPr lang="en-US" sz="730" dirty="0"/>
          </a:p>
        </p:txBody>
      </p:sp>
      <p:sp>
        <p:nvSpPr>
          <p:cNvPr id="43" name="Text 37"/>
          <p:cNvSpPr/>
          <p:nvPr/>
        </p:nvSpPr>
        <p:spPr>
          <a:xfrm>
            <a:off x="4412307" y="2968675"/>
            <a:ext cx="712143" cy="9525"/>
          </a:xfrm>
          <a:prstGeom prst="rect">
            <a:avLst/>
          </a:prstGeom>
          <a:solidFill>
            <a:srgbClr val="FFFFFF">
              <a:alpha val="5000"/>
            </a:srgbClr>
          </a:solidFill>
          <a:ln/>
        </p:spPr>
        <p:txBody>
          <a:bodyPr wrap="none" rtlCol="0" anchor="t"/>
          <a:lstStyle/>
          <a:p>
            <a:pPr marL="0" indent="0">
              <a:buNone/>
            </a:pPr>
            <a:endParaRPr lang="en-US" dirty="0"/>
          </a:p>
        </p:txBody>
      </p:sp>
      <p:sp>
        <p:nvSpPr>
          <p:cNvPr id="44" name="Text 38"/>
          <p:cNvSpPr/>
          <p:nvPr/>
        </p:nvSpPr>
        <p:spPr>
          <a:xfrm>
            <a:off x="457200" y="2978200"/>
            <a:ext cx="1353642" cy="345356"/>
          </a:xfrm>
          <a:prstGeom prst="rect">
            <a:avLst/>
          </a:prstGeom>
          <a:noFill/>
          <a:ln/>
        </p:spPr>
        <p:txBody>
          <a:bodyPr wrap="square" lIns="114300" tIns="78740" rIns="114300" bIns="78740" rtlCol="0" anchor="t"/>
          <a:lstStyle/>
          <a:p>
            <a:pPr marL="0" indent="0" algn="l">
              <a:lnSpc>
                <a:spcPts val="1350"/>
              </a:lnSpc>
              <a:buNone/>
            </a:pPr>
            <a:r>
              <a:rPr lang="en-US" sz="900" b="1" dirty="0">
                <a:solidFill>
                  <a:srgbClr val="F8FAFC"/>
                </a:solidFill>
                <a:latin typeface="Calibri" pitchFamily="34" charset="0"/>
                <a:ea typeface="Calibri" pitchFamily="34" charset="-122"/>
                <a:cs typeface="Calibri" pitchFamily="34" charset="-120"/>
              </a:rPr>
              <a:t>Baths</a:t>
            </a:r>
            <a:endParaRPr lang="en-US" sz="900" dirty="0"/>
          </a:p>
        </p:txBody>
      </p:sp>
      <p:sp>
        <p:nvSpPr>
          <p:cNvPr id="45" name="Text 39"/>
          <p:cNvSpPr/>
          <p:nvPr/>
        </p:nvSpPr>
        <p:spPr>
          <a:xfrm>
            <a:off x="1784300" y="2978200"/>
            <a:ext cx="1496794" cy="345356"/>
          </a:xfrm>
          <a:prstGeom prst="rect">
            <a:avLst/>
          </a:prstGeom>
          <a:noFill/>
          <a:ln/>
        </p:spPr>
        <p:txBody>
          <a:bodyPr wrap="square" lIns="114300" tIns="78740" rIns="114300" bIns="78740" rtlCol="0" anchor="t"/>
          <a:lstStyle/>
          <a:p>
            <a:pPr marL="0" indent="0" algn="l">
              <a:lnSpc>
                <a:spcPts val="1350"/>
              </a:lnSpc>
              <a:buNone/>
            </a:pPr>
            <a:r>
              <a:rPr lang="en-US" sz="900" dirty="0">
                <a:solidFill>
                  <a:srgbClr val="6EE7B7"/>
                </a:solidFill>
                <a:latin typeface="Consolas" pitchFamily="34" charset="0"/>
                <a:ea typeface="Consolas" pitchFamily="34" charset="-122"/>
                <a:cs typeface="Consolas" pitchFamily="34" charset="-120"/>
              </a:rPr>
              <a:t>+171.72</a:t>
            </a:r>
            <a:endParaRPr lang="en-US" sz="900" dirty="0"/>
          </a:p>
        </p:txBody>
      </p:sp>
      <p:sp>
        <p:nvSpPr>
          <p:cNvPr id="46" name="Text 40"/>
          <p:cNvSpPr/>
          <p:nvPr/>
        </p:nvSpPr>
        <p:spPr>
          <a:xfrm>
            <a:off x="3251746" y="2978200"/>
            <a:ext cx="1183773" cy="345356"/>
          </a:xfrm>
          <a:prstGeom prst="rect">
            <a:avLst/>
          </a:prstGeom>
          <a:noFill/>
          <a:ln/>
        </p:spPr>
        <p:txBody>
          <a:bodyPr wrap="square" lIns="114300" tIns="78740" rIns="114300" bIns="78740" rtlCol="0" anchor="t"/>
          <a:lstStyle/>
          <a:p>
            <a:pPr marL="0" indent="0" algn="l">
              <a:lnSpc>
                <a:spcPts val="1350"/>
              </a:lnSpc>
              <a:buNone/>
            </a:pPr>
            <a:r>
              <a:rPr lang="en-US" sz="900" dirty="0">
                <a:solidFill>
                  <a:srgbClr val="F8FAFC"/>
                </a:solidFill>
                <a:latin typeface="Consolas" pitchFamily="34" charset="0"/>
                <a:ea typeface="Consolas" pitchFamily="34" charset="-122"/>
                <a:cs typeface="Consolas" pitchFamily="34" charset="-120"/>
              </a:rPr>
              <a:t>&lt; 0.001</a:t>
            </a:r>
            <a:endParaRPr lang="en-US" sz="900" dirty="0"/>
          </a:p>
        </p:txBody>
      </p:sp>
      <p:sp>
        <p:nvSpPr>
          <p:cNvPr id="47" name="Text 41"/>
          <p:cNvSpPr/>
          <p:nvPr/>
        </p:nvSpPr>
        <p:spPr>
          <a:xfrm>
            <a:off x="4412307" y="2978200"/>
            <a:ext cx="726385" cy="345356"/>
          </a:xfrm>
          <a:prstGeom prst="rect">
            <a:avLst/>
          </a:prstGeom>
          <a:noFill/>
          <a:ln/>
        </p:spPr>
        <p:txBody>
          <a:bodyPr wrap="square" lIns="114300" tIns="78740" rIns="114300" bIns="78740" rtlCol="0" anchor="t"/>
          <a:lstStyle/>
          <a:p>
            <a:pPr marL="0" indent="0" algn="l">
              <a:lnSpc>
                <a:spcPts val="1350"/>
              </a:lnSpc>
              <a:buNone/>
            </a:pPr>
            <a:r>
              <a:rPr lang="en-US" sz="900" b="1" dirty="0">
                <a:solidFill>
                  <a:srgbClr val="FBBF24"/>
                </a:solidFill>
                <a:latin typeface="Calibri" pitchFamily="34" charset="0"/>
                <a:ea typeface="Calibri" pitchFamily="34" charset="-122"/>
                <a:cs typeface="Calibri" pitchFamily="34" charset="-120"/>
              </a:rPr>
              <a:t>***</a:t>
            </a:r>
            <a:endParaRPr lang="en-US" sz="900" dirty="0"/>
          </a:p>
        </p:txBody>
      </p:sp>
      <p:sp>
        <p:nvSpPr>
          <p:cNvPr id="48" name="Text 42"/>
          <p:cNvSpPr/>
          <p:nvPr/>
        </p:nvSpPr>
        <p:spPr>
          <a:xfrm>
            <a:off x="457200" y="3378101"/>
            <a:ext cx="535007" cy="129480"/>
          </a:xfrm>
          <a:prstGeom prst="rect">
            <a:avLst/>
          </a:prstGeom>
          <a:noFill/>
          <a:ln/>
        </p:spPr>
        <p:txBody>
          <a:bodyPr wrap="none" lIns="0" tIns="0" rIns="0" bIns="0" rtlCol="0" anchor="ctr"/>
          <a:lstStyle/>
          <a:p>
            <a:pPr marL="0" indent="0" algn="l">
              <a:lnSpc>
                <a:spcPts val="1020"/>
              </a:lnSpc>
              <a:buNone/>
            </a:pPr>
            <a:r>
              <a:rPr lang="en-US" sz="680" dirty="0">
                <a:solidFill>
                  <a:srgbClr val="94A3B8"/>
                </a:solidFill>
                <a:latin typeface="Calibri" pitchFamily="34" charset="0"/>
                <a:ea typeface="Calibri" pitchFamily="34" charset="-122"/>
                <a:cs typeface="Calibri" pitchFamily="34" charset="-120"/>
              </a:rPr>
              <a:t>*** p &lt; 0.001</a:t>
            </a:r>
            <a:endParaRPr lang="en-US" sz="680" dirty="0"/>
          </a:p>
        </p:txBody>
      </p:sp>
      <p:sp>
        <p:nvSpPr>
          <p:cNvPr id="49" name="Text 43"/>
          <p:cNvSpPr/>
          <p:nvPr/>
        </p:nvSpPr>
        <p:spPr>
          <a:xfrm>
            <a:off x="1087041" y="3378101"/>
            <a:ext cx="408623" cy="129480"/>
          </a:xfrm>
          <a:prstGeom prst="rect">
            <a:avLst/>
          </a:prstGeom>
          <a:noFill/>
          <a:ln/>
        </p:spPr>
        <p:txBody>
          <a:bodyPr wrap="none" lIns="0" tIns="0" rIns="0" bIns="0" rtlCol="0" anchor="ctr"/>
          <a:lstStyle/>
          <a:p>
            <a:pPr marL="0" indent="0" algn="l">
              <a:lnSpc>
                <a:spcPts val="1020"/>
              </a:lnSpc>
              <a:buNone/>
            </a:pPr>
            <a:r>
              <a:rPr lang="en-US" sz="680" dirty="0">
                <a:solidFill>
                  <a:srgbClr val="94A3B8"/>
                </a:solidFill>
                <a:latin typeface="Calibri" pitchFamily="34" charset="0"/>
                <a:ea typeface="Calibri" pitchFamily="34" charset="-122"/>
                <a:cs typeface="Calibri" pitchFamily="34" charset="-120"/>
              </a:rPr>
              <a:t>* p &lt; 0.05</a:t>
            </a:r>
            <a:endParaRPr lang="en-US" sz="680" dirty="0"/>
          </a:p>
        </p:txBody>
      </p:sp>
      <p:sp>
        <p:nvSpPr>
          <p:cNvPr id="50" name="Text 44"/>
          <p:cNvSpPr/>
          <p:nvPr/>
        </p:nvSpPr>
        <p:spPr>
          <a:xfrm>
            <a:off x="1601986" y="3378101"/>
            <a:ext cx="758964" cy="129480"/>
          </a:xfrm>
          <a:prstGeom prst="rect">
            <a:avLst/>
          </a:prstGeom>
          <a:noFill/>
          <a:ln/>
        </p:spPr>
        <p:txBody>
          <a:bodyPr wrap="none" lIns="0" tIns="0" rIns="0" bIns="0" rtlCol="0" anchor="ctr"/>
          <a:lstStyle/>
          <a:p>
            <a:pPr marL="0" indent="0" algn="l">
              <a:lnSpc>
                <a:spcPts val="1020"/>
              </a:lnSpc>
              <a:buNone/>
            </a:pPr>
            <a:r>
              <a:rPr lang="en-US" sz="680" dirty="0">
                <a:solidFill>
                  <a:srgbClr val="94A3B8"/>
                </a:solidFill>
                <a:latin typeface="Calibri" pitchFamily="34" charset="0"/>
                <a:ea typeface="Calibri" pitchFamily="34" charset="-122"/>
                <a:cs typeface="Calibri" pitchFamily="34" charset="-120"/>
              </a:rPr>
              <a:t>n.s. not significant</a:t>
            </a:r>
            <a:endParaRPr lang="en-US" sz="680" dirty="0"/>
          </a:p>
        </p:txBody>
      </p:sp>
      <p:sp>
        <p:nvSpPr>
          <p:cNvPr id="51" name="Text 45"/>
          <p:cNvSpPr/>
          <p:nvPr/>
        </p:nvSpPr>
        <p:spPr>
          <a:xfrm>
            <a:off x="5353050" y="1681907"/>
            <a:ext cx="3333750" cy="2140446"/>
          </a:xfrm>
          <a:prstGeom prst="roundRect">
            <a:avLst>
              <a:gd name="adj" fmla="val 6705"/>
            </a:avLst>
          </a:prstGeom>
          <a:gradFill rotWithShape="1">
            <a:gsLst>
              <a:gs pos="0">
                <a:srgbClr val="00B4D8">
                  <a:alpha val="18000"/>
                </a:srgbClr>
              </a:gs>
              <a:gs pos="100000">
                <a:srgbClr val="00B4D8">
                  <a:alpha val="6000"/>
                </a:srgbClr>
              </a:gs>
            </a:gsLst>
            <a:lin ang="2700000" scaled="1"/>
          </a:gradFill>
          <a:ln w="9525">
            <a:solidFill>
              <a:srgbClr val="00B4D8">
                <a:alpha val="40000"/>
              </a:srgbClr>
            </a:solidFill>
          </a:ln>
        </p:spPr>
        <p:txBody>
          <a:bodyPr wrap="square" rtlCol="0" anchor="t"/>
          <a:lstStyle/>
          <a:p>
            <a:pPr marL="0" indent="0">
              <a:buNone/>
            </a:pPr>
            <a:endParaRPr lang="en-US" dirty="0"/>
          </a:p>
        </p:txBody>
      </p:sp>
      <p:sp>
        <p:nvSpPr>
          <p:cNvPr id="52" name="Text 46"/>
          <p:cNvSpPr/>
          <p:nvPr/>
        </p:nvSpPr>
        <p:spPr>
          <a:xfrm>
            <a:off x="6704781" y="2018109"/>
            <a:ext cx="630287" cy="129480"/>
          </a:xfrm>
          <a:prstGeom prst="rect">
            <a:avLst/>
          </a:prstGeom>
          <a:noFill/>
          <a:ln/>
        </p:spPr>
        <p:txBody>
          <a:bodyPr wrap="none" lIns="0" tIns="0" rIns="0" bIns="0" rtlCol="0" anchor="t"/>
          <a:lstStyle/>
          <a:p>
            <a:pPr marL="0" indent="0" algn="ctr">
              <a:lnSpc>
                <a:spcPts val="1020"/>
              </a:lnSpc>
              <a:buNone/>
            </a:pPr>
            <a:r>
              <a:rPr lang="en-US" sz="680" kern="0" spc="102" dirty="0">
                <a:solidFill>
                  <a:srgbClr val="94A3B8"/>
                </a:solidFill>
                <a:latin typeface="Calibri" pitchFamily="34" charset="0"/>
                <a:ea typeface="Calibri" pitchFamily="34" charset="-122"/>
                <a:cs typeface="Calibri" pitchFamily="34" charset="-120"/>
              </a:rPr>
              <a:t>MODEL FIT</a:t>
            </a:r>
            <a:endParaRPr lang="en-US" sz="680" dirty="0"/>
          </a:p>
        </p:txBody>
      </p:sp>
      <p:sp>
        <p:nvSpPr>
          <p:cNvPr id="53" name="Text 47"/>
          <p:cNvSpPr/>
          <p:nvPr/>
        </p:nvSpPr>
        <p:spPr>
          <a:xfrm>
            <a:off x="6442353" y="2176760"/>
            <a:ext cx="1155144" cy="400050"/>
          </a:xfrm>
          <a:prstGeom prst="rect">
            <a:avLst/>
          </a:prstGeom>
          <a:noFill/>
          <a:ln/>
        </p:spPr>
        <p:txBody>
          <a:bodyPr wrap="none" lIns="0" tIns="0" rIns="0" bIns="0" rtlCol="0" anchor="t"/>
          <a:lstStyle/>
          <a:p>
            <a:pPr marL="0" indent="0" algn="ctr">
              <a:lnSpc>
                <a:spcPts val="3150"/>
              </a:lnSpc>
              <a:buNone/>
            </a:pPr>
            <a:r>
              <a:rPr lang="en-US" sz="3150" b="1" dirty="0">
                <a:solidFill>
                  <a:srgbClr val="00B4D8"/>
                </a:solidFill>
                <a:latin typeface="Constantia" pitchFamily="34" charset="0"/>
                <a:ea typeface="Constantia" pitchFamily="34" charset="-122"/>
                <a:cs typeface="Constantia" pitchFamily="34" charset="-120"/>
              </a:rPr>
              <a:t>0.4699</a:t>
            </a:r>
            <a:endParaRPr lang="en-US" sz="3150" dirty="0"/>
          </a:p>
        </p:txBody>
      </p:sp>
      <p:sp>
        <p:nvSpPr>
          <p:cNvPr id="54" name="Text 48"/>
          <p:cNvSpPr/>
          <p:nvPr/>
        </p:nvSpPr>
        <p:spPr>
          <a:xfrm>
            <a:off x="6604762" y="2619970"/>
            <a:ext cx="830178" cy="159990"/>
          </a:xfrm>
          <a:prstGeom prst="rect">
            <a:avLst/>
          </a:prstGeom>
          <a:noFill/>
          <a:ln/>
        </p:spPr>
        <p:txBody>
          <a:bodyPr wrap="none" lIns="0" tIns="0" rIns="0" bIns="0" rtlCol="0" anchor="t"/>
          <a:lstStyle/>
          <a:p>
            <a:pPr marL="0" indent="0" algn="ctr">
              <a:lnSpc>
                <a:spcPts val="1260"/>
              </a:lnSpc>
              <a:buNone/>
            </a:pPr>
            <a:r>
              <a:rPr lang="en-US" sz="840" kern="0" spc="101" dirty="0">
                <a:solidFill>
                  <a:srgbClr val="94A3B8"/>
                </a:solidFill>
                <a:latin typeface="Calibri" pitchFamily="34" charset="0"/>
                <a:ea typeface="Calibri" pitchFamily="34" charset="-122"/>
                <a:cs typeface="Calibri" pitchFamily="34" charset="-120"/>
              </a:rPr>
              <a:t>R-SQUARED</a:t>
            </a:r>
            <a:endParaRPr lang="en-US" sz="840" dirty="0"/>
          </a:p>
        </p:txBody>
      </p:sp>
      <p:sp>
        <p:nvSpPr>
          <p:cNvPr id="55" name="Text 49"/>
          <p:cNvSpPr/>
          <p:nvPr/>
        </p:nvSpPr>
        <p:spPr>
          <a:xfrm>
            <a:off x="5819440" y="2850952"/>
            <a:ext cx="2400821" cy="215205"/>
          </a:xfrm>
          <a:prstGeom prst="rect">
            <a:avLst/>
          </a:prstGeom>
          <a:noFill/>
          <a:ln/>
        </p:spPr>
        <p:txBody>
          <a:bodyPr wrap="none" lIns="0" tIns="0" rIns="0" bIns="0" rtlCol="0" anchor="t"/>
          <a:lstStyle/>
          <a:p>
            <a:pPr marL="0" indent="0" algn="ctr">
              <a:lnSpc>
                <a:spcPts val="1695"/>
              </a:lnSpc>
              <a:buNone/>
            </a:pPr>
            <a:r>
              <a:rPr lang="en-US" sz="1130" b="1" dirty="0">
                <a:solidFill>
                  <a:srgbClr val="F8FAFC"/>
                </a:solidFill>
                <a:latin typeface="Calibri" pitchFamily="34" charset="0"/>
                <a:ea typeface="Calibri" pitchFamily="34" charset="-122"/>
                <a:cs typeface="Calibri" pitchFamily="34" charset="-120"/>
              </a:rPr>
              <a:t>47% of price variation explained</a:t>
            </a:r>
            <a:endParaRPr lang="en-US" sz="1130" dirty="0"/>
          </a:p>
        </p:txBody>
      </p:sp>
      <p:sp>
        <p:nvSpPr>
          <p:cNvPr id="56" name="Text 50"/>
          <p:cNvSpPr/>
          <p:nvPr/>
        </p:nvSpPr>
        <p:spPr>
          <a:xfrm>
            <a:off x="5787874" y="3194298"/>
            <a:ext cx="423520" cy="159990"/>
          </a:xfrm>
          <a:prstGeom prst="rect">
            <a:avLst/>
          </a:prstGeom>
          <a:noFill/>
          <a:ln/>
        </p:spPr>
        <p:txBody>
          <a:bodyPr wrap="none" lIns="0" tIns="0" rIns="0" bIns="0" rtlCol="0" anchor="t"/>
          <a:lstStyle/>
          <a:p>
            <a:pPr marL="0" indent="0" algn="ctr">
              <a:lnSpc>
                <a:spcPts val="1260"/>
              </a:lnSpc>
              <a:buNone/>
            </a:pPr>
            <a:r>
              <a:rPr lang="en-US" sz="840" dirty="0">
                <a:solidFill>
                  <a:srgbClr val="F8FAFC"/>
                </a:solidFill>
                <a:latin typeface="Consolas" pitchFamily="34" charset="0"/>
                <a:ea typeface="Consolas" pitchFamily="34" charset="-122"/>
                <a:cs typeface="Consolas" pitchFamily="34" charset="-120"/>
              </a:rPr>
              <a:t>0.4614</a:t>
            </a:r>
            <a:endParaRPr lang="en-US" sz="840" dirty="0"/>
          </a:p>
        </p:txBody>
      </p:sp>
      <p:sp>
        <p:nvSpPr>
          <p:cNvPr id="57" name="Text 51"/>
          <p:cNvSpPr/>
          <p:nvPr/>
        </p:nvSpPr>
        <p:spPr>
          <a:xfrm>
            <a:off x="5824054" y="3368129"/>
            <a:ext cx="351160" cy="118021"/>
          </a:xfrm>
          <a:prstGeom prst="rect">
            <a:avLst/>
          </a:prstGeom>
          <a:noFill/>
          <a:ln/>
        </p:spPr>
        <p:txBody>
          <a:bodyPr wrap="none" lIns="0" tIns="0" rIns="0" bIns="0" rtlCol="0" anchor="t"/>
          <a:lstStyle/>
          <a:p>
            <a:pPr marL="0" indent="0" algn="ctr">
              <a:lnSpc>
                <a:spcPts val="930"/>
              </a:lnSpc>
              <a:buNone/>
            </a:pPr>
            <a:r>
              <a:rPr lang="en-US" sz="620" kern="0" spc="50" dirty="0">
                <a:solidFill>
                  <a:srgbClr val="94A3B8"/>
                </a:solidFill>
                <a:latin typeface="Calibri" pitchFamily="34" charset="0"/>
                <a:ea typeface="Calibri" pitchFamily="34" charset="-122"/>
                <a:cs typeface="Calibri" pitchFamily="34" charset="-120"/>
              </a:rPr>
              <a:t>ADJ. R²</a:t>
            </a:r>
            <a:endParaRPr lang="en-US" sz="620" dirty="0"/>
          </a:p>
        </p:txBody>
      </p:sp>
      <p:sp>
        <p:nvSpPr>
          <p:cNvPr id="58" name="Text 52"/>
          <p:cNvSpPr/>
          <p:nvPr/>
        </p:nvSpPr>
        <p:spPr>
          <a:xfrm>
            <a:off x="6420743" y="3194298"/>
            <a:ext cx="7590" cy="291852"/>
          </a:xfrm>
          <a:prstGeom prst="rect">
            <a:avLst/>
          </a:prstGeom>
          <a:solidFill>
            <a:srgbClr val="FFFFFF">
              <a:alpha val="12000"/>
            </a:srgbClr>
          </a:solidFill>
          <a:ln/>
        </p:spPr>
        <p:txBody>
          <a:bodyPr wrap="square" rtlCol="0" anchor="t"/>
          <a:lstStyle/>
          <a:p>
            <a:pPr marL="0" indent="0">
              <a:buNone/>
            </a:pPr>
            <a:endParaRPr lang="en-US" dirty="0"/>
          </a:p>
        </p:txBody>
      </p:sp>
      <p:sp>
        <p:nvSpPr>
          <p:cNvPr id="59" name="Text 53"/>
          <p:cNvSpPr/>
          <p:nvPr/>
        </p:nvSpPr>
        <p:spPr>
          <a:xfrm>
            <a:off x="6747153" y="3194298"/>
            <a:ext cx="352961" cy="159990"/>
          </a:xfrm>
          <a:prstGeom prst="rect">
            <a:avLst/>
          </a:prstGeom>
          <a:noFill/>
          <a:ln/>
        </p:spPr>
        <p:txBody>
          <a:bodyPr wrap="none" lIns="0" tIns="0" rIns="0" bIns="0" rtlCol="0" anchor="t"/>
          <a:lstStyle/>
          <a:p>
            <a:pPr marL="0" indent="0" algn="ctr">
              <a:lnSpc>
                <a:spcPts val="1260"/>
              </a:lnSpc>
              <a:buNone/>
            </a:pPr>
            <a:r>
              <a:rPr lang="en-US" sz="840" dirty="0">
                <a:solidFill>
                  <a:srgbClr val="F8FAFC"/>
                </a:solidFill>
                <a:latin typeface="Consolas" pitchFamily="34" charset="0"/>
                <a:ea typeface="Consolas" pitchFamily="34" charset="-122"/>
                <a:cs typeface="Consolas" pitchFamily="34" charset="-120"/>
              </a:rPr>
              <a:t>54.97</a:t>
            </a:r>
            <a:endParaRPr lang="en-US" sz="840" dirty="0"/>
          </a:p>
        </p:txBody>
      </p:sp>
      <p:sp>
        <p:nvSpPr>
          <p:cNvPr id="60" name="Text 54"/>
          <p:cNvSpPr/>
          <p:nvPr/>
        </p:nvSpPr>
        <p:spPr>
          <a:xfrm>
            <a:off x="6630256" y="3368129"/>
            <a:ext cx="586904" cy="118021"/>
          </a:xfrm>
          <a:prstGeom prst="rect">
            <a:avLst/>
          </a:prstGeom>
          <a:noFill/>
          <a:ln/>
        </p:spPr>
        <p:txBody>
          <a:bodyPr wrap="none" lIns="0" tIns="0" rIns="0" bIns="0" rtlCol="0" anchor="t"/>
          <a:lstStyle/>
          <a:p>
            <a:pPr marL="0" indent="0" algn="ctr">
              <a:lnSpc>
                <a:spcPts val="930"/>
              </a:lnSpc>
              <a:buNone/>
            </a:pPr>
            <a:r>
              <a:rPr lang="en-US" sz="620" kern="0" spc="50" dirty="0">
                <a:solidFill>
                  <a:srgbClr val="94A3B8"/>
                </a:solidFill>
                <a:latin typeface="Calibri" pitchFamily="34" charset="0"/>
                <a:ea typeface="Calibri" pitchFamily="34" charset="-122"/>
                <a:cs typeface="Calibri" pitchFamily="34" charset="-120"/>
              </a:rPr>
              <a:t>F-STATISTIC</a:t>
            </a:r>
            <a:endParaRPr lang="en-US" sz="620" dirty="0"/>
          </a:p>
        </p:txBody>
      </p:sp>
      <p:sp>
        <p:nvSpPr>
          <p:cNvPr id="61" name="Text 55"/>
          <p:cNvSpPr/>
          <p:nvPr/>
        </p:nvSpPr>
        <p:spPr>
          <a:xfrm>
            <a:off x="7419082" y="3194298"/>
            <a:ext cx="7590" cy="291852"/>
          </a:xfrm>
          <a:prstGeom prst="rect">
            <a:avLst/>
          </a:prstGeom>
          <a:solidFill>
            <a:srgbClr val="FFFFFF">
              <a:alpha val="12000"/>
            </a:srgbClr>
          </a:solidFill>
          <a:ln/>
        </p:spPr>
        <p:txBody>
          <a:bodyPr wrap="square" rtlCol="0" anchor="t"/>
          <a:lstStyle/>
          <a:p>
            <a:pPr marL="0" indent="0">
              <a:buNone/>
            </a:pPr>
            <a:endParaRPr lang="en-US" dirty="0"/>
          </a:p>
        </p:txBody>
      </p:sp>
      <p:sp>
        <p:nvSpPr>
          <p:cNvPr id="62" name="Text 56"/>
          <p:cNvSpPr/>
          <p:nvPr/>
        </p:nvSpPr>
        <p:spPr>
          <a:xfrm>
            <a:off x="7626400" y="3194298"/>
            <a:ext cx="635198" cy="159990"/>
          </a:xfrm>
          <a:prstGeom prst="rect">
            <a:avLst/>
          </a:prstGeom>
          <a:noFill/>
          <a:ln/>
        </p:spPr>
        <p:txBody>
          <a:bodyPr wrap="none" lIns="0" tIns="0" rIns="0" bIns="0" rtlCol="0" anchor="t"/>
          <a:lstStyle/>
          <a:p>
            <a:pPr marL="0" indent="0" algn="ctr">
              <a:lnSpc>
                <a:spcPts val="1260"/>
              </a:lnSpc>
              <a:buNone/>
            </a:pPr>
            <a:r>
              <a:rPr lang="en-US" sz="840" dirty="0">
                <a:solidFill>
                  <a:srgbClr val="F8FAFC"/>
                </a:solidFill>
                <a:latin typeface="Consolas" pitchFamily="34" charset="0"/>
                <a:ea typeface="Consolas" pitchFamily="34" charset="-122"/>
                <a:cs typeface="Consolas" pitchFamily="34" charset="-120"/>
              </a:rPr>
              <a:t>&lt; 2.2e⁻¹⁶</a:t>
            </a:r>
            <a:endParaRPr lang="en-US" sz="840" dirty="0"/>
          </a:p>
        </p:txBody>
      </p:sp>
      <p:sp>
        <p:nvSpPr>
          <p:cNvPr id="63" name="Text 57"/>
          <p:cNvSpPr/>
          <p:nvPr/>
        </p:nvSpPr>
        <p:spPr>
          <a:xfrm>
            <a:off x="7737894" y="3368129"/>
            <a:ext cx="412060" cy="118021"/>
          </a:xfrm>
          <a:prstGeom prst="rect">
            <a:avLst/>
          </a:prstGeom>
          <a:noFill/>
          <a:ln/>
        </p:spPr>
        <p:txBody>
          <a:bodyPr wrap="none" lIns="0" tIns="0" rIns="0" bIns="0" rtlCol="0" anchor="t"/>
          <a:lstStyle/>
          <a:p>
            <a:pPr marL="0" indent="0" algn="ctr">
              <a:lnSpc>
                <a:spcPts val="930"/>
              </a:lnSpc>
              <a:buNone/>
            </a:pPr>
            <a:r>
              <a:rPr lang="en-US" sz="620" kern="0" spc="50" dirty="0">
                <a:solidFill>
                  <a:srgbClr val="94A3B8"/>
                </a:solidFill>
                <a:latin typeface="Calibri" pitchFamily="34" charset="0"/>
                <a:ea typeface="Calibri" pitchFamily="34" charset="-122"/>
                <a:cs typeface="Calibri" pitchFamily="34" charset="-120"/>
              </a:rPr>
              <a:t>P-VALUE</a:t>
            </a:r>
            <a:endParaRPr lang="en-US" sz="620" dirty="0"/>
          </a:p>
        </p:txBody>
      </p:sp>
      <p:pic>
        <p:nvPicPr>
          <p:cNvPr id="64" name="Image 4" descr="preencoded.png"/>
          <p:cNvPicPr>
            <a:picLocks noChangeAspect="1"/>
          </p:cNvPicPr>
          <p:nvPr/>
        </p:nvPicPr>
        <p:blipFill>
          <a:blip r:embed="rId7"/>
          <a:stretch>
            <a:fillRect/>
          </a:stretch>
        </p:blipFill>
        <p:spPr>
          <a:xfrm>
            <a:off x="6286202" y="3936653"/>
            <a:ext cx="514350" cy="514350"/>
          </a:xfrm>
          <a:prstGeom prst="rect">
            <a:avLst/>
          </a:prstGeom>
        </p:spPr>
      </p:pic>
      <p:sp>
        <p:nvSpPr>
          <p:cNvPr id="65" name="Text 58"/>
          <p:cNvSpPr/>
          <p:nvPr/>
        </p:nvSpPr>
        <p:spPr>
          <a:xfrm>
            <a:off x="6357342" y="4007793"/>
            <a:ext cx="372070" cy="409277"/>
          </a:xfrm>
          <a:prstGeom prst="ellipse">
            <a:avLst/>
          </a:prstGeom>
          <a:solidFill>
            <a:srgbClr val="0B2545"/>
          </a:solidFill>
          <a:ln/>
        </p:spPr>
        <p:txBody>
          <a:bodyPr wrap="none" lIns="0" tIns="0" rIns="0" bIns="0" rtlCol="0" anchor="ctr"/>
          <a:lstStyle/>
          <a:p>
            <a:pPr marL="0" indent="0" algn="ctr">
              <a:buNone/>
            </a:pPr>
            <a:r>
              <a:rPr lang="en-US" sz="790" b="1" dirty="0">
                <a:solidFill>
                  <a:srgbClr val="00B4D8"/>
                </a:solidFill>
                <a:latin typeface="Calibri" pitchFamily="34" charset="0"/>
                <a:ea typeface="Calibri" pitchFamily="34" charset="-122"/>
                <a:cs typeface="Calibri" pitchFamily="34" charset="-120"/>
              </a:rPr>
              <a:t>47%</a:t>
            </a:r>
            <a:endParaRPr lang="en-US" sz="790" dirty="0"/>
          </a:p>
        </p:txBody>
      </p:sp>
      <p:sp>
        <p:nvSpPr>
          <p:cNvPr id="66" name="Text 59"/>
          <p:cNvSpPr/>
          <p:nvPr/>
        </p:nvSpPr>
        <p:spPr>
          <a:xfrm>
            <a:off x="6914852" y="4064050"/>
            <a:ext cx="855571" cy="272534"/>
          </a:xfrm>
          <a:prstGeom prst="rect">
            <a:avLst/>
          </a:prstGeom>
          <a:noFill/>
          <a:ln/>
        </p:spPr>
        <p:txBody>
          <a:bodyPr wrap="square" lIns="0" tIns="0" rIns="0" bIns="0" rtlCol="0" anchor="ctr"/>
          <a:lstStyle/>
          <a:p>
            <a:pPr marL="0" indent="0" algn="l">
              <a:lnSpc>
                <a:spcPts val="1022"/>
              </a:lnSpc>
              <a:buNone/>
            </a:pPr>
            <a:r>
              <a:rPr lang="en-US" sz="730" b="1" dirty="0">
                <a:solidFill>
                  <a:srgbClr val="00B4D8"/>
                </a:solidFill>
                <a:latin typeface="Calibri" pitchFamily="34" charset="0"/>
                <a:ea typeface="Calibri" pitchFamily="34" charset="-122"/>
                <a:cs typeface="Calibri" pitchFamily="34" charset="-120"/>
              </a:rPr>
              <a:t>Explained</a:t>
            </a:r>
            <a:r>
              <a:rPr lang="en-US" sz="730" dirty="0">
                <a:solidFill>
                  <a:srgbClr val="94A3B8"/>
                </a:solidFill>
                <a:latin typeface="Calibri" pitchFamily="34" charset="0"/>
                <a:ea typeface="Calibri" pitchFamily="34" charset="-122"/>
                <a:cs typeface="Calibri" pitchFamily="34" charset="-120"/>
              </a:rPr>
              <a:t> by model</a:t>
            </a:r>
            <a:br/>
            <a:r>
              <a:rPr lang="en-US" sz="730" dirty="0">
                <a:solidFill>
                  <a:srgbClr val="94A3B8"/>
                </a:solidFill>
                <a:latin typeface="Calibri" pitchFamily="34" charset="0"/>
                <a:ea typeface="Calibri" pitchFamily="34" charset="-122"/>
                <a:cs typeface="Calibri" pitchFamily="34" charset="-120"/>
              </a:rPr>
              <a:t> </a:t>
            </a:r>
            <a:r>
              <a:rPr lang="en-US" sz="730" b="1" dirty="0">
                <a:solidFill>
                  <a:srgbClr val="FFFFFF">
                    <a:alpha val="25000"/>
                  </a:srgbClr>
                </a:solidFill>
                <a:latin typeface="Calibri" pitchFamily="34" charset="0"/>
                <a:ea typeface="Calibri" pitchFamily="34" charset="-122"/>
                <a:cs typeface="Calibri" pitchFamily="34" charset="-120"/>
              </a:rPr>
              <a:t>53%</a:t>
            </a:r>
            <a:r>
              <a:rPr lang="en-US" sz="730" dirty="0">
                <a:solidFill>
                  <a:srgbClr val="94A3B8"/>
                </a:solidFill>
                <a:latin typeface="Calibri" pitchFamily="34" charset="0"/>
                <a:ea typeface="Calibri" pitchFamily="34" charset="-122"/>
                <a:cs typeface="Calibri" pitchFamily="34" charset="-120"/>
              </a:rPr>
              <a:t> unexplained</a:t>
            </a:r>
            <a:endParaRPr lang="en-US" sz="730" dirty="0"/>
          </a:p>
        </p:txBody>
      </p:sp>
      <p:sp>
        <p:nvSpPr>
          <p:cNvPr id="67" name="Text 60"/>
          <p:cNvSpPr/>
          <p:nvPr/>
        </p:nvSpPr>
        <p:spPr>
          <a:xfrm>
            <a:off x="457200" y="4565303"/>
            <a:ext cx="8394192" cy="292447"/>
          </a:xfrm>
          <a:prstGeom prst="rect">
            <a:avLst/>
          </a:prstGeom>
          <a:solidFill>
            <a:srgbClr val="FFFFFF">
              <a:alpha val="4000"/>
            </a:srgbClr>
          </a:solidFill>
          <a:ln/>
        </p:spPr>
        <p:txBody>
          <a:bodyPr wrap="none" lIns="128270" tIns="71120" rIns="128270" bIns="71120" rtlCol="0" anchor="t"/>
          <a:lstStyle/>
          <a:p>
            <a:pPr marL="0" indent="0" algn="l">
              <a:buNone/>
            </a:pPr>
            <a:r>
              <a:rPr lang="en-US" sz="790" dirty="0">
                <a:solidFill>
                  <a:srgbClr val="94A3B8"/>
                </a:solidFill>
                <a:latin typeface="Calibri" pitchFamily="34" charset="0"/>
                <a:ea typeface="Calibri" pitchFamily="34" charset="-122"/>
                <a:cs typeface="Calibri" pitchFamily="34" charset="-120"/>
              </a:rPr>
              <a:t>For a simple model using only three numeric predictors, this is a strong result — nearly half of all price variation is captured.</a:t>
            </a:r>
            <a:endParaRPr lang="en-US" sz="790" dirty="0"/>
          </a:p>
        </p:txBody>
      </p:sp>
      <p:sp>
        <p:nvSpPr>
          <p:cNvPr id="68" name="Text 61"/>
          <p:cNvSpPr/>
          <p:nvPr/>
        </p:nvSpPr>
        <p:spPr>
          <a:xfrm>
            <a:off x="457200" y="4565303"/>
            <a:ext cx="19050" cy="292447"/>
          </a:xfrm>
          <a:prstGeom prst="rect">
            <a:avLst/>
          </a:prstGeom>
          <a:solidFill>
            <a:srgbClr val="00B4D8"/>
          </a:solidFill>
          <a:ln/>
        </p:spPr>
        <p:txBody>
          <a:bodyPr wrap="square" rtlCol="0" anchor="t"/>
          <a:lstStyle/>
          <a:p>
            <a:pPr marL="0" indent="0">
              <a:buNone/>
            </a:pPr>
            <a:endParaRPr lang="en-US" dirty="0"/>
          </a:p>
        </p:txBody>
      </p:sp>
      <p:sp>
        <p:nvSpPr>
          <p:cNvPr id="69" name="Text 62"/>
          <p:cNvSpPr/>
          <p:nvPr/>
        </p:nvSpPr>
        <p:spPr>
          <a:xfrm>
            <a:off x="8034633" y="1476802"/>
            <a:ext cx="857250" cy="857250"/>
          </a:xfrm>
          <a:prstGeom prst="ellipse">
            <a:avLst/>
          </a:prstGeom>
          <a:solidFill>
            <a:srgbClr val="00B4D8">
              <a:alpha val="10000"/>
            </a:srgbClr>
          </a:solidFill>
          <a:ln/>
        </p:spPr>
        <p:txBody>
          <a:bodyPr wrap="square" rtlCol="0" anchor="t"/>
          <a:lstStyle/>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8001000" y="0"/>
            <a:ext cx="1143000" cy="1143000"/>
          </a:xfrm>
          <a:prstGeom prst="ellipse">
            <a:avLst/>
          </a:prstGeom>
          <a:noFill/>
          <a:ln w="9525">
            <a:solidFill>
              <a:srgbClr val="00B4D8">
                <a:alpha val="10000"/>
              </a:srgbClr>
            </a:solidFill>
          </a:ln>
        </p:spPr>
        <p:txBody>
          <a:bodyPr wrap="square" rtlCol="0" anchor="t"/>
          <a:lstStyle/>
          <a:p>
            <a:pPr marL="0" indent="0">
              <a:buNone/>
            </a:pPr>
            <a:endParaRPr lang="en-US" dirty="0"/>
          </a:p>
        </p:txBody>
      </p:sp>
      <p:sp>
        <p:nvSpPr>
          <p:cNvPr id="3" name="Text 1"/>
          <p:cNvSpPr/>
          <p:nvPr/>
        </p:nvSpPr>
        <p:spPr>
          <a:xfrm>
            <a:off x="0" y="4429720"/>
            <a:ext cx="713780" cy="713780"/>
          </a:xfrm>
          <a:prstGeom prst="ellipse">
            <a:avLst/>
          </a:prstGeom>
          <a:noFill/>
          <a:ln w="9525">
            <a:solidFill>
              <a:srgbClr val="0B2545">
                <a:alpha val="6000"/>
              </a:srgbClr>
            </a:solidFill>
          </a:ln>
        </p:spPr>
        <p:txBody>
          <a:bodyPr wrap="square" rtlCol="0" anchor="t"/>
          <a:lstStyle/>
          <a:p>
            <a:pPr marL="0" indent="0">
              <a:buNone/>
            </a:pPr>
            <a:endParaRPr lang="en-US" dirty="0"/>
          </a:p>
        </p:txBody>
      </p:sp>
      <p:sp>
        <p:nvSpPr>
          <p:cNvPr id="4" name="Text 2"/>
          <p:cNvSpPr/>
          <p:nvPr/>
        </p:nvSpPr>
        <p:spPr>
          <a:xfrm>
            <a:off x="457200" y="342900"/>
            <a:ext cx="9052560"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0090AD"/>
                </a:solidFill>
                <a:latin typeface="Calibri" pitchFamily="34" charset="0"/>
                <a:ea typeface="Calibri" pitchFamily="34" charset="-122"/>
                <a:cs typeface="Calibri" pitchFamily="34" charset="-120"/>
              </a:rPr>
              <a:t>REGRESSION INTERPRETATION</a:t>
            </a:r>
            <a:endParaRPr lang="en-US" sz="620" dirty="0"/>
          </a:p>
        </p:txBody>
      </p:sp>
      <p:sp>
        <p:nvSpPr>
          <p:cNvPr id="5" name="Text 3"/>
          <p:cNvSpPr/>
          <p:nvPr/>
        </p:nvSpPr>
        <p:spPr>
          <a:xfrm>
            <a:off x="457200" y="490091"/>
            <a:ext cx="8805672" cy="312390"/>
          </a:xfrm>
          <a:prstGeom prst="rect">
            <a:avLst/>
          </a:prstGeom>
          <a:noFill/>
          <a:ln/>
        </p:spPr>
        <p:txBody>
          <a:bodyPr wrap="none" lIns="0" tIns="0" rIns="0" bIns="0" rtlCol="0" anchor="t"/>
          <a:lstStyle/>
          <a:p>
            <a:pPr marL="0" indent="0" algn="l">
              <a:lnSpc>
                <a:spcPts val="2461"/>
              </a:lnSpc>
              <a:buNone/>
            </a:pPr>
            <a:r>
              <a:rPr lang="en-US" sz="2140" dirty="0">
                <a:solidFill>
                  <a:srgbClr val="0B2545"/>
                </a:solidFill>
                <a:latin typeface="Constantia" pitchFamily="34" charset="0"/>
                <a:ea typeface="Constantia" pitchFamily="34" charset="-122"/>
                <a:cs typeface="Constantia" pitchFamily="34" charset="-120"/>
              </a:rPr>
              <a:t>Regression Equation </a:t>
            </a:r>
            <a:r>
              <a:rPr lang="en-US" sz="2140" b="1" dirty="0">
                <a:solidFill>
                  <a:srgbClr val="00B4D8"/>
                </a:solidFill>
                <a:latin typeface="Constantia" pitchFamily="34" charset="0"/>
                <a:ea typeface="Constantia" pitchFamily="34" charset="-122"/>
                <a:cs typeface="Constantia" pitchFamily="34" charset="-120"/>
              </a:rPr>
              <a:t>&amp;</a:t>
            </a:r>
            <a:r>
              <a:rPr lang="en-US" sz="2140" dirty="0">
                <a:solidFill>
                  <a:srgbClr val="0B2545"/>
                </a:solidFill>
                <a:latin typeface="Constantia" pitchFamily="34" charset="0"/>
                <a:ea typeface="Constantia" pitchFamily="34" charset="-122"/>
                <a:cs typeface="Constantia" pitchFamily="34" charset="-120"/>
              </a:rPr>
              <a:t> Multicollinearity</a:t>
            </a:r>
            <a:endParaRPr lang="en-US" sz="2140" dirty="0"/>
          </a:p>
        </p:txBody>
      </p:sp>
      <p:sp>
        <p:nvSpPr>
          <p:cNvPr id="6" name="Text 4"/>
          <p:cNvSpPr/>
          <p:nvPr/>
        </p:nvSpPr>
        <p:spPr>
          <a:xfrm>
            <a:off x="457200" y="1003102"/>
            <a:ext cx="8229600" cy="899220"/>
          </a:xfrm>
          <a:prstGeom prst="roundRect">
            <a:avLst>
              <a:gd name="adj" fmla="val 9604"/>
            </a:avLst>
          </a:prstGeom>
          <a:solidFill>
            <a:srgbClr val="0B2545"/>
          </a:solidFill>
          <a:ln/>
        </p:spPr>
        <p:txBody>
          <a:bodyPr wrap="square" rtlCol="0" anchor="t"/>
          <a:lstStyle/>
          <a:p>
            <a:pPr marL="0" indent="0">
              <a:buNone/>
            </a:pPr>
            <a:endParaRPr lang="en-US" dirty="0"/>
          </a:p>
        </p:txBody>
      </p:sp>
      <p:sp>
        <p:nvSpPr>
          <p:cNvPr id="7" name="Text 5"/>
          <p:cNvSpPr/>
          <p:nvPr/>
        </p:nvSpPr>
        <p:spPr>
          <a:xfrm>
            <a:off x="714970" y="1295251"/>
            <a:ext cx="314920" cy="314920"/>
          </a:xfrm>
          <a:prstGeom prst="roundRect">
            <a:avLst>
              <a:gd name="adj" fmla="val 22584"/>
            </a:avLst>
          </a:prstGeom>
          <a:solidFill>
            <a:srgbClr val="00B4D8">
              <a:alpha val="15000"/>
            </a:srgbClr>
          </a:solidFill>
          <a:ln/>
        </p:spPr>
        <p:txBody>
          <a:bodyPr wrap="squar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6062" y="1386343"/>
            <a:ext cx="132588" cy="132588"/>
          </a:xfrm>
          <a:prstGeom prst="rect">
            <a:avLst/>
          </a:prstGeom>
        </p:spPr>
      </p:pic>
      <p:sp>
        <p:nvSpPr>
          <p:cNvPr id="9" name="Text 6"/>
          <p:cNvSpPr/>
          <p:nvPr/>
        </p:nvSpPr>
        <p:spPr>
          <a:xfrm>
            <a:off x="1144191" y="1174552"/>
            <a:ext cx="7430536" cy="584136"/>
          </a:xfrm>
          <a:prstGeom prst="rect">
            <a:avLst/>
          </a:prstGeom>
          <a:noFill/>
          <a:ln/>
        </p:spPr>
        <p:txBody>
          <a:bodyPr wrap="square" lIns="0" tIns="0" rIns="0" bIns="0" rtlCol="0" anchor="ctr"/>
          <a:lstStyle/>
          <a:p>
            <a:pPr marL="0" indent="0" algn="l">
              <a:lnSpc>
                <a:spcPts val="2190"/>
              </a:lnSpc>
              <a:buNone/>
            </a:pPr>
            <a:r>
              <a:rPr lang="en-US" sz="1460" kern="0" spc="30" dirty="0">
                <a:solidFill>
                  <a:srgbClr val="F8FAFC"/>
                </a:solidFill>
                <a:latin typeface="Consolas" pitchFamily="34" charset="0"/>
                <a:ea typeface="Consolas" pitchFamily="34" charset="-122"/>
                <a:cs typeface="Consolas" pitchFamily="34" charset="-120"/>
              </a:rPr>
              <a:t> </a:t>
            </a:r>
            <a:br/>
            <a:r>
              <a:rPr lang="en-US" sz="1460" kern="0" spc="30" dirty="0">
                <a:solidFill>
                  <a:srgbClr val="F8FAFC"/>
                </a:solidFill>
                <a:latin typeface="Consolas" pitchFamily="34" charset="0"/>
                <a:ea typeface="Consolas" pitchFamily="34" charset="-122"/>
                <a:cs typeface="Consolas" pitchFamily="34" charset="-120"/>
              </a:rPr>
              <a:t>          price = </a:t>
            </a:r>
            <a:r>
              <a:rPr lang="en-US" sz="1460" kern="0" spc="30" dirty="0">
                <a:solidFill>
                  <a:srgbClr val="F87171"/>
                </a:solidFill>
                <a:latin typeface="Consolas" pitchFamily="34" charset="0"/>
                <a:ea typeface="Consolas" pitchFamily="34" charset="-122"/>
                <a:cs typeface="Consolas" pitchFamily="34" charset="-120"/>
              </a:rPr>
              <a:t>−255.52</a:t>
            </a:r>
            <a:r>
              <a:rPr lang="en-US" sz="1460" kern="0" spc="30" dirty="0">
                <a:solidFill>
                  <a:srgbClr val="F8FAFC"/>
                </a:solidFill>
                <a:latin typeface="Consolas" pitchFamily="34" charset="0"/>
                <a:ea typeface="Consolas" pitchFamily="34" charset="-122"/>
                <a:cs typeface="Consolas" pitchFamily="34" charset="-120"/>
              </a:rPr>
              <a:t> + </a:t>
            </a:r>
            <a:r>
              <a:rPr lang="en-US" sz="1460" kern="0" spc="30" dirty="0">
                <a:solidFill>
                  <a:srgbClr val="34D399"/>
                </a:solidFill>
                <a:latin typeface="Consolas" pitchFamily="34" charset="0"/>
                <a:ea typeface="Consolas" pitchFamily="34" charset="-122"/>
                <a:cs typeface="Consolas" pitchFamily="34" charset="-120"/>
              </a:rPr>
              <a:t>38.09</a:t>
            </a:r>
            <a:r>
              <a:rPr lang="en-US" sz="1460" kern="0" spc="30" dirty="0">
                <a:solidFill>
                  <a:srgbClr val="F8FAFC"/>
                </a:solidFill>
                <a:latin typeface="Consolas" pitchFamily="34" charset="0"/>
                <a:ea typeface="Consolas" pitchFamily="34" charset="-122"/>
                <a:cs typeface="Consolas" pitchFamily="34" charset="-120"/>
              </a:rPr>
              <a:t>(</a:t>
            </a:r>
            <a:r>
              <a:rPr lang="en-US" sz="1460" kern="0" spc="30" dirty="0">
                <a:solidFill>
                  <a:srgbClr val="00B4D8"/>
                </a:solidFill>
                <a:latin typeface="Consolas" pitchFamily="34" charset="0"/>
                <a:ea typeface="Consolas" pitchFamily="34" charset="-122"/>
                <a:cs typeface="Consolas" pitchFamily="34" charset="-120"/>
              </a:rPr>
              <a:t>guests</a:t>
            </a:r>
            <a:r>
              <a:rPr lang="en-US" sz="1460" kern="0" spc="30" dirty="0">
                <a:solidFill>
                  <a:srgbClr val="F8FAFC"/>
                </a:solidFill>
                <a:latin typeface="Consolas" pitchFamily="34" charset="0"/>
                <a:ea typeface="Consolas" pitchFamily="34" charset="-122"/>
                <a:cs typeface="Consolas" pitchFamily="34" charset="-120"/>
              </a:rPr>
              <a:t>) </a:t>
            </a:r>
            <a:r>
              <a:rPr lang="en-US" sz="1460" kern="0" spc="30" dirty="0">
                <a:solidFill>
                  <a:srgbClr val="F87171"/>
                </a:solidFill>
                <a:latin typeface="Consolas" pitchFamily="34" charset="0"/>
                <a:ea typeface="Consolas" pitchFamily="34" charset="-122"/>
                <a:cs typeface="Consolas" pitchFamily="34" charset="-120"/>
              </a:rPr>
              <a:t>− 56.93</a:t>
            </a:r>
            <a:r>
              <a:rPr lang="en-US" sz="1460" kern="0" spc="30" dirty="0">
                <a:solidFill>
                  <a:srgbClr val="F8FAFC"/>
                </a:solidFill>
                <a:latin typeface="Consolas" pitchFamily="34" charset="0"/>
                <a:ea typeface="Consolas" pitchFamily="34" charset="-122"/>
                <a:cs typeface="Consolas" pitchFamily="34" charset="-120"/>
              </a:rPr>
              <a:t>(</a:t>
            </a:r>
            <a:r>
              <a:rPr lang="en-US" sz="1460" kern="0" spc="30" dirty="0">
                <a:solidFill>
                  <a:srgbClr val="00B4D8"/>
                </a:solidFill>
                <a:latin typeface="Consolas" pitchFamily="34" charset="0"/>
                <a:ea typeface="Consolas" pitchFamily="34" charset="-122"/>
                <a:cs typeface="Consolas" pitchFamily="34" charset="-120"/>
              </a:rPr>
              <a:t>bedrooms</a:t>
            </a:r>
            <a:r>
              <a:rPr lang="en-US" sz="1460" kern="0" spc="30" dirty="0">
                <a:solidFill>
                  <a:srgbClr val="F8FAFC"/>
                </a:solidFill>
                <a:latin typeface="Consolas" pitchFamily="34" charset="0"/>
                <a:ea typeface="Consolas" pitchFamily="34" charset="-122"/>
                <a:cs typeface="Consolas" pitchFamily="34" charset="-120"/>
              </a:rPr>
              <a:t>) + </a:t>
            </a:r>
            <a:r>
              <a:rPr lang="en-US" sz="1460" kern="0" spc="30" dirty="0">
                <a:solidFill>
                  <a:srgbClr val="34D399"/>
                </a:solidFill>
                <a:latin typeface="Consolas" pitchFamily="34" charset="0"/>
                <a:ea typeface="Consolas" pitchFamily="34" charset="-122"/>
                <a:cs typeface="Consolas" pitchFamily="34" charset="-120"/>
              </a:rPr>
              <a:t>171.72</a:t>
            </a:r>
            <a:r>
              <a:rPr lang="en-US" sz="1460" kern="0" spc="30" dirty="0">
                <a:solidFill>
                  <a:srgbClr val="F8FAFC"/>
                </a:solidFill>
                <a:latin typeface="Consolas" pitchFamily="34" charset="0"/>
                <a:ea typeface="Consolas" pitchFamily="34" charset="-122"/>
                <a:cs typeface="Consolas" pitchFamily="34" charset="-120"/>
              </a:rPr>
              <a:t>(</a:t>
            </a:r>
            <a:r>
              <a:rPr lang="en-US" sz="1460" kern="0" spc="30" dirty="0">
                <a:solidFill>
                  <a:srgbClr val="00B4D8"/>
                </a:solidFill>
                <a:latin typeface="Consolas" pitchFamily="34" charset="0"/>
                <a:ea typeface="Consolas" pitchFamily="34" charset="-122"/>
                <a:cs typeface="Consolas" pitchFamily="34" charset="-120"/>
              </a:rPr>
              <a:t>baths</a:t>
            </a:r>
            <a:r>
              <a:rPr lang="en-US" sz="1460" kern="0" spc="30" dirty="0">
                <a:solidFill>
                  <a:srgbClr val="F8FAFC"/>
                </a:solidFill>
                <a:latin typeface="Consolas" pitchFamily="34" charset="0"/>
                <a:ea typeface="Consolas" pitchFamily="34" charset="-122"/>
                <a:cs typeface="Consolas" pitchFamily="34" charset="-120"/>
              </a:rPr>
              <a:t>)</a:t>
            </a:r>
            <a:br/>
            <a:r>
              <a:rPr lang="en-US" sz="1460" kern="0" spc="30" dirty="0">
                <a:solidFill>
                  <a:srgbClr val="F8FAFC"/>
                </a:solidFill>
                <a:latin typeface="Consolas" pitchFamily="34" charset="0"/>
                <a:ea typeface="Consolas" pitchFamily="34" charset="-122"/>
                <a:cs typeface="Consolas" pitchFamily="34" charset="-120"/>
              </a:rPr>
              <a:t>        </a:t>
            </a:r>
            <a:endParaRPr lang="en-US" sz="1460" dirty="0"/>
          </a:p>
        </p:txBody>
      </p:sp>
      <p:sp>
        <p:nvSpPr>
          <p:cNvPr id="10" name="Text 7"/>
          <p:cNvSpPr/>
          <p:nvPr/>
        </p:nvSpPr>
        <p:spPr>
          <a:xfrm>
            <a:off x="656779" y="2102941"/>
            <a:ext cx="2237929" cy="236190"/>
          </a:xfrm>
          <a:prstGeom prst="rect">
            <a:avLst/>
          </a:prstGeom>
          <a:noFill/>
          <a:ln/>
        </p:spPr>
        <p:txBody>
          <a:bodyPr wrap="none" lIns="0" tIns="0" rIns="0" bIns="0" rtlCol="0" anchor="t"/>
          <a:lstStyle/>
          <a:p>
            <a:pPr marL="0" indent="0" algn="l">
              <a:lnSpc>
                <a:spcPts val="1860"/>
              </a:lnSpc>
              <a:spcAft>
                <a:spcPts val="1010"/>
              </a:spcAft>
              <a:buNone/>
            </a:pPr>
            <a:r>
              <a:rPr lang="en-US" sz="1240" dirty="0">
                <a:solidFill>
                  <a:srgbClr val="0B2545"/>
                </a:solidFill>
                <a:latin typeface="Constantia" pitchFamily="34" charset="0"/>
                <a:ea typeface="Constantia" pitchFamily="34" charset="-122"/>
                <a:cs typeface="Constantia" pitchFamily="34" charset="-120"/>
              </a:rPr>
              <a:t>Why is </a:t>
            </a:r>
            <a:r>
              <a:rPr lang="en-US" sz="1240" b="1" dirty="0">
                <a:solidFill>
                  <a:srgbClr val="D97706"/>
                </a:solidFill>
                <a:latin typeface="Consolas" pitchFamily="34" charset="0"/>
                <a:ea typeface="Consolas" pitchFamily="34" charset="-122"/>
                <a:cs typeface="Consolas" pitchFamily="34" charset="-120"/>
              </a:rPr>
              <a:t>bedrooms</a:t>
            </a:r>
            <a:r>
              <a:rPr lang="en-US" sz="1240" dirty="0">
                <a:solidFill>
                  <a:srgbClr val="0B2545"/>
                </a:solidFill>
                <a:latin typeface="Constantia" pitchFamily="34" charset="0"/>
                <a:ea typeface="Constantia" pitchFamily="34" charset="-122"/>
                <a:cs typeface="Constantia" pitchFamily="34" charset="-120"/>
              </a:rPr>
              <a:t> negative?</a:t>
            </a:r>
            <a:endParaRPr lang="en-US" sz="124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5200" y="2154668"/>
            <a:ext cx="132588" cy="132588"/>
          </a:xfrm>
          <a:prstGeom prst="rect">
            <a:avLst/>
          </a:prstGeom>
        </p:spPr>
      </p:pic>
      <p:sp>
        <p:nvSpPr>
          <p:cNvPr id="12" name="Text 8"/>
          <p:cNvSpPr/>
          <p:nvPr/>
        </p:nvSpPr>
        <p:spPr>
          <a:xfrm>
            <a:off x="457200" y="2481114"/>
            <a:ext cx="228600" cy="228600"/>
          </a:xfrm>
          <a:prstGeom prst="roundRect">
            <a:avLst>
              <a:gd name="adj" fmla="val 25000"/>
            </a:avLst>
          </a:prstGeom>
          <a:solidFill>
            <a:srgbClr val="00B4D8">
              <a:alpha val="10000"/>
            </a:srgbClr>
          </a:solidFill>
          <a:ln/>
        </p:spPr>
        <p:txBody>
          <a:bodyPr wrap="none" rtlCol="0" anchor="t"/>
          <a:lstStyle/>
          <a:p>
            <a:pPr marL="0" indent="0">
              <a:buNone/>
            </a:pPr>
            <a:endParaRPr lang="en-US"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5206" y="2529120"/>
            <a:ext cx="132588" cy="132588"/>
          </a:xfrm>
          <a:prstGeom prst="rect">
            <a:avLst/>
          </a:prstGeom>
        </p:spPr>
      </p:pic>
      <p:sp>
        <p:nvSpPr>
          <p:cNvPr id="14" name="Text 9"/>
          <p:cNvSpPr/>
          <p:nvPr/>
        </p:nvSpPr>
        <p:spPr>
          <a:xfrm>
            <a:off x="786110" y="2467273"/>
            <a:ext cx="4426580" cy="182761"/>
          </a:xfrm>
          <a:prstGeom prst="rect">
            <a:avLst/>
          </a:prstGeom>
          <a:noFill/>
          <a:ln/>
        </p:spPr>
        <p:txBody>
          <a:bodyPr wrap="none" lIns="0" tIns="0" rIns="0" bIns="0" rtlCol="0" anchor="ctr"/>
          <a:lstStyle/>
          <a:p>
            <a:pPr marL="0" indent="0" algn="l">
              <a:lnSpc>
                <a:spcPts val="1440"/>
              </a:lnSpc>
              <a:buNone/>
            </a:pPr>
            <a:r>
              <a:rPr lang="en-US" sz="960" dirty="0">
                <a:solidFill>
                  <a:srgbClr val="0B2545"/>
                </a:solidFill>
                <a:latin typeface="Calibri" pitchFamily="34" charset="0"/>
                <a:ea typeface="Calibri" pitchFamily="34" charset="-122"/>
                <a:cs typeface="Calibri" pitchFamily="34" charset="-120"/>
              </a:rPr>
              <a:t>Guests and bedrooms both measure property size — </a:t>
            </a:r>
            <a:r>
              <a:rPr lang="en-US" sz="960" b="1" dirty="0">
                <a:solidFill>
                  <a:srgbClr val="0B2545"/>
                </a:solidFill>
                <a:latin typeface="Calibri" pitchFamily="34" charset="0"/>
                <a:ea typeface="Calibri" pitchFamily="34" charset="-122"/>
                <a:cs typeface="Calibri" pitchFamily="34" charset="-120"/>
              </a:rPr>
              <a:t>they move together</a:t>
            </a:r>
            <a:endParaRPr lang="en-US" sz="960" dirty="0"/>
          </a:p>
        </p:txBody>
      </p:sp>
      <p:sp>
        <p:nvSpPr>
          <p:cNvPr id="15" name="Text 10"/>
          <p:cNvSpPr/>
          <p:nvPr/>
        </p:nvSpPr>
        <p:spPr>
          <a:xfrm>
            <a:off x="457200" y="2823865"/>
            <a:ext cx="228600" cy="228600"/>
          </a:xfrm>
          <a:prstGeom prst="roundRect">
            <a:avLst>
              <a:gd name="adj" fmla="val 25000"/>
            </a:avLst>
          </a:prstGeom>
          <a:solidFill>
            <a:srgbClr val="00B4D8">
              <a:alpha val="10000"/>
            </a:srgbClr>
          </a:solidFill>
          <a:ln/>
        </p:spPr>
        <p:txBody>
          <a:bodyPr wrap="none" rtlCol="0" anchor="t"/>
          <a:lstStyle/>
          <a:p>
            <a:pPr marL="0" indent="0">
              <a:buNone/>
            </a:pPr>
            <a:endParaRPr lang="en-US"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5206" y="2871871"/>
            <a:ext cx="132588" cy="132588"/>
          </a:xfrm>
          <a:prstGeom prst="rect">
            <a:avLst/>
          </a:prstGeom>
        </p:spPr>
      </p:pic>
      <p:sp>
        <p:nvSpPr>
          <p:cNvPr id="17" name="Text 11"/>
          <p:cNvSpPr/>
          <p:nvPr/>
        </p:nvSpPr>
        <p:spPr>
          <a:xfrm>
            <a:off x="786110" y="2810024"/>
            <a:ext cx="5395258" cy="182761"/>
          </a:xfrm>
          <a:prstGeom prst="rect">
            <a:avLst/>
          </a:prstGeom>
          <a:noFill/>
          <a:ln/>
        </p:spPr>
        <p:txBody>
          <a:bodyPr wrap="none" lIns="0" tIns="0" rIns="0" bIns="0" rtlCol="0" anchor="ctr"/>
          <a:lstStyle/>
          <a:p>
            <a:pPr marL="0" indent="0" algn="l">
              <a:lnSpc>
                <a:spcPts val="1440"/>
              </a:lnSpc>
              <a:buNone/>
            </a:pPr>
            <a:r>
              <a:rPr lang="en-US" sz="960" dirty="0">
                <a:solidFill>
                  <a:srgbClr val="0B2545"/>
                </a:solidFill>
                <a:latin typeface="Calibri" pitchFamily="34" charset="0"/>
                <a:ea typeface="Calibri" pitchFamily="34" charset="-122"/>
                <a:cs typeface="Calibri" pitchFamily="34" charset="-120"/>
              </a:rPr>
              <a:t>High inter-predictor correlation means the model </a:t>
            </a:r>
            <a:r>
              <a:rPr lang="en-US" sz="960" b="1" dirty="0">
                <a:solidFill>
                  <a:srgbClr val="0B2545"/>
                </a:solidFill>
                <a:latin typeface="Calibri" pitchFamily="34" charset="0"/>
                <a:ea typeface="Calibri" pitchFamily="34" charset="-122"/>
                <a:cs typeface="Calibri" pitchFamily="34" charset="-120"/>
              </a:rPr>
              <a:t>struggles to separate individual effects</a:t>
            </a:r>
            <a:endParaRPr lang="en-US" sz="960" dirty="0"/>
          </a:p>
        </p:txBody>
      </p:sp>
      <p:sp>
        <p:nvSpPr>
          <p:cNvPr id="18" name="Text 12"/>
          <p:cNvSpPr/>
          <p:nvPr/>
        </p:nvSpPr>
        <p:spPr>
          <a:xfrm>
            <a:off x="457200" y="3166616"/>
            <a:ext cx="228600" cy="228600"/>
          </a:xfrm>
          <a:prstGeom prst="roundRect">
            <a:avLst>
              <a:gd name="adj" fmla="val 25000"/>
            </a:avLst>
          </a:prstGeom>
          <a:solidFill>
            <a:srgbClr val="D97706">
              <a:alpha val="10000"/>
            </a:srgbClr>
          </a:solidFill>
          <a:ln/>
        </p:spPr>
        <p:txBody>
          <a:bodyPr wrap="none" rtlCol="0" anchor="t"/>
          <a:lstStyle/>
          <a:p>
            <a:pPr marL="0" indent="0">
              <a:buNone/>
            </a:pPr>
            <a:endParaRPr lang="en-US" dirty="0"/>
          </a:p>
        </p:txBody>
      </p:sp>
      <p:pic>
        <p:nvPicPr>
          <p:cNvPr id="1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5206" y="3214622"/>
            <a:ext cx="132588" cy="132588"/>
          </a:xfrm>
          <a:prstGeom prst="rect">
            <a:avLst/>
          </a:prstGeom>
        </p:spPr>
      </p:pic>
      <p:sp>
        <p:nvSpPr>
          <p:cNvPr id="20" name="Text 13"/>
          <p:cNvSpPr/>
          <p:nvPr/>
        </p:nvSpPr>
        <p:spPr>
          <a:xfrm>
            <a:off x="786110" y="3152775"/>
            <a:ext cx="2317492" cy="182761"/>
          </a:xfrm>
          <a:prstGeom prst="rect">
            <a:avLst/>
          </a:prstGeom>
          <a:noFill/>
          <a:ln/>
        </p:spPr>
        <p:txBody>
          <a:bodyPr wrap="none" lIns="0" tIns="0" rIns="0" bIns="0" rtlCol="0" anchor="ctr"/>
          <a:lstStyle/>
          <a:p>
            <a:pPr marL="0" indent="0" algn="l">
              <a:lnSpc>
                <a:spcPts val="1440"/>
              </a:lnSpc>
              <a:buNone/>
            </a:pPr>
            <a:r>
              <a:rPr lang="en-US" sz="960" dirty="0">
                <a:solidFill>
                  <a:srgbClr val="0B2545"/>
                </a:solidFill>
                <a:latin typeface="Calibri" pitchFamily="34" charset="0"/>
                <a:ea typeface="Calibri" pitchFamily="34" charset="-122"/>
                <a:cs typeface="Calibri" pitchFamily="34" charset="-120"/>
              </a:rPr>
              <a:t>This overlap is called </a:t>
            </a:r>
            <a:r>
              <a:rPr lang="en-US" sz="960" b="1" dirty="0">
                <a:solidFill>
                  <a:srgbClr val="D97706"/>
                </a:solidFill>
                <a:latin typeface="Calibri" pitchFamily="34" charset="0"/>
                <a:ea typeface="Calibri" pitchFamily="34" charset="-122"/>
                <a:cs typeface="Calibri" pitchFamily="34" charset="-120"/>
              </a:rPr>
              <a:t>multicollinearity</a:t>
            </a:r>
            <a:endParaRPr lang="en-US" sz="960" dirty="0"/>
          </a:p>
        </p:txBody>
      </p:sp>
      <p:sp>
        <p:nvSpPr>
          <p:cNvPr id="21" name="Text 14"/>
          <p:cNvSpPr/>
          <p:nvPr/>
        </p:nvSpPr>
        <p:spPr>
          <a:xfrm>
            <a:off x="457200" y="3509367"/>
            <a:ext cx="228600" cy="228600"/>
          </a:xfrm>
          <a:prstGeom prst="roundRect">
            <a:avLst>
              <a:gd name="adj" fmla="val 25000"/>
            </a:avLst>
          </a:prstGeom>
          <a:solidFill>
            <a:srgbClr val="00B4D8">
              <a:alpha val="10000"/>
            </a:srgbClr>
          </a:solidFill>
          <a:ln/>
        </p:spPr>
        <p:txBody>
          <a:bodyPr wrap="none" rtlCol="0" anchor="t"/>
          <a:lstStyle/>
          <a:p>
            <a:pPr marL="0" indent="0">
              <a:buNone/>
            </a:pPr>
            <a:endParaRPr lang="en-US" dirty="0"/>
          </a:p>
        </p:txBody>
      </p:sp>
      <p:pic>
        <p:nvPicPr>
          <p:cNvPr id="2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5206" y="3557373"/>
            <a:ext cx="132588" cy="132588"/>
          </a:xfrm>
          <a:prstGeom prst="rect">
            <a:avLst/>
          </a:prstGeom>
        </p:spPr>
      </p:pic>
      <p:sp>
        <p:nvSpPr>
          <p:cNvPr id="23" name="Text 15"/>
          <p:cNvSpPr/>
          <p:nvPr/>
        </p:nvSpPr>
        <p:spPr>
          <a:xfrm>
            <a:off x="786110" y="3495526"/>
            <a:ext cx="4161368" cy="182761"/>
          </a:xfrm>
          <a:prstGeom prst="rect">
            <a:avLst/>
          </a:prstGeom>
          <a:noFill/>
          <a:ln/>
        </p:spPr>
        <p:txBody>
          <a:bodyPr wrap="none" lIns="0" tIns="0" rIns="0" bIns="0" rtlCol="0" anchor="ctr"/>
          <a:lstStyle/>
          <a:p>
            <a:pPr marL="0" indent="0" algn="l">
              <a:lnSpc>
                <a:spcPts val="1440"/>
              </a:lnSpc>
              <a:buNone/>
            </a:pPr>
            <a:r>
              <a:rPr lang="en-US" sz="960" dirty="0">
                <a:solidFill>
                  <a:srgbClr val="0B2545"/>
                </a:solidFill>
                <a:latin typeface="Calibri" pitchFamily="34" charset="0"/>
                <a:ea typeface="Calibri" pitchFamily="34" charset="-122"/>
                <a:cs typeface="Calibri" pitchFamily="34" charset="-120"/>
              </a:rPr>
              <a:t>The negative coefficient is a </a:t>
            </a:r>
            <a:r>
              <a:rPr lang="en-US" sz="960" b="1" dirty="0">
                <a:solidFill>
                  <a:srgbClr val="0B2545"/>
                </a:solidFill>
                <a:latin typeface="Calibri" pitchFamily="34" charset="0"/>
                <a:ea typeface="Calibri" pitchFamily="34" charset="-122"/>
                <a:cs typeface="Calibri" pitchFamily="34" charset="-120"/>
              </a:rPr>
              <a:t>statistical artifact</a:t>
            </a:r>
            <a:r>
              <a:rPr lang="en-US" sz="960" dirty="0">
                <a:solidFill>
                  <a:srgbClr val="0B2545"/>
                </a:solidFill>
                <a:latin typeface="Calibri" pitchFamily="34" charset="0"/>
                <a:ea typeface="Calibri" pitchFamily="34" charset="-122"/>
                <a:cs typeface="Calibri" pitchFamily="34" charset="-120"/>
              </a:rPr>
              <a:t>, not a real-world effect</a:t>
            </a:r>
            <a:endParaRPr lang="en-US" sz="960" dirty="0"/>
          </a:p>
        </p:txBody>
      </p:sp>
      <p:sp>
        <p:nvSpPr>
          <p:cNvPr id="24" name="Text 16"/>
          <p:cNvSpPr/>
          <p:nvPr/>
        </p:nvSpPr>
        <p:spPr>
          <a:xfrm>
            <a:off x="6329065" y="2353866"/>
            <a:ext cx="1143000" cy="1177290"/>
          </a:xfrm>
          <a:prstGeom prst="ellipse">
            <a:avLst/>
          </a:prstGeom>
          <a:solidFill>
            <a:srgbClr val="00B4D8">
              <a:alpha val="6000"/>
            </a:srgbClr>
          </a:solidFill>
          <a:ln w="19050">
            <a:solidFill>
              <a:srgbClr val="00B4D8"/>
            </a:solidFill>
          </a:ln>
        </p:spPr>
        <p:txBody>
          <a:bodyPr wrap="square" lIns="157480" tIns="0" rIns="0" bIns="0" rtlCol="0" anchor="ctr"/>
          <a:lstStyle/>
          <a:p>
            <a:pPr marL="0" indent="0" algn="l">
              <a:buNone/>
            </a:pPr>
            <a:r>
              <a:rPr lang="en-US" sz="730" b="1" dirty="0">
                <a:solidFill>
                  <a:srgbClr val="0090AD"/>
                </a:solidFill>
                <a:latin typeface="Calibri" pitchFamily="34" charset="0"/>
                <a:ea typeface="Calibri" pitchFamily="34" charset="-122"/>
                <a:cs typeface="Calibri" pitchFamily="34" charset="-120"/>
              </a:rPr>
              <a:t>guests</a:t>
            </a:r>
            <a:endParaRPr lang="en-US" sz="730" dirty="0"/>
          </a:p>
        </p:txBody>
      </p:sp>
      <p:sp>
        <p:nvSpPr>
          <p:cNvPr id="25" name="Text 17"/>
          <p:cNvSpPr/>
          <p:nvPr/>
        </p:nvSpPr>
        <p:spPr>
          <a:xfrm>
            <a:off x="7186315" y="2353866"/>
            <a:ext cx="1143000" cy="1177290"/>
          </a:xfrm>
          <a:prstGeom prst="ellipse">
            <a:avLst/>
          </a:prstGeom>
          <a:solidFill>
            <a:srgbClr val="D97706">
              <a:alpha val="6000"/>
            </a:srgbClr>
          </a:solidFill>
          <a:ln w="19050">
            <a:solidFill>
              <a:srgbClr val="D97706"/>
            </a:solidFill>
          </a:ln>
        </p:spPr>
        <p:txBody>
          <a:bodyPr wrap="square" lIns="0" tIns="0" rIns="114300" bIns="0" rtlCol="0" anchor="ctr"/>
          <a:lstStyle/>
          <a:p>
            <a:pPr marL="0" indent="0" algn="r">
              <a:buNone/>
            </a:pPr>
            <a:r>
              <a:rPr lang="en-US" sz="730" b="1" dirty="0">
                <a:solidFill>
                  <a:srgbClr val="92400E"/>
                </a:solidFill>
                <a:latin typeface="Calibri" pitchFamily="34" charset="0"/>
                <a:ea typeface="Calibri" pitchFamily="34" charset="-122"/>
                <a:cs typeface="Calibri" pitchFamily="34" charset="-120"/>
              </a:rPr>
              <a:t>bedrooms</a:t>
            </a:r>
            <a:endParaRPr lang="en-US" sz="730" dirty="0"/>
          </a:p>
        </p:txBody>
      </p:sp>
      <p:sp>
        <p:nvSpPr>
          <p:cNvPr id="26" name="Text 18"/>
          <p:cNvSpPr/>
          <p:nvPr/>
        </p:nvSpPr>
        <p:spPr>
          <a:xfrm>
            <a:off x="7016112" y="2758529"/>
            <a:ext cx="626156" cy="200620"/>
          </a:xfrm>
          <a:prstGeom prst="rect">
            <a:avLst/>
          </a:prstGeom>
          <a:noFill/>
          <a:ln/>
        </p:spPr>
        <p:txBody>
          <a:bodyPr wrap="none" lIns="0" tIns="0" rIns="0" bIns="0" rtlCol="0" anchor="t"/>
          <a:lstStyle/>
          <a:p>
            <a:pPr marL="0" indent="0" algn="ctr">
              <a:lnSpc>
                <a:spcPts val="1580"/>
              </a:lnSpc>
              <a:buNone/>
            </a:pPr>
            <a:r>
              <a:rPr lang="en-US" sz="1580" b="1" dirty="0">
                <a:solidFill>
                  <a:srgbClr val="0B2545"/>
                </a:solidFill>
                <a:latin typeface="Calibri" pitchFamily="34" charset="0"/>
                <a:ea typeface="Calibri" pitchFamily="34" charset="-122"/>
                <a:cs typeface="Calibri" pitchFamily="34" charset="-120"/>
              </a:rPr>
              <a:t>r = .93</a:t>
            </a:r>
            <a:endParaRPr lang="en-US" sz="1580" dirty="0"/>
          </a:p>
        </p:txBody>
      </p:sp>
      <p:sp>
        <p:nvSpPr>
          <p:cNvPr id="27" name="Text 19"/>
          <p:cNvSpPr/>
          <p:nvPr/>
        </p:nvSpPr>
        <p:spPr>
          <a:xfrm>
            <a:off x="7007334" y="2972991"/>
            <a:ext cx="643711" cy="118021"/>
          </a:xfrm>
          <a:prstGeom prst="rect">
            <a:avLst/>
          </a:prstGeom>
          <a:noFill/>
          <a:ln/>
        </p:spPr>
        <p:txBody>
          <a:bodyPr wrap="none" lIns="0" tIns="0" rIns="0" bIns="0" rtlCol="0" anchor="t"/>
          <a:lstStyle/>
          <a:p>
            <a:pPr marL="0" indent="0" algn="ctr">
              <a:lnSpc>
                <a:spcPts val="930"/>
              </a:lnSpc>
              <a:buNone/>
            </a:pPr>
            <a:r>
              <a:rPr lang="en-US" sz="620" kern="0" spc="80" dirty="0">
                <a:solidFill>
                  <a:srgbClr val="4A5568"/>
                </a:solidFill>
                <a:latin typeface="Calibri" pitchFamily="34" charset="0"/>
                <a:ea typeface="Calibri" pitchFamily="34" charset="-122"/>
                <a:cs typeface="Calibri" pitchFamily="34" charset="-120"/>
              </a:rPr>
              <a:t>OVERLAP</a:t>
            </a:r>
            <a:endParaRPr lang="en-US" sz="620" dirty="0"/>
          </a:p>
        </p:txBody>
      </p:sp>
      <p:sp>
        <p:nvSpPr>
          <p:cNvPr id="28" name="Text 20"/>
          <p:cNvSpPr/>
          <p:nvPr/>
        </p:nvSpPr>
        <p:spPr>
          <a:xfrm>
            <a:off x="6381625" y="3725466"/>
            <a:ext cx="1895130" cy="423334"/>
          </a:xfrm>
          <a:prstGeom prst="rect">
            <a:avLst/>
          </a:prstGeom>
          <a:noFill/>
          <a:ln/>
        </p:spPr>
        <p:txBody>
          <a:bodyPr wrap="square" lIns="0" tIns="0" rIns="0" bIns="0" rtlCol="0" anchor="t"/>
          <a:lstStyle/>
          <a:p>
            <a:pPr marL="0" indent="0" algn="ctr">
              <a:lnSpc>
                <a:spcPts val="1058"/>
              </a:lnSpc>
              <a:buNone/>
            </a:pPr>
            <a:r>
              <a:rPr lang="en-US" sz="730" dirty="0">
                <a:solidFill>
                  <a:srgbClr val="4A5568"/>
                </a:solidFill>
                <a:latin typeface="Calibri" pitchFamily="34" charset="0"/>
                <a:ea typeface="Calibri" pitchFamily="34" charset="-122"/>
                <a:cs typeface="Calibri" pitchFamily="34" charset="-120"/>
              </a:rPr>
              <a:t>When predictors share 93% correlation, the model can't cleanly attribute effects to either one alone.</a:t>
            </a:r>
            <a:endParaRPr lang="en-US" sz="730" dirty="0"/>
          </a:p>
        </p:txBody>
      </p:sp>
      <p:sp>
        <p:nvSpPr>
          <p:cNvPr id="29" name="Text 21"/>
          <p:cNvSpPr/>
          <p:nvPr/>
        </p:nvSpPr>
        <p:spPr>
          <a:xfrm>
            <a:off x="457200" y="4379565"/>
            <a:ext cx="8229600" cy="421035"/>
          </a:xfrm>
          <a:prstGeom prst="rect">
            <a:avLst/>
          </a:prstGeom>
          <a:gradFill rotWithShape="1">
            <a:gsLst>
              <a:gs pos="0">
                <a:srgbClr val="00B4D8">
                  <a:alpha val="12000"/>
                </a:srgbClr>
              </a:gs>
              <a:gs pos="100000">
                <a:srgbClr val="00B4D8">
                  <a:alpha val="6000"/>
                </a:srgbClr>
              </a:gs>
            </a:gsLst>
            <a:lin ang="2700000" scaled="1"/>
          </a:gradFill>
          <a:ln/>
        </p:spPr>
        <p:txBody>
          <a:bodyPr wrap="square" rtlCol="0" anchor="t"/>
          <a:lstStyle/>
          <a:p>
            <a:pPr marL="0" indent="0">
              <a:buNone/>
            </a:pPr>
            <a:endParaRPr lang="en-US" dirty="0"/>
          </a:p>
        </p:txBody>
      </p:sp>
      <p:sp>
        <p:nvSpPr>
          <p:cNvPr id="30" name="Text 22"/>
          <p:cNvSpPr/>
          <p:nvPr/>
        </p:nvSpPr>
        <p:spPr>
          <a:xfrm>
            <a:off x="457200" y="4379565"/>
            <a:ext cx="28575" cy="421035"/>
          </a:xfrm>
          <a:prstGeom prst="rect">
            <a:avLst/>
          </a:prstGeom>
          <a:solidFill>
            <a:srgbClr val="00B4D8"/>
          </a:solidFill>
          <a:ln/>
        </p:spPr>
        <p:txBody>
          <a:bodyPr wrap="square" rtlCol="0" anchor="t"/>
          <a:lstStyle/>
          <a:p>
            <a:pPr marL="0" indent="0">
              <a:buNone/>
            </a:pPr>
            <a:endParaRPr lang="en-US" dirty="0"/>
          </a:p>
        </p:txBody>
      </p:sp>
      <p:pic>
        <p:nvPicPr>
          <p:cNvPr id="3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9941" y="4523789"/>
            <a:ext cx="132588" cy="132588"/>
          </a:xfrm>
          <a:prstGeom prst="rect">
            <a:avLst/>
          </a:prstGeom>
        </p:spPr>
      </p:pic>
      <p:sp>
        <p:nvSpPr>
          <p:cNvPr id="32" name="Text 23"/>
          <p:cNvSpPr/>
          <p:nvPr/>
        </p:nvSpPr>
        <p:spPr>
          <a:xfrm>
            <a:off x="861566" y="4493865"/>
            <a:ext cx="5045571" cy="192435"/>
          </a:xfrm>
          <a:prstGeom prst="rect">
            <a:avLst/>
          </a:prstGeom>
          <a:noFill/>
          <a:ln/>
        </p:spPr>
        <p:txBody>
          <a:bodyPr wrap="none" lIns="0" tIns="0" rIns="0" bIns="0" rtlCol="0" anchor="ctr"/>
          <a:lstStyle/>
          <a:p>
            <a:pPr marL="0" indent="0" algn="l">
              <a:lnSpc>
                <a:spcPts val="1515"/>
              </a:lnSpc>
              <a:buNone/>
            </a:pPr>
            <a:r>
              <a:rPr lang="en-US" sz="1010" b="1" dirty="0">
                <a:solidFill>
                  <a:srgbClr val="0090AD"/>
                </a:solidFill>
                <a:latin typeface="Calibri" pitchFamily="34" charset="0"/>
                <a:ea typeface="Calibri" pitchFamily="34" charset="-122"/>
                <a:cs typeface="Calibri" pitchFamily="34" charset="-120"/>
              </a:rPr>
              <a:t>Bottom line: </a:t>
            </a:r>
            <a:r>
              <a:rPr lang="en-US" sz="1010" b="1" dirty="0">
                <a:solidFill>
                  <a:srgbClr val="0B2545"/>
                </a:solidFill>
                <a:latin typeface="Calibri" pitchFamily="34" charset="0"/>
                <a:ea typeface="Calibri" pitchFamily="34" charset="-122"/>
                <a:cs typeface="Calibri" pitchFamily="34" charset="-120"/>
              </a:rPr>
              <a:t>Larger, higher-capacity properties tend to have higher nightly rates.</a:t>
            </a:r>
            <a:endParaRPr lang="en-US" sz="1010" dirty="0"/>
          </a:p>
        </p:txBody>
      </p:sp>
      <p:sp>
        <p:nvSpPr>
          <p:cNvPr id="33" name="Text 24"/>
          <p:cNvSpPr/>
          <p:nvPr/>
        </p:nvSpPr>
        <p:spPr>
          <a:xfrm>
            <a:off x="8204894" y="0"/>
            <a:ext cx="939106" cy="939120"/>
          </a:xfrm>
          <a:prstGeom prst="ellipse">
            <a:avLst/>
          </a:prstGeom>
          <a:noFill/>
          <a:ln w="9525">
            <a:solidFill>
              <a:srgbClr val="00B4D8">
                <a:alpha val="8000"/>
              </a:srgbClr>
            </a:solidFill>
          </a:ln>
        </p:spPr>
        <p:txBody>
          <a:bodyPr wrap="square" rtlCol="0" anchor="t"/>
          <a:lstStyle/>
          <a:p>
            <a:pPr marL="0" indent="0">
              <a:buNone/>
            </a:pPr>
            <a:endParaRPr lang="en-US" dirty="0"/>
          </a:p>
        </p:txBody>
      </p:sp>
      <p:sp>
        <p:nvSpPr>
          <p:cNvPr id="34" name="Text 25"/>
          <p:cNvSpPr/>
          <p:nvPr/>
        </p:nvSpPr>
        <p:spPr>
          <a:xfrm>
            <a:off x="457200" y="1003102"/>
            <a:ext cx="8229600" cy="29170"/>
          </a:xfrm>
          <a:custGeom>
            <a:avLst/>
            <a:gdLst/>
            <a:ahLst/>
            <a:cxnLst/>
            <a:rect l="l" t="t" r="r" b="b"/>
            <a:pathLst>
              <a:path w="8229600" h="29170">
                <a:moveTo>
                  <a:pt x="86360" y="0"/>
                </a:moveTo>
                <a:lnTo>
                  <a:pt x="8143240" y="0"/>
                </a:lnTo>
                <a:lnTo>
                  <a:pt x="8168069" y="3646"/>
                </a:lnTo>
                <a:lnTo>
                  <a:pt x="8177973" y="7293"/>
                </a:lnTo>
                <a:lnTo>
                  <a:pt x="8185308" y="10939"/>
                </a:lnTo>
                <a:lnTo>
                  <a:pt x="8191265" y="14585"/>
                </a:lnTo>
                <a:lnTo>
                  <a:pt x="8196311" y="18231"/>
                </a:lnTo>
                <a:lnTo>
                  <a:pt x="8200686" y="21878"/>
                </a:lnTo>
                <a:lnTo>
                  <a:pt x="8204535" y="25524"/>
                </a:lnTo>
                <a:lnTo>
                  <a:pt x="8207950" y="29170"/>
                </a:lnTo>
                <a:lnTo>
                  <a:pt x="21650" y="29170"/>
                </a:lnTo>
                <a:lnTo>
                  <a:pt x="25065" y="25524"/>
                </a:lnTo>
                <a:lnTo>
                  <a:pt x="28914" y="21878"/>
                </a:lnTo>
                <a:lnTo>
                  <a:pt x="33289" y="18231"/>
                </a:lnTo>
                <a:lnTo>
                  <a:pt x="38335" y="14585"/>
                </a:lnTo>
                <a:lnTo>
                  <a:pt x="44292" y="10939"/>
                </a:lnTo>
                <a:lnTo>
                  <a:pt x="51627" y="7293"/>
                </a:lnTo>
                <a:lnTo>
                  <a:pt x="61531" y="3646"/>
                </a:lnTo>
                <a:close/>
              </a:path>
            </a:pathLst>
          </a:custGeom>
          <a:gradFill rotWithShape="1">
            <a:gsLst>
              <a:gs pos="0">
                <a:srgbClr val="00B4D8"/>
              </a:gs>
              <a:gs pos="50000">
                <a:srgbClr val="0090AD"/>
              </a:gs>
              <a:gs pos="100000">
                <a:srgbClr val="006D8A"/>
              </a:gs>
            </a:gsLst>
            <a:lin ang="0" scaled="1"/>
          </a:gradFill>
          <a:ln/>
        </p:spPr>
        <p:txBody>
          <a:bodyPr wrap="none" rtlCol="0" anchor="t"/>
          <a:lstStyle/>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7679" b="7679"/>
          <a:stretch/>
        </p:blipFill>
        <p:spPr>
          <a:xfrm>
            <a:off x="0" y="0"/>
            <a:ext cx="9144000" cy="5143500"/>
          </a:xfrm>
          <a:prstGeom prst="rect">
            <a:avLst/>
          </a:prstGeom>
        </p:spPr>
      </p:pic>
      <p:sp>
        <p:nvSpPr>
          <p:cNvPr id="3" name="Text 0"/>
          <p:cNvSpPr/>
          <p:nvPr/>
        </p:nvSpPr>
        <p:spPr>
          <a:xfrm>
            <a:off x="0" y="0"/>
            <a:ext cx="9144000" cy="5143500"/>
          </a:xfrm>
          <a:prstGeom prst="rect">
            <a:avLst/>
          </a:prstGeom>
          <a:gradFill rotWithShape="1">
            <a:gsLst>
              <a:gs pos="0">
                <a:srgbClr val="0B2545">
                  <a:alpha val="94000"/>
                </a:srgbClr>
              </a:gs>
              <a:gs pos="50000">
                <a:srgbClr val="0B2545">
                  <a:alpha val="92000"/>
                </a:srgbClr>
              </a:gs>
              <a:gs pos="100000">
                <a:srgbClr val="0B2545">
                  <a:alpha val="85000"/>
                </a:srgbClr>
              </a:gs>
            </a:gsLst>
            <a:lin ang="2700000" scaled="1"/>
          </a:gradFill>
          <a:ln/>
        </p:spPr>
        <p:txBody>
          <a:bodyPr wrap="square" rtlCol="0" anchor="t"/>
          <a:lstStyle/>
          <a:p>
            <a:pPr marL="0" indent="0">
              <a:buNone/>
            </a:pPr>
            <a:endParaRPr lang="en-US" dirty="0"/>
          </a:p>
        </p:txBody>
      </p:sp>
      <p:sp>
        <p:nvSpPr>
          <p:cNvPr id="4" name="Text 1"/>
          <p:cNvSpPr/>
          <p:nvPr/>
        </p:nvSpPr>
        <p:spPr>
          <a:xfrm>
            <a:off x="429220" y="342900"/>
            <a:ext cx="8865549" cy="363885"/>
          </a:xfrm>
          <a:prstGeom prst="rect">
            <a:avLst/>
          </a:prstGeom>
          <a:noFill/>
          <a:ln/>
        </p:spPr>
        <p:txBody>
          <a:bodyPr wrap="none" lIns="0" tIns="0" rIns="0" bIns="0" rtlCol="0" anchor="t"/>
          <a:lstStyle/>
          <a:p>
            <a:pPr marL="0" indent="0" algn="l">
              <a:lnSpc>
                <a:spcPts val="2865"/>
              </a:lnSpc>
              <a:spcAft>
                <a:spcPts val="340"/>
              </a:spcAft>
              <a:buNone/>
            </a:pPr>
            <a:r>
              <a:rPr lang="en-US" sz="1910" b="1" kern="0" spc="-30" dirty="0">
                <a:solidFill>
                  <a:srgbClr val="F8FAFC"/>
                </a:solidFill>
                <a:latin typeface="Constantia" pitchFamily="34" charset="0"/>
                <a:ea typeface="Constantia" pitchFamily="34" charset="-122"/>
                <a:cs typeface="Constantia" pitchFamily="34" charset="-120"/>
              </a:rPr>
              <a:t>Key Findings, Limitations &amp; Conclusion</a:t>
            </a:r>
            <a:endParaRPr lang="en-US" sz="1910" dirty="0"/>
          </a:p>
        </p:txBody>
      </p:sp>
      <p:sp>
        <p:nvSpPr>
          <p:cNvPr id="5" name="Text 2"/>
          <p:cNvSpPr/>
          <p:nvPr/>
        </p:nvSpPr>
        <p:spPr>
          <a:xfrm>
            <a:off x="429220" y="749945"/>
            <a:ext cx="571500" cy="21580"/>
          </a:xfrm>
          <a:prstGeom prst="roundRect">
            <a:avLst>
              <a:gd name="adj" fmla="val 64736"/>
            </a:avLst>
          </a:prstGeom>
          <a:solidFill>
            <a:srgbClr val="00B4D8"/>
          </a:solidFill>
          <a:ln/>
        </p:spPr>
        <p:txBody>
          <a:bodyPr wrap="none" rtlCol="0" anchor="t"/>
          <a:lstStyle/>
          <a:p>
            <a:pPr marL="0" indent="0">
              <a:buNone/>
            </a:pPr>
            <a:endParaRPr lang="en-US" dirty="0"/>
          </a:p>
        </p:txBody>
      </p:sp>
      <p:sp>
        <p:nvSpPr>
          <p:cNvPr id="6" name="Text 3"/>
          <p:cNvSpPr/>
          <p:nvPr/>
        </p:nvSpPr>
        <p:spPr>
          <a:xfrm>
            <a:off x="550366" y="942975"/>
            <a:ext cx="891570" cy="118021"/>
          </a:xfrm>
          <a:prstGeom prst="rect">
            <a:avLst/>
          </a:prstGeom>
          <a:noFill/>
          <a:ln/>
        </p:spPr>
        <p:txBody>
          <a:bodyPr wrap="none" lIns="0" tIns="0" rIns="0" bIns="0" rtlCol="0" anchor="ctr"/>
          <a:lstStyle/>
          <a:p>
            <a:pPr marL="0" indent="0" algn="l">
              <a:lnSpc>
                <a:spcPts val="930"/>
              </a:lnSpc>
              <a:buNone/>
            </a:pPr>
            <a:r>
              <a:rPr lang="en-US" sz="620" b="1" kern="0" spc="140" dirty="0">
                <a:solidFill>
                  <a:srgbClr val="00B4D8"/>
                </a:solidFill>
                <a:latin typeface="Calibri" pitchFamily="34" charset="0"/>
                <a:ea typeface="Calibri" pitchFamily="34" charset="-122"/>
                <a:cs typeface="Calibri" pitchFamily="34" charset="-120"/>
              </a:rPr>
              <a:t>KEY FINDINGS</a:t>
            </a:r>
            <a:endParaRPr lang="en-US" sz="62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5789" y="923860"/>
            <a:ext cx="132588" cy="132588"/>
          </a:xfrm>
          <a:prstGeom prst="rect">
            <a:avLst/>
          </a:prstGeom>
        </p:spPr>
      </p:pic>
      <p:sp>
        <p:nvSpPr>
          <p:cNvPr id="8" name="Text 4"/>
          <p:cNvSpPr/>
          <p:nvPr/>
        </p:nvSpPr>
        <p:spPr>
          <a:xfrm>
            <a:off x="429220" y="1261616"/>
            <a:ext cx="4599831" cy="648891"/>
          </a:xfrm>
          <a:prstGeom prst="roundRect">
            <a:avLst>
              <a:gd name="adj" fmla="val 13309"/>
            </a:avLst>
          </a:prstGeom>
          <a:solidFill>
            <a:srgbClr val="FFFFFF">
              <a:alpha val="6000"/>
            </a:srgbClr>
          </a:solidFill>
          <a:ln w="9525">
            <a:solidFill>
              <a:srgbClr val="FFFFFF">
                <a:alpha val="10000"/>
              </a:srgbClr>
            </a:solidFill>
          </a:ln>
        </p:spPr>
        <p:txBody>
          <a:bodyPr wrap="square" rtlCol="0" anchor="t"/>
          <a:lstStyle/>
          <a:p>
            <a:pPr marL="0" indent="0">
              <a:buNone/>
            </a:pPr>
            <a:endParaRPr lang="en-US" dirty="0"/>
          </a:p>
        </p:txBody>
      </p:sp>
      <p:sp>
        <p:nvSpPr>
          <p:cNvPr id="9" name="Text 5"/>
          <p:cNvSpPr/>
          <p:nvPr/>
        </p:nvSpPr>
        <p:spPr>
          <a:xfrm>
            <a:off x="596205" y="1414611"/>
            <a:ext cx="257770" cy="283547"/>
          </a:xfrm>
          <a:prstGeom prst="ellipse">
            <a:avLst/>
          </a:prstGeom>
          <a:solidFill>
            <a:srgbClr val="00B4D8"/>
          </a:solidFill>
          <a:ln/>
        </p:spPr>
        <p:txBody>
          <a:bodyPr wrap="none" lIns="0" tIns="0" rIns="0" bIns="0" rtlCol="0" anchor="ctr"/>
          <a:lstStyle/>
          <a:p>
            <a:pPr marL="0" indent="0" algn="ctr">
              <a:buNone/>
            </a:pPr>
            <a:r>
              <a:rPr lang="en-US" sz="900" b="1" dirty="0">
                <a:solidFill>
                  <a:srgbClr val="0B2545"/>
                </a:solidFill>
                <a:latin typeface="Constantia" pitchFamily="34" charset="0"/>
                <a:ea typeface="Constantia" pitchFamily="34" charset="-122"/>
                <a:cs typeface="Constantia" pitchFamily="34" charset="-120"/>
              </a:rPr>
              <a:t>1</a:t>
            </a:r>
            <a:endParaRPr lang="en-US" sz="900" dirty="0"/>
          </a:p>
        </p:txBody>
      </p:sp>
      <p:sp>
        <p:nvSpPr>
          <p:cNvPr id="10" name="Text 6"/>
          <p:cNvSpPr/>
          <p:nvPr/>
        </p:nvSpPr>
        <p:spPr>
          <a:xfrm>
            <a:off x="968276" y="1414611"/>
            <a:ext cx="3971666" cy="360045"/>
          </a:xfrm>
          <a:prstGeom prst="rect">
            <a:avLst/>
          </a:prstGeom>
          <a:noFill/>
          <a:ln/>
        </p:spPr>
        <p:txBody>
          <a:bodyPr wrap="square" lIns="0" tIns="0" rIns="0" bIns="0" rtlCol="0" anchor="t"/>
          <a:lstStyle/>
          <a:p>
            <a:pPr marL="0" indent="0" algn="l">
              <a:lnSpc>
                <a:spcPts val="1350"/>
              </a:lnSpc>
              <a:buNone/>
            </a:pPr>
            <a:r>
              <a:rPr lang="en-US" sz="900" dirty="0">
                <a:solidFill>
                  <a:srgbClr val="F8FAFC"/>
                </a:solidFill>
                <a:latin typeface="Calibri" pitchFamily="34" charset="0"/>
                <a:ea typeface="Calibri" pitchFamily="34" charset="-122"/>
                <a:cs typeface="Calibri" pitchFamily="34" charset="-120"/>
              </a:rPr>
              <a:t>Listings with more guests, bedrooms, and bathrooms tend to have </a:t>
            </a:r>
            <a:r>
              <a:rPr lang="en-US" sz="900" b="1" dirty="0">
                <a:solidFill>
                  <a:srgbClr val="00B4D8"/>
                </a:solidFill>
                <a:latin typeface="Calibri" pitchFamily="34" charset="0"/>
                <a:ea typeface="Calibri" pitchFamily="34" charset="-122"/>
                <a:cs typeface="Calibri" pitchFamily="34" charset="-120"/>
              </a:rPr>
              <a:t>higher nightly rates</a:t>
            </a:r>
            <a:r>
              <a:rPr lang="en-US" sz="900" dirty="0">
                <a:solidFill>
                  <a:srgbClr val="F8FAFC"/>
                </a:solidFill>
                <a:latin typeface="Calibri" pitchFamily="34" charset="0"/>
                <a:ea typeface="Calibri" pitchFamily="34" charset="-122"/>
                <a:cs typeface="Calibri" pitchFamily="34" charset="-120"/>
              </a:rPr>
              <a:t>.</a:t>
            </a:r>
            <a:endParaRPr lang="en-US" sz="900" dirty="0"/>
          </a:p>
        </p:txBody>
      </p:sp>
      <p:sp>
        <p:nvSpPr>
          <p:cNvPr id="11" name="Text 7"/>
          <p:cNvSpPr/>
          <p:nvPr/>
        </p:nvSpPr>
        <p:spPr>
          <a:xfrm>
            <a:off x="429220" y="2010817"/>
            <a:ext cx="4599831" cy="563761"/>
          </a:xfrm>
          <a:prstGeom prst="roundRect">
            <a:avLst>
              <a:gd name="adj" fmla="val 15319"/>
            </a:avLst>
          </a:prstGeom>
          <a:solidFill>
            <a:srgbClr val="FFFFFF">
              <a:alpha val="6000"/>
            </a:srgbClr>
          </a:solidFill>
          <a:ln w="9525">
            <a:solidFill>
              <a:srgbClr val="FFFFFF">
                <a:alpha val="10000"/>
              </a:srgbClr>
            </a:solidFill>
          </a:ln>
        </p:spPr>
        <p:txBody>
          <a:bodyPr wrap="square" rtlCol="0" anchor="t"/>
          <a:lstStyle/>
          <a:p>
            <a:pPr marL="0" indent="0">
              <a:buNone/>
            </a:pPr>
            <a:endParaRPr lang="en-US" dirty="0"/>
          </a:p>
        </p:txBody>
      </p:sp>
      <p:sp>
        <p:nvSpPr>
          <p:cNvPr id="12" name="Text 8"/>
          <p:cNvSpPr/>
          <p:nvPr/>
        </p:nvSpPr>
        <p:spPr>
          <a:xfrm>
            <a:off x="596205" y="2163812"/>
            <a:ext cx="257770" cy="283547"/>
          </a:xfrm>
          <a:prstGeom prst="ellipse">
            <a:avLst/>
          </a:prstGeom>
          <a:solidFill>
            <a:srgbClr val="00B4D8"/>
          </a:solidFill>
          <a:ln/>
        </p:spPr>
        <p:txBody>
          <a:bodyPr wrap="none" lIns="0" tIns="0" rIns="0" bIns="0" rtlCol="0" anchor="ctr"/>
          <a:lstStyle/>
          <a:p>
            <a:pPr marL="0" indent="0" algn="ctr">
              <a:buNone/>
            </a:pPr>
            <a:r>
              <a:rPr lang="en-US" sz="900" b="1" dirty="0">
                <a:solidFill>
                  <a:srgbClr val="0B2545"/>
                </a:solidFill>
                <a:latin typeface="Constantia" pitchFamily="34" charset="0"/>
                <a:ea typeface="Constantia" pitchFamily="34" charset="-122"/>
                <a:cs typeface="Constantia" pitchFamily="34" charset="-120"/>
              </a:rPr>
              <a:t>2</a:t>
            </a:r>
            <a:endParaRPr lang="en-US" sz="900" dirty="0"/>
          </a:p>
        </p:txBody>
      </p:sp>
      <p:sp>
        <p:nvSpPr>
          <p:cNvPr id="13" name="Text 9"/>
          <p:cNvSpPr/>
          <p:nvPr/>
        </p:nvSpPr>
        <p:spPr>
          <a:xfrm>
            <a:off x="968276" y="2163812"/>
            <a:ext cx="3881259" cy="171450"/>
          </a:xfrm>
          <a:prstGeom prst="rect">
            <a:avLst/>
          </a:prstGeom>
          <a:noFill/>
          <a:ln/>
        </p:spPr>
        <p:txBody>
          <a:bodyPr wrap="none" lIns="0" tIns="0" rIns="0" bIns="0" rtlCol="0" anchor="t"/>
          <a:lstStyle/>
          <a:p>
            <a:pPr marL="0" indent="0" algn="l">
              <a:lnSpc>
                <a:spcPts val="1350"/>
              </a:lnSpc>
              <a:buNone/>
            </a:pPr>
            <a:r>
              <a:rPr lang="en-US" sz="900" dirty="0">
                <a:solidFill>
                  <a:srgbClr val="F8FAFC"/>
                </a:solidFill>
                <a:latin typeface="Calibri" pitchFamily="34" charset="0"/>
                <a:ea typeface="Calibri" pitchFamily="34" charset="-122"/>
                <a:cs typeface="Calibri" pitchFamily="34" charset="-120"/>
              </a:rPr>
              <a:t>A three-predictor model explains </a:t>
            </a:r>
            <a:r>
              <a:rPr lang="en-US" sz="900" b="1" dirty="0">
                <a:solidFill>
                  <a:srgbClr val="00B4D8"/>
                </a:solidFill>
                <a:latin typeface="Calibri" pitchFamily="34" charset="0"/>
                <a:ea typeface="Calibri" pitchFamily="34" charset="-122"/>
                <a:cs typeface="Calibri" pitchFamily="34" charset="-120"/>
              </a:rPr>
              <a:t>~47% of price variation</a:t>
            </a:r>
            <a:r>
              <a:rPr lang="en-US" sz="900" dirty="0">
                <a:solidFill>
                  <a:srgbClr val="F8FAFC"/>
                </a:solidFill>
                <a:latin typeface="Calibri" pitchFamily="34" charset="0"/>
                <a:ea typeface="Calibri" pitchFamily="34" charset="-122"/>
                <a:cs typeface="Calibri" pitchFamily="34" charset="-120"/>
              </a:rPr>
              <a:t> (R² ≈ 0.47).</a:t>
            </a:r>
            <a:endParaRPr lang="en-US" sz="900" dirty="0"/>
          </a:p>
        </p:txBody>
      </p:sp>
      <p:sp>
        <p:nvSpPr>
          <p:cNvPr id="14" name="Text 10"/>
          <p:cNvSpPr/>
          <p:nvPr/>
        </p:nvSpPr>
        <p:spPr>
          <a:xfrm>
            <a:off x="429220" y="2674888"/>
            <a:ext cx="4599831" cy="648891"/>
          </a:xfrm>
          <a:prstGeom prst="roundRect">
            <a:avLst>
              <a:gd name="adj" fmla="val 13309"/>
            </a:avLst>
          </a:prstGeom>
          <a:solidFill>
            <a:srgbClr val="FFFFFF">
              <a:alpha val="6000"/>
            </a:srgbClr>
          </a:solidFill>
          <a:ln w="9525">
            <a:solidFill>
              <a:srgbClr val="FFFFFF">
                <a:alpha val="10000"/>
              </a:srgbClr>
            </a:solidFill>
          </a:ln>
        </p:spPr>
        <p:txBody>
          <a:bodyPr wrap="square" rtlCol="0" anchor="t"/>
          <a:lstStyle/>
          <a:p>
            <a:pPr marL="0" indent="0">
              <a:buNone/>
            </a:pPr>
            <a:endParaRPr lang="en-US" dirty="0"/>
          </a:p>
        </p:txBody>
      </p:sp>
      <p:sp>
        <p:nvSpPr>
          <p:cNvPr id="15" name="Text 11"/>
          <p:cNvSpPr/>
          <p:nvPr/>
        </p:nvSpPr>
        <p:spPr>
          <a:xfrm>
            <a:off x="596205" y="2827883"/>
            <a:ext cx="257770" cy="283547"/>
          </a:xfrm>
          <a:prstGeom prst="ellipse">
            <a:avLst/>
          </a:prstGeom>
          <a:solidFill>
            <a:srgbClr val="00B4D8"/>
          </a:solidFill>
          <a:ln/>
        </p:spPr>
        <p:txBody>
          <a:bodyPr wrap="none" lIns="0" tIns="0" rIns="0" bIns="0" rtlCol="0" anchor="ctr"/>
          <a:lstStyle/>
          <a:p>
            <a:pPr marL="0" indent="0" algn="ctr">
              <a:buNone/>
            </a:pPr>
            <a:r>
              <a:rPr lang="en-US" sz="900" b="1" dirty="0">
                <a:solidFill>
                  <a:srgbClr val="0B2545"/>
                </a:solidFill>
                <a:latin typeface="Constantia" pitchFamily="34" charset="0"/>
                <a:ea typeface="Constantia" pitchFamily="34" charset="-122"/>
                <a:cs typeface="Constantia" pitchFamily="34" charset="-120"/>
              </a:rPr>
              <a:t>3</a:t>
            </a:r>
            <a:endParaRPr lang="en-US" sz="900" dirty="0"/>
          </a:p>
        </p:txBody>
      </p:sp>
      <p:sp>
        <p:nvSpPr>
          <p:cNvPr id="16" name="Text 12"/>
          <p:cNvSpPr/>
          <p:nvPr/>
        </p:nvSpPr>
        <p:spPr>
          <a:xfrm>
            <a:off x="968276" y="2827883"/>
            <a:ext cx="3971666" cy="360045"/>
          </a:xfrm>
          <a:prstGeom prst="rect">
            <a:avLst/>
          </a:prstGeom>
          <a:noFill/>
          <a:ln/>
        </p:spPr>
        <p:txBody>
          <a:bodyPr wrap="square" lIns="0" tIns="0" rIns="0" bIns="0" rtlCol="0" anchor="t"/>
          <a:lstStyle/>
          <a:p>
            <a:pPr marL="0" indent="0" algn="l">
              <a:lnSpc>
                <a:spcPts val="1350"/>
              </a:lnSpc>
              <a:buNone/>
            </a:pPr>
            <a:r>
              <a:rPr lang="en-US" sz="900" dirty="0">
                <a:solidFill>
                  <a:srgbClr val="F8FAFC"/>
                </a:solidFill>
                <a:latin typeface="Calibri" pitchFamily="34" charset="0"/>
                <a:ea typeface="Calibri" pitchFamily="34" charset="-122"/>
                <a:cs typeface="Calibri" pitchFamily="34" charset="-120"/>
              </a:rPr>
              <a:t>The negative bedrooms coefficient is due to </a:t>
            </a:r>
            <a:r>
              <a:rPr lang="en-US" sz="900" b="1" dirty="0">
                <a:solidFill>
                  <a:srgbClr val="00B4D8"/>
                </a:solidFill>
                <a:latin typeface="Calibri" pitchFamily="34" charset="0"/>
                <a:ea typeface="Calibri" pitchFamily="34" charset="-122"/>
                <a:cs typeface="Calibri" pitchFamily="34" charset="-120"/>
              </a:rPr>
              <a:t>overlapping predictors</a:t>
            </a:r>
            <a:r>
              <a:rPr lang="en-US" sz="900" dirty="0">
                <a:solidFill>
                  <a:srgbClr val="F8FAFC"/>
                </a:solidFill>
                <a:latin typeface="Calibri" pitchFamily="34" charset="0"/>
                <a:ea typeface="Calibri" pitchFamily="34" charset="-122"/>
                <a:cs typeface="Calibri" pitchFamily="34" charset="-120"/>
              </a:rPr>
              <a:t>, not a real effect.</a:t>
            </a:r>
            <a:endParaRPr lang="en-US" sz="900" dirty="0"/>
          </a:p>
        </p:txBody>
      </p:sp>
      <p:sp>
        <p:nvSpPr>
          <p:cNvPr id="17" name="Text 13"/>
          <p:cNvSpPr/>
          <p:nvPr/>
        </p:nvSpPr>
        <p:spPr>
          <a:xfrm>
            <a:off x="2514451" y="4297114"/>
            <a:ext cx="429220" cy="21580"/>
          </a:xfrm>
          <a:prstGeom prst="roundRect">
            <a:avLst>
              <a:gd name="adj" fmla="val 64736"/>
            </a:avLst>
          </a:prstGeom>
          <a:solidFill>
            <a:srgbClr val="00B4D8"/>
          </a:solidFill>
          <a:ln/>
        </p:spPr>
        <p:txBody>
          <a:bodyPr wrap="none" rtlCol="0" anchor="t"/>
          <a:lstStyle/>
          <a:p>
            <a:pPr marL="0" indent="0">
              <a:buNone/>
            </a:pPr>
            <a:endParaRPr lang="en-US" dirty="0"/>
          </a:p>
        </p:txBody>
      </p:sp>
      <p:sp>
        <p:nvSpPr>
          <p:cNvPr id="18" name="Text 14"/>
          <p:cNvSpPr/>
          <p:nvPr/>
        </p:nvSpPr>
        <p:spPr>
          <a:xfrm>
            <a:off x="268226" y="4361855"/>
            <a:ext cx="4921819" cy="309265"/>
          </a:xfrm>
          <a:prstGeom prst="rect">
            <a:avLst/>
          </a:prstGeom>
          <a:noFill/>
          <a:ln/>
        </p:spPr>
        <p:txBody>
          <a:bodyPr wrap="none" lIns="0" tIns="0" rIns="0" bIns="0" rtlCol="0" anchor="t"/>
          <a:lstStyle/>
          <a:p>
            <a:pPr marL="0" indent="0" algn="ctr">
              <a:lnSpc>
                <a:spcPts val="2436"/>
              </a:lnSpc>
              <a:buNone/>
            </a:pPr>
            <a:r>
              <a:rPr lang="en-US" sz="2030" b="1" dirty="0">
                <a:solidFill>
                  <a:srgbClr val="00B4D8"/>
                </a:solidFill>
                <a:latin typeface="Constantia" pitchFamily="34" charset="0"/>
                <a:ea typeface="Constantia" pitchFamily="34" charset="-122"/>
                <a:cs typeface="Constantia" pitchFamily="34" charset="-120"/>
              </a:rPr>
              <a:t>Thank You — Questions?</a:t>
            </a:r>
            <a:endParaRPr lang="en-US" sz="2030" dirty="0"/>
          </a:p>
        </p:txBody>
      </p:sp>
      <p:sp>
        <p:nvSpPr>
          <p:cNvPr id="19" name="Text 15"/>
          <p:cNvSpPr/>
          <p:nvPr/>
        </p:nvSpPr>
        <p:spPr>
          <a:xfrm>
            <a:off x="199229" y="4714280"/>
            <a:ext cx="5059814" cy="171450"/>
          </a:xfrm>
          <a:prstGeom prst="rect">
            <a:avLst/>
          </a:prstGeom>
          <a:noFill/>
          <a:ln/>
        </p:spPr>
        <p:txBody>
          <a:bodyPr wrap="none" lIns="0" tIns="0" rIns="0" bIns="0" rtlCol="0" anchor="t"/>
          <a:lstStyle/>
          <a:p>
            <a:pPr marL="0" indent="0" algn="ctr">
              <a:lnSpc>
                <a:spcPts val="1350"/>
              </a:lnSpc>
              <a:spcBef>
                <a:spcPts val="340"/>
              </a:spcBef>
              <a:buNone/>
            </a:pPr>
            <a:r>
              <a:rPr lang="en-US" sz="900" dirty="0">
                <a:solidFill>
                  <a:srgbClr val="94A3B8"/>
                </a:solidFill>
                <a:latin typeface="Calibri" pitchFamily="34" charset="0"/>
                <a:ea typeface="Calibri" pitchFamily="34" charset="-122"/>
                <a:cs typeface="Calibri" pitchFamily="34" charset="-120"/>
              </a:rPr>
              <a:t>David J. Gibbens</a:t>
            </a:r>
            <a:endParaRPr lang="en-US" sz="900" dirty="0"/>
          </a:p>
        </p:txBody>
      </p:sp>
      <p:sp>
        <p:nvSpPr>
          <p:cNvPr id="20" name="Text 16"/>
          <p:cNvSpPr/>
          <p:nvPr/>
        </p:nvSpPr>
        <p:spPr>
          <a:xfrm>
            <a:off x="5435947" y="942975"/>
            <a:ext cx="798091" cy="118021"/>
          </a:xfrm>
          <a:prstGeom prst="rect">
            <a:avLst/>
          </a:prstGeom>
          <a:noFill/>
          <a:ln/>
        </p:spPr>
        <p:txBody>
          <a:bodyPr wrap="none" lIns="0" tIns="0" rIns="0" bIns="0" rtlCol="0" anchor="ctr"/>
          <a:lstStyle/>
          <a:p>
            <a:pPr marL="0" indent="0" algn="l">
              <a:lnSpc>
                <a:spcPts val="930"/>
              </a:lnSpc>
              <a:buNone/>
            </a:pPr>
            <a:r>
              <a:rPr lang="en-US" sz="620" b="1" kern="0" spc="140" dirty="0">
                <a:solidFill>
                  <a:srgbClr val="00B4D8"/>
                </a:solidFill>
                <a:latin typeface="Calibri" pitchFamily="34" charset="0"/>
                <a:ea typeface="Calibri" pitchFamily="34" charset="-122"/>
                <a:cs typeface="Calibri" pitchFamily="34" charset="-120"/>
              </a:rPr>
              <a:t>LIMITATIONS</a:t>
            </a:r>
            <a:endParaRPr lang="en-US" sz="620"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91370" y="923860"/>
            <a:ext cx="132588" cy="132588"/>
          </a:xfrm>
          <a:prstGeom prst="rect">
            <a:avLst/>
          </a:prstGeom>
        </p:spPr>
      </p:pic>
      <p:sp>
        <p:nvSpPr>
          <p:cNvPr id="22" name="Text 17"/>
          <p:cNvSpPr/>
          <p:nvPr/>
        </p:nvSpPr>
        <p:spPr>
          <a:xfrm>
            <a:off x="5314801" y="1161306"/>
            <a:ext cx="3399979" cy="1166813"/>
          </a:xfrm>
          <a:prstGeom prst="roundRect">
            <a:avLst>
              <a:gd name="adj" fmla="val 7401"/>
            </a:avLst>
          </a:prstGeom>
          <a:solidFill>
            <a:srgbClr val="F59E0B">
              <a:alpha val="8000"/>
            </a:srgbClr>
          </a:solidFill>
          <a:ln w="9525">
            <a:solidFill>
              <a:srgbClr val="F59E0B">
                <a:alpha val="20000"/>
              </a:srgbClr>
            </a:solidFill>
          </a:ln>
        </p:spPr>
        <p:txBody>
          <a:bodyPr wrap="square" rtlCol="0" anchor="t"/>
          <a:lstStyle/>
          <a:p>
            <a:pPr marL="0" indent="0">
              <a:buNone/>
            </a:pPr>
            <a:endParaRPr lang="en-US" dirty="0"/>
          </a:p>
        </p:txBody>
      </p:sp>
      <p:sp>
        <p:nvSpPr>
          <p:cNvPr id="23" name="Text 18"/>
          <p:cNvSpPr/>
          <p:nvPr/>
        </p:nvSpPr>
        <p:spPr>
          <a:xfrm>
            <a:off x="5495776" y="1385441"/>
            <a:ext cx="43160" cy="43160"/>
          </a:xfrm>
          <a:prstGeom prst="ellipse">
            <a:avLst/>
          </a:prstGeom>
          <a:solidFill>
            <a:srgbClr val="F59E0B"/>
          </a:solidFill>
          <a:ln/>
        </p:spPr>
        <p:txBody>
          <a:bodyPr wrap="none" rtlCol="0" anchor="t"/>
          <a:lstStyle/>
          <a:p>
            <a:pPr marL="0" indent="0">
              <a:buNone/>
            </a:pPr>
            <a:endParaRPr lang="en-US" dirty="0"/>
          </a:p>
        </p:txBody>
      </p:sp>
      <p:sp>
        <p:nvSpPr>
          <p:cNvPr id="24" name="Text 19"/>
          <p:cNvSpPr/>
          <p:nvPr/>
        </p:nvSpPr>
        <p:spPr>
          <a:xfrm>
            <a:off x="5609927" y="1328291"/>
            <a:ext cx="2847424" cy="165348"/>
          </a:xfrm>
          <a:prstGeom prst="rect">
            <a:avLst/>
          </a:prstGeom>
          <a:noFill/>
          <a:ln/>
        </p:spPr>
        <p:txBody>
          <a:bodyPr wrap="none" lIns="0" tIns="0" rIns="0" bIns="0" rtlCol="0" anchor="t"/>
          <a:lstStyle/>
          <a:p>
            <a:pPr marL="0" indent="0" algn="l">
              <a:lnSpc>
                <a:spcPts val="1302"/>
              </a:lnSpc>
              <a:buNone/>
            </a:pPr>
            <a:r>
              <a:rPr lang="en-US" sz="840" dirty="0">
                <a:solidFill>
                  <a:srgbClr val="E2E8F0"/>
                </a:solidFill>
                <a:latin typeface="Calibri" pitchFamily="34" charset="0"/>
                <a:ea typeface="Calibri" pitchFamily="34" charset="-122"/>
                <a:cs typeface="Calibri" pitchFamily="34" charset="-120"/>
              </a:rPr>
              <a:t>Observational data — </a:t>
            </a:r>
            <a:r>
              <a:rPr lang="en-US" sz="840" b="1" dirty="0">
                <a:solidFill>
                  <a:srgbClr val="F59E0B"/>
                </a:solidFill>
                <a:latin typeface="Calibri" pitchFamily="34" charset="0"/>
                <a:ea typeface="Calibri" pitchFamily="34" charset="-122"/>
                <a:cs typeface="Calibri" pitchFamily="34" charset="-120"/>
              </a:rPr>
              <a:t>no causal claims</a:t>
            </a:r>
            <a:r>
              <a:rPr lang="en-US" sz="840" dirty="0">
                <a:solidFill>
                  <a:srgbClr val="E2E8F0"/>
                </a:solidFill>
                <a:latin typeface="Calibri" pitchFamily="34" charset="0"/>
                <a:ea typeface="Calibri" pitchFamily="34" charset="-122"/>
                <a:cs typeface="Calibri" pitchFamily="34" charset="-120"/>
              </a:rPr>
              <a:t> can be made.</a:t>
            </a:r>
            <a:endParaRPr lang="en-US" sz="840" dirty="0"/>
          </a:p>
        </p:txBody>
      </p:sp>
      <p:sp>
        <p:nvSpPr>
          <p:cNvPr id="25" name="Text 20"/>
          <p:cNvSpPr/>
          <p:nvPr/>
        </p:nvSpPr>
        <p:spPr>
          <a:xfrm>
            <a:off x="5495776" y="1607939"/>
            <a:ext cx="43160" cy="43160"/>
          </a:xfrm>
          <a:prstGeom prst="ellipse">
            <a:avLst/>
          </a:prstGeom>
          <a:solidFill>
            <a:srgbClr val="F59E0B"/>
          </a:solidFill>
          <a:ln/>
        </p:spPr>
        <p:txBody>
          <a:bodyPr wrap="none" rtlCol="0" anchor="t"/>
          <a:lstStyle/>
          <a:p>
            <a:pPr marL="0" indent="0">
              <a:buNone/>
            </a:pPr>
            <a:endParaRPr lang="en-US" dirty="0"/>
          </a:p>
        </p:txBody>
      </p:sp>
      <p:sp>
        <p:nvSpPr>
          <p:cNvPr id="26" name="Text 21"/>
          <p:cNvSpPr/>
          <p:nvPr/>
        </p:nvSpPr>
        <p:spPr>
          <a:xfrm>
            <a:off x="5609927" y="1550789"/>
            <a:ext cx="2982355" cy="347231"/>
          </a:xfrm>
          <a:prstGeom prst="rect">
            <a:avLst/>
          </a:prstGeom>
          <a:noFill/>
          <a:ln/>
        </p:spPr>
        <p:txBody>
          <a:bodyPr wrap="square" lIns="0" tIns="0" rIns="0" bIns="0" rtlCol="0" anchor="t"/>
          <a:lstStyle/>
          <a:p>
            <a:pPr marL="0" indent="0" algn="l">
              <a:lnSpc>
                <a:spcPts val="1302"/>
              </a:lnSpc>
              <a:buNone/>
            </a:pPr>
            <a:r>
              <a:rPr lang="en-US" sz="840" dirty="0">
                <a:solidFill>
                  <a:srgbClr val="E2E8F0"/>
                </a:solidFill>
                <a:latin typeface="Calibri" pitchFamily="34" charset="0"/>
                <a:ea typeface="Calibri" pitchFamily="34" charset="-122"/>
                <a:cs typeface="Calibri" pitchFamily="34" charset="-120"/>
              </a:rPr>
              <a:t>Only numeric predictors used — </a:t>
            </a:r>
            <a:r>
              <a:rPr lang="en-US" sz="840" b="1" dirty="0">
                <a:solidFill>
                  <a:srgbClr val="F59E0B"/>
                </a:solidFill>
                <a:latin typeface="Calibri" pitchFamily="34" charset="0"/>
                <a:ea typeface="Calibri" pitchFamily="34" charset="-122"/>
                <a:cs typeface="Calibri" pitchFamily="34" charset="-120"/>
              </a:rPr>
              <a:t>categorical variables</a:t>
            </a:r>
            <a:r>
              <a:rPr lang="en-US" sz="840" dirty="0">
                <a:solidFill>
                  <a:srgbClr val="E2E8F0"/>
                </a:solidFill>
                <a:latin typeface="Calibri" pitchFamily="34" charset="0"/>
                <a:ea typeface="Calibri" pitchFamily="34" charset="-122"/>
                <a:cs typeface="Calibri" pitchFamily="34" charset="-120"/>
              </a:rPr>
              <a:t> like property type and amenities could improve the model.</a:t>
            </a:r>
            <a:endParaRPr lang="en-US" sz="840" dirty="0"/>
          </a:p>
        </p:txBody>
      </p:sp>
      <p:sp>
        <p:nvSpPr>
          <p:cNvPr id="27" name="Text 22"/>
          <p:cNvSpPr/>
          <p:nvPr/>
        </p:nvSpPr>
        <p:spPr>
          <a:xfrm>
            <a:off x="5495776" y="1995785"/>
            <a:ext cx="43160" cy="43160"/>
          </a:xfrm>
          <a:prstGeom prst="ellipse">
            <a:avLst/>
          </a:prstGeom>
          <a:solidFill>
            <a:srgbClr val="F59E0B"/>
          </a:solidFill>
          <a:ln/>
        </p:spPr>
        <p:txBody>
          <a:bodyPr wrap="none" rtlCol="0" anchor="t"/>
          <a:lstStyle/>
          <a:p>
            <a:pPr marL="0" indent="0">
              <a:buNone/>
            </a:pPr>
            <a:endParaRPr lang="en-US" dirty="0"/>
          </a:p>
        </p:txBody>
      </p:sp>
      <p:sp>
        <p:nvSpPr>
          <p:cNvPr id="28" name="Text 23"/>
          <p:cNvSpPr/>
          <p:nvPr/>
        </p:nvSpPr>
        <p:spPr>
          <a:xfrm>
            <a:off x="5609927" y="1938635"/>
            <a:ext cx="3020794" cy="165348"/>
          </a:xfrm>
          <a:prstGeom prst="rect">
            <a:avLst/>
          </a:prstGeom>
          <a:noFill/>
          <a:ln/>
        </p:spPr>
        <p:txBody>
          <a:bodyPr wrap="none" lIns="0" tIns="0" rIns="0" bIns="0" rtlCol="0" anchor="t"/>
          <a:lstStyle/>
          <a:p>
            <a:pPr marL="0" indent="0" algn="l">
              <a:lnSpc>
                <a:spcPts val="1302"/>
              </a:lnSpc>
              <a:buNone/>
            </a:pPr>
            <a:r>
              <a:rPr lang="en-US" sz="840" b="1" dirty="0">
                <a:solidFill>
                  <a:srgbClr val="F59E0B"/>
                </a:solidFill>
                <a:latin typeface="Calibri" pitchFamily="34" charset="0"/>
                <a:ea typeface="Calibri" pitchFamily="34" charset="-122"/>
                <a:cs typeface="Calibri" pitchFamily="34" charset="-120"/>
              </a:rPr>
              <a:t>Multicollinearity</a:t>
            </a:r>
            <a:r>
              <a:rPr lang="en-US" sz="840" dirty="0">
                <a:solidFill>
                  <a:srgbClr val="E2E8F0"/>
                </a:solidFill>
                <a:latin typeface="Calibri" pitchFamily="34" charset="0"/>
                <a:ea typeface="Calibri" pitchFamily="34" charset="-122"/>
                <a:cs typeface="Calibri" pitchFamily="34" charset="-120"/>
              </a:rPr>
              <a:t> limits individual coefficient interpretation.</a:t>
            </a:r>
            <a:endParaRPr lang="en-US" sz="840" dirty="0"/>
          </a:p>
        </p:txBody>
      </p:sp>
      <p:sp>
        <p:nvSpPr>
          <p:cNvPr id="29" name="Text 24"/>
          <p:cNvSpPr/>
          <p:nvPr/>
        </p:nvSpPr>
        <p:spPr>
          <a:xfrm>
            <a:off x="5314801" y="2471589"/>
            <a:ext cx="3399979" cy="1074430"/>
          </a:xfrm>
          <a:prstGeom prst="roundRect">
            <a:avLst>
              <a:gd name="adj" fmla="val 8038"/>
            </a:avLst>
          </a:prstGeom>
          <a:solidFill>
            <a:srgbClr val="00B4D8">
              <a:alpha val="8000"/>
            </a:srgbClr>
          </a:solidFill>
          <a:ln w="9525">
            <a:solidFill>
              <a:srgbClr val="00B4D8">
                <a:alpha val="20000"/>
              </a:srgbClr>
            </a:solidFill>
          </a:ln>
        </p:spPr>
        <p:txBody>
          <a:bodyPr wrap="square" lIns="171450" tIns="157480" rIns="171450" bIns="157480" rtlCol="0" anchor="t"/>
          <a:lstStyle/>
          <a:p>
            <a:pPr marL="0" indent="0" algn="ctr">
              <a:buNone/>
            </a:pPr>
            <a:r>
              <a:rPr lang="en-US" sz="680" b="1" kern="0" spc="110" dirty="0">
                <a:solidFill>
                  <a:srgbClr val="94A3B8"/>
                </a:solidFill>
                <a:latin typeface="Calibri" pitchFamily="34" charset="0"/>
                <a:ea typeface="Calibri" pitchFamily="34" charset="-122"/>
                <a:cs typeface="Calibri" pitchFamily="34" charset="-120"/>
              </a:rPr>
              <a:t>MODEL PERFORMANCE</a:t>
            </a:r>
            <a:endParaRPr lang="en-US" sz="680" dirty="0"/>
          </a:p>
          <a:p>
            <a:pPr marL="0" indent="0" algn="ctr">
              <a:buNone/>
            </a:pPr>
            <a:r>
              <a:rPr lang="en-US" sz="2700" b="1" dirty="0">
                <a:solidFill>
                  <a:srgbClr val="00B4D8"/>
                </a:solidFill>
                <a:latin typeface="Constantia" pitchFamily="34" charset="0"/>
                <a:ea typeface="Constantia" pitchFamily="34" charset="-122"/>
                <a:cs typeface="Constantia" pitchFamily="34" charset="-120"/>
              </a:rPr>
              <a:t>R² = 0.47</a:t>
            </a:r>
            <a:endParaRPr lang="en-US" sz="680" dirty="0"/>
          </a:p>
          <a:p>
            <a:pPr marL="0" indent="0" algn="ctr">
              <a:buNone/>
            </a:pPr>
            <a:endParaRPr lang="en-US" sz="680" dirty="0"/>
          </a:p>
          <a:p>
            <a:pPr marL="0" indent="0" algn="ctr">
              <a:buNone/>
            </a:pPr>
            <a:r>
              <a:rPr lang="en-US" sz="790" dirty="0">
                <a:solidFill>
                  <a:srgbClr val="94A3B8"/>
                </a:solidFill>
                <a:latin typeface="Calibri" pitchFamily="34" charset="0"/>
                <a:ea typeface="Calibri" pitchFamily="34" charset="-122"/>
                <a:cs typeface="Calibri" pitchFamily="34" charset="-120"/>
              </a:rPr>
              <a:t>47% of nightly rate variation explained</a:t>
            </a:r>
            <a:endParaRPr lang="en-US" sz="680" dirty="0"/>
          </a:p>
        </p:txBody>
      </p:sp>
      <p:sp>
        <p:nvSpPr>
          <p:cNvPr id="30" name="Text 25"/>
          <p:cNvSpPr/>
          <p:nvPr/>
        </p:nvSpPr>
        <p:spPr>
          <a:xfrm>
            <a:off x="5314801" y="3615035"/>
            <a:ext cx="3399979" cy="547256"/>
          </a:xfrm>
          <a:prstGeom prst="roundRect">
            <a:avLst>
              <a:gd name="adj" fmla="val 12996"/>
            </a:avLst>
          </a:prstGeom>
          <a:solidFill>
            <a:srgbClr val="FFFFFF">
              <a:alpha val="4000"/>
            </a:srgbClr>
          </a:solidFill>
          <a:ln w="9525">
            <a:solidFill>
              <a:srgbClr val="FFFFFF">
                <a:alpha val="8000"/>
              </a:srgbClr>
            </a:solidFill>
          </a:ln>
        </p:spPr>
        <p:txBody>
          <a:bodyPr wrap="square" lIns="128270" tIns="100330" rIns="128270" bIns="100330" rtlCol="0" anchor="t"/>
          <a:lstStyle/>
          <a:p>
            <a:pPr marL="0" indent="0" algn="ctr">
              <a:buNone/>
            </a:pPr>
            <a:r>
              <a:rPr lang="en-US" sz="620" b="1" kern="0" spc="110" dirty="0">
                <a:solidFill>
                  <a:srgbClr val="94A3B8"/>
                </a:solidFill>
                <a:latin typeface="Calibri" pitchFamily="34" charset="0"/>
                <a:ea typeface="Calibri" pitchFamily="34" charset="-122"/>
                <a:cs typeface="Calibri" pitchFamily="34" charset="-120"/>
              </a:rPr>
              <a:t>MODEL</a:t>
            </a:r>
            <a:endParaRPr lang="en-US" sz="620" dirty="0"/>
          </a:p>
          <a:p>
            <a:pPr marL="0" indent="0" algn="ctr">
              <a:buNone/>
            </a:pPr>
            <a:r>
              <a:rPr lang="en-US" sz="790" kern="0" spc="20" dirty="0">
                <a:solidFill>
                  <a:srgbClr val="F8FAFC"/>
                </a:solidFill>
                <a:latin typeface="Consolas" pitchFamily="34" charset="0"/>
                <a:ea typeface="Consolas" pitchFamily="34" charset="-122"/>
                <a:cs typeface="Consolas" pitchFamily="34" charset="-120"/>
              </a:rPr>
              <a:t>price ~ guests + bedrooms + baths</a:t>
            </a:r>
            <a:endParaRPr lang="en-US" sz="6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TotalTime>
  <Words>2238</Words>
  <Application>Microsoft Office PowerPoint</Application>
  <PresentationFormat>On-screen Show (16:9)</PresentationFormat>
  <Paragraphs>246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Constantia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David Gibbens</cp:lastModifiedBy>
  <cp:revision>3</cp:revision>
  <dcterms:created xsi:type="dcterms:W3CDTF">2026-04-19T21:33:51Z</dcterms:created>
  <dcterms:modified xsi:type="dcterms:W3CDTF">2026-04-20T00:24:32Z</dcterms:modified>
</cp:coreProperties>
</file>